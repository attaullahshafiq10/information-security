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5" r:id="rId4"/>
    <p:sldId id="266" r:id="rId5"/>
    <p:sldId id="263" r:id="rId6"/>
    <p:sldId id="279" r:id="rId7"/>
    <p:sldId id="280" r:id="rId8"/>
    <p:sldId id="278" r:id="rId9"/>
    <p:sldId id="277" r:id="rId10"/>
    <p:sldId id="272" r:id="rId11"/>
    <p:sldId id="273" r:id="rId12"/>
    <p:sldId id="274" r:id="rId13"/>
    <p:sldId id="27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7998B-5CFB-4554-9025-05ADC8B3CE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08810-57EC-4B1F-A710-67AF18D0AB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C79C44-FC8E-490F-A484-6A392CB0344B}"/>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5" name="Footer Placeholder 4">
            <a:extLst>
              <a:ext uri="{FF2B5EF4-FFF2-40B4-BE49-F238E27FC236}">
                <a16:creationId xmlns:a16="http://schemas.microsoft.com/office/drawing/2014/main" id="{86CCDEEE-25A1-4E64-950C-FA6C8DA0F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49C779-207A-45DE-BE1B-8CB24A8ED8C8}"/>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3564027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9F35-C867-4983-9C07-8FC5FACA16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785514-4277-4CA9-8A58-239AC78EA1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A78C03-3466-4B27-B750-B5A9756A9A5F}"/>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5" name="Footer Placeholder 4">
            <a:extLst>
              <a:ext uri="{FF2B5EF4-FFF2-40B4-BE49-F238E27FC236}">
                <a16:creationId xmlns:a16="http://schemas.microsoft.com/office/drawing/2014/main" id="{4923B00F-472A-43CA-9758-93117BC895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C55531-C475-4F2E-AFC9-0FA0465CC797}"/>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2211347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4D8D-5067-4D70-A6E1-5D744D73AC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9FAB8D-6634-4BD1-BAEB-53C7FAC29F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684335-9026-46CB-BCA5-02902DD8C8C2}"/>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5" name="Footer Placeholder 4">
            <a:extLst>
              <a:ext uri="{FF2B5EF4-FFF2-40B4-BE49-F238E27FC236}">
                <a16:creationId xmlns:a16="http://schemas.microsoft.com/office/drawing/2014/main" id="{895A163D-F1BF-443B-ABF0-11FFE4B29E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5D990-D76B-4A45-A9A6-DC8568965E41}"/>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333119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082F-B7EC-4DFD-A529-C51DF74FAD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A799B3-4574-4410-861F-FA5531CC4D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A576F3-AB22-4984-9616-FF59EE8843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A2457C-3745-465B-A617-EF89DDD4BDA5}"/>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6" name="Footer Placeholder 5">
            <a:extLst>
              <a:ext uri="{FF2B5EF4-FFF2-40B4-BE49-F238E27FC236}">
                <a16:creationId xmlns:a16="http://schemas.microsoft.com/office/drawing/2014/main" id="{C62BADE8-5CC3-4D91-A856-8160D1BE4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B2BDCB-D936-4ED3-B48A-EC5A10DFD8A8}"/>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423531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4ED84-373C-40E0-B400-53D146B453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C68E73-BBBD-4939-AC50-DF5AAD7F56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FD4EFC-B645-4AA2-8EA3-83AC7B5CA3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68695A-5CBA-405C-8989-986432CE65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B21DD4-D7BF-402F-90F5-DFCE8F89CA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7425A7-7CC1-48EF-AEC8-90E5E62A3BBC}"/>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8" name="Footer Placeholder 7">
            <a:extLst>
              <a:ext uri="{FF2B5EF4-FFF2-40B4-BE49-F238E27FC236}">
                <a16:creationId xmlns:a16="http://schemas.microsoft.com/office/drawing/2014/main" id="{194336E1-311F-4CF9-8445-ECC8C1FF58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177D78-D983-47E9-B2D0-69B9F9ADCE28}"/>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4133868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A1F47-680E-442B-8783-40BBBDEAED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FE6E8A-ABD2-4335-B325-E58F904FEC64}"/>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4" name="Footer Placeholder 3">
            <a:extLst>
              <a:ext uri="{FF2B5EF4-FFF2-40B4-BE49-F238E27FC236}">
                <a16:creationId xmlns:a16="http://schemas.microsoft.com/office/drawing/2014/main" id="{4D6860AB-0EFB-40C6-BC66-53318612E9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85BBA1-AAE7-4582-8F3F-F393BD7135E2}"/>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2218399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529B01-4B72-405F-BCE6-CB766F5E207B}"/>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3" name="Footer Placeholder 2">
            <a:extLst>
              <a:ext uri="{FF2B5EF4-FFF2-40B4-BE49-F238E27FC236}">
                <a16:creationId xmlns:a16="http://schemas.microsoft.com/office/drawing/2014/main" id="{CD443DCA-9FFD-4B06-AB18-08A00E215D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E67173-1D06-412E-833C-CC6C813ADDCD}"/>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2077279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AA4F-675E-4E2C-A864-B76D918ACB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25CC48-8392-4171-87A8-99F2E56F3B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6DBD32-7E51-48E7-A09C-45962BD695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06DBA9-D89F-46B5-A899-C16B286BF2E1}"/>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6" name="Footer Placeholder 5">
            <a:extLst>
              <a:ext uri="{FF2B5EF4-FFF2-40B4-BE49-F238E27FC236}">
                <a16:creationId xmlns:a16="http://schemas.microsoft.com/office/drawing/2014/main" id="{8FA6F4BA-9166-4490-81D2-BE53838B0B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7F12B1-7FED-44D3-99FA-7C7E36D50FB6}"/>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69844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329A4-6959-42B0-B66D-E0929AC2CE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5C01DA-8BAA-413C-8E35-B8E2F166DB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47235E-18DF-4475-A8DA-FF686FA299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A4BC04-778E-427A-B83E-F14CDA8E494C}"/>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6" name="Footer Placeholder 5">
            <a:extLst>
              <a:ext uri="{FF2B5EF4-FFF2-40B4-BE49-F238E27FC236}">
                <a16:creationId xmlns:a16="http://schemas.microsoft.com/office/drawing/2014/main" id="{411B4F13-C3F1-425E-96C6-8877ABF42B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2636C3-DDC0-486C-8042-C3210F7C41FA}"/>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1033653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30F5-0811-48FF-9ACB-C817628B3F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B94FB7-E1C1-4958-85F2-72A36F740A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DEFD-EE65-404E-833C-5D1C70F3EC7D}"/>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5" name="Footer Placeholder 4">
            <a:extLst>
              <a:ext uri="{FF2B5EF4-FFF2-40B4-BE49-F238E27FC236}">
                <a16:creationId xmlns:a16="http://schemas.microsoft.com/office/drawing/2014/main" id="{75250DD9-DAFB-443F-8621-9212BC1C2B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4AEAB9-EE11-4BC1-BA1C-A8B87221EFCB}"/>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3541374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63AA49-D5C0-4266-84F3-8D166D56B0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EA95A5-23BC-4555-9EDE-E6FDE85A51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70EC-D703-4998-A4A2-F18641B8912B}"/>
              </a:ext>
            </a:extLst>
          </p:cNvPr>
          <p:cNvSpPr>
            <a:spLocks noGrp="1"/>
          </p:cNvSpPr>
          <p:nvPr>
            <p:ph type="dt" sz="half" idx="10"/>
          </p:nvPr>
        </p:nvSpPr>
        <p:spPr/>
        <p:txBody>
          <a:bodyPr/>
          <a:lstStyle/>
          <a:p>
            <a:fld id="{1E4B19B5-5307-4E0D-9547-DD75D389C27C}" type="datetimeFigureOut">
              <a:rPr lang="en-US" smtClean="0"/>
              <a:t>5/26/2022</a:t>
            </a:fld>
            <a:endParaRPr lang="en-US"/>
          </a:p>
        </p:txBody>
      </p:sp>
      <p:sp>
        <p:nvSpPr>
          <p:cNvPr id="5" name="Footer Placeholder 4">
            <a:extLst>
              <a:ext uri="{FF2B5EF4-FFF2-40B4-BE49-F238E27FC236}">
                <a16:creationId xmlns:a16="http://schemas.microsoft.com/office/drawing/2014/main" id="{312C56D0-E920-4871-B3B7-7067F1022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0E009-F04B-4DD6-B9EC-0A1946C8DBD6}"/>
              </a:ext>
            </a:extLst>
          </p:cNvPr>
          <p:cNvSpPr>
            <a:spLocks noGrp="1"/>
          </p:cNvSpPr>
          <p:nvPr>
            <p:ph type="sldNum" sz="quarter" idx="12"/>
          </p:nvPr>
        </p:nvSpPr>
        <p:spPr/>
        <p:txBody>
          <a:bodyPr/>
          <a:lstStyle/>
          <a:p>
            <a:fld id="{B3F069A1-8B8B-4C00-8A3B-35B3CDAD0C59}" type="slidenum">
              <a:rPr lang="en-US" smtClean="0"/>
              <a:t>‹#›</a:t>
            </a:fld>
            <a:endParaRPr lang="en-US"/>
          </a:p>
        </p:txBody>
      </p:sp>
    </p:spTree>
    <p:extLst>
      <p:ext uri="{BB962C8B-B14F-4D97-AF65-F5344CB8AC3E}">
        <p14:creationId xmlns:p14="http://schemas.microsoft.com/office/powerpoint/2010/main" val="233707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BB2FC-E9AA-43AB-A2D8-ACC97046C7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563C21-52AC-4B89-964E-C6EEBB69F9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A44568-F0FA-4AD2-8E64-B5F00939EB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4B19B5-5307-4E0D-9547-DD75D389C27C}" type="datetimeFigureOut">
              <a:rPr lang="en-US" smtClean="0"/>
              <a:t>5/26/2022</a:t>
            </a:fld>
            <a:endParaRPr lang="en-US"/>
          </a:p>
        </p:txBody>
      </p:sp>
      <p:sp>
        <p:nvSpPr>
          <p:cNvPr id="5" name="Footer Placeholder 4">
            <a:extLst>
              <a:ext uri="{FF2B5EF4-FFF2-40B4-BE49-F238E27FC236}">
                <a16:creationId xmlns:a16="http://schemas.microsoft.com/office/drawing/2014/main" id="{C66693A2-97C4-45B0-8300-03103A9C91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60ECE6-29FA-4E5A-9B15-399537F744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F069A1-8B8B-4C00-8A3B-35B3CDAD0C59}" type="slidenum">
              <a:rPr lang="en-US" smtClean="0"/>
              <a:t>‹#›</a:t>
            </a:fld>
            <a:endParaRPr lang="en-US"/>
          </a:p>
        </p:txBody>
      </p:sp>
    </p:spTree>
    <p:extLst>
      <p:ext uri="{BB962C8B-B14F-4D97-AF65-F5344CB8AC3E}">
        <p14:creationId xmlns:p14="http://schemas.microsoft.com/office/powerpoint/2010/main" val="942778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ircuit board&#10;&#10;Description automatically generated">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t="15730"/>
          <a:stretch/>
        </p:blipFill>
        <p:spPr>
          <a:xfrm>
            <a:off x="-3047" y="10"/>
            <a:ext cx="12191999" cy="6857990"/>
          </a:xfrm>
          <a:prstGeom prst="rect">
            <a:avLst/>
          </a:prstGeom>
        </p:spPr>
      </p:pic>
      <p:sp>
        <p:nvSpPr>
          <p:cNvPr id="34" name="Rectangle 3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726219" y="420208"/>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6000" dirty="0">
                <a:solidFill>
                  <a:schemeClr val="bg2"/>
                </a:solidFill>
              </a:rPr>
              <a:t>Firewall &amp; VPN</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pPr marL="0" indent="0" algn="ctr">
              <a:buNone/>
            </a:pPr>
            <a:br>
              <a:rPr lang="en-US" sz="2400" dirty="0">
                <a:solidFill>
                  <a:srgbClr val="FFFFFF"/>
                </a:solidFill>
              </a:rPr>
            </a:br>
            <a:br>
              <a:rPr lang="en-US" sz="2400" dirty="0">
                <a:solidFill>
                  <a:srgbClr val="FFFFFF"/>
                </a:solidFill>
              </a:rPr>
            </a:br>
            <a:endParaRPr lang="en-US" sz="2400" dirty="0">
              <a:solidFill>
                <a:srgbClr val="FFFFFF"/>
              </a:solidFill>
            </a:endParaRPr>
          </a:p>
        </p:txBody>
      </p:sp>
    </p:spTree>
    <p:extLst>
      <p:ext uri="{BB962C8B-B14F-4D97-AF65-F5344CB8AC3E}">
        <p14:creationId xmlns:p14="http://schemas.microsoft.com/office/powerpoint/2010/main" val="272458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Firewall</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a:bodyPr>
          <a:lstStyle/>
          <a:p>
            <a:r>
              <a:rPr lang="en-US" sz="2000" dirty="0"/>
              <a:t>A firewall is a network security device that monitors incoming and outgoing network traffic and decides whether to allow or block specific traffic based on a defined set of security rules.</a:t>
            </a:r>
          </a:p>
          <a:p>
            <a:r>
              <a:rPr lang="en-US" sz="2000" dirty="0"/>
              <a:t>They establish a barrier between secured and controlled internal networks that can be trusted and untrusted outside networks, such as the Internet.</a:t>
            </a: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2D0DD692-6C75-404C-81E9-FE81E08B7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270" y="4708271"/>
            <a:ext cx="4174434" cy="1838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920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Firewall</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a:bodyPr>
          <a:lstStyle/>
          <a:p>
            <a:pPr marL="0" indent="0">
              <a:buNone/>
            </a:pPr>
            <a:r>
              <a:rPr lang="en-US" sz="2000" dirty="0"/>
              <a:t> A firewall can be hardware, software, or both</a:t>
            </a:r>
          </a:p>
          <a:p>
            <a:pPr marL="0" indent="0">
              <a:buNone/>
            </a:pPr>
            <a:endParaRPr lang="en-US" sz="2000" dirty="0"/>
          </a:p>
          <a:p>
            <a:r>
              <a:rPr lang="en-US" sz="2000" dirty="0"/>
              <a:t>A hardware firewall is configured with two or more</a:t>
            </a:r>
            <a:br>
              <a:rPr lang="en-US" sz="2000" dirty="0"/>
            </a:br>
            <a:r>
              <a:rPr lang="en-US" sz="2000" dirty="0"/>
              <a:t>network interfaces, typically placed between a</a:t>
            </a:r>
            <a:br>
              <a:rPr lang="en-US" sz="2000" dirty="0"/>
            </a:br>
            <a:r>
              <a:rPr lang="en-US" sz="2000" dirty="0"/>
              <a:t>corporate LAN and the WAN connection</a:t>
            </a:r>
          </a:p>
          <a:p>
            <a:r>
              <a:rPr lang="en-US" sz="2000" dirty="0"/>
              <a:t>A software firewall is installed in an OS and inspects all</a:t>
            </a:r>
            <a:br>
              <a:rPr lang="en-US" sz="2000" dirty="0"/>
            </a:br>
            <a:r>
              <a:rPr lang="en-US" sz="2000" dirty="0"/>
              <a:t>packets coming into or leaving the computer</a:t>
            </a:r>
          </a:p>
          <a:p>
            <a:pPr marL="0" indent="0">
              <a:buNone/>
            </a:pP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89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Firewall</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fontScale="85000" lnSpcReduction="20000"/>
          </a:bodyPr>
          <a:lstStyle/>
          <a:p>
            <a:r>
              <a:rPr lang="en-US" dirty="0"/>
              <a:t>Routers can be used as firewalls</a:t>
            </a:r>
          </a:p>
          <a:p>
            <a:r>
              <a:rPr lang="en-US" dirty="0"/>
              <a:t>Network administrators can create rules, called access control lists (ACLs), that deny certain types of packets</a:t>
            </a:r>
          </a:p>
          <a:p>
            <a:r>
              <a:rPr lang="en-US" dirty="0"/>
              <a:t>ACLs can examine many of the same packet properties that firewalls can</a:t>
            </a:r>
          </a:p>
          <a:p>
            <a:r>
              <a:rPr lang="en-US" dirty="0"/>
              <a:t>An </a:t>
            </a:r>
            <a:r>
              <a:rPr lang="en-US" b="1" dirty="0"/>
              <a:t>intrusion detection system (IDS) </a:t>
            </a:r>
            <a:r>
              <a:rPr lang="en-US" dirty="0"/>
              <a:t>usually works with a firewall or router</a:t>
            </a:r>
            <a:br>
              <a:rPr lang="en-US" dirty="0"/>
            </a:br>
            <a:br>
              <a:rPr lang="en-US" dirty="0"/>
            </a:br>
            <a:br>
              <a:rPr lang="en-US"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2943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Types of Firewall</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fontScale="92500" lnSpcReduction="20000"/>
          </a:bodyPr>
          <a:lstStyle/>
          <a:p>
            <a:pPr marL="0" indent="0">
              <a:buNone/>
            </a:pPr>
            <a:r>
              <a:rPr lang="en-US" b="1" dirty="0"/>
              <a:t>Packet filtering Firewall</a:t>
            </a:r>
          </a:p>
          <a:p>
            <a:pPr marL="0" indent="0">
              <a:buNone/>
            </a:pPr>
            <a:br>
              <a:rPr lang="en-US" dirty="0"/>
            </a:br>
            <a:r>
              <a:rPr lang="en-US" dirty="0"/>
              <a:t>Packet Filtering Firewall is a firewall technique used to control network access by monitoring outgoing and incoming packets and allowing them to pass or halt based on the source and destination Internet Protocol (IP) addresses, protocols and ports.</a:t>
            </a:r>
            <a:br>
              <a:rPr lang="en-US" dirty="0"/>
            </a:br>
            <a:br>
              <a:rPr lang="en-US" sz="2000" dirty="0"/>
            </a:b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566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a:t>Types of Firewall</a:t>
            </a:r>
            <a:endParaRPr lang="en-US" dirty="0"/>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fontScale="92500" lnSpcReduction="20000"/>
          </a:bodyPr>
          <a:lstStyle/>
          <a:p>
            <a:pPr marL="0" indent="0">
              <a:buNone/>
            </a:pPr>
            <a:r>
              <a:rPr lang="en-US" b="1" dirty="0"/>
              <a:t>Proxy firewall</a:t>
            </a:r>
          </a:p>
          <a:p>
            <a:pPr marL="0" indent="0">
              <a:lnSpc>
                <a:spcPct val="100000"/>
              </a:lnSpc>
              <a:spcBef>
                <a:spcPts val="0"/>
              </a:spcBef>
              <a:buNone/>
            </a:pPr>
            <a:br>
              <a:rPr lang="en-US" dirty="0"/>
            </a:br>
            <a:r>
              <a:rPr lang="en-US" dirty="0"/>
              <a:t>A proxy firewall serves as the gateway from one network to another for a specific application. Proxy servers can provide additional functionality such as content caching and security by preventing direct connections from outside the network. </a:t>
            </a:r>
            <a:br>
              <a:rPr lang="en-US" dirty="0"/>
            </a:br>
            <a:br>
              <a:rPr lang="en-US" sz="2000" dirty="0"/>
            </a:b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591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Types of Firewall</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fontScale="77500" lnSpcReduction="20000"/>
          </a:bodyPr>
          <a:lstStyle/>
          <a:p>
            <a:pPr marL="0" indent="0">
              <a:buNone/>
            </a:pPr>
            <a:r>
              <a:rPr lang="en-US" sz="3400" b="1" dirty="0"/>
              <a:t>Stateful</a:t>
            </a:r>
            <a:r>
              <a:rPr lang="en-US" sz="1800" b="1" i="0" dirty="0">
                <a:solidFill>
                  <a:srgbClr val="000000"/>
                </a:solidFill>
                <a:effectLst/>
                <a:latin typeface="CIDFont+F2"/>
              </a:rPr>
              <a:t> </a:t>
            </a:r>
            <a:r>
              <a:rPr lang="en-US" sz="3400" b="1" dirty="0"/>
              <a:t>inspection</a:t>
            </a:r>
            <a:r>
              <a:rPr lang="en-US" sz="1800" b="1" i="0" dirty="0">
                <a:solidFill>
                  <a:srgbClr val="000000"/>
                </a:solidFill>
                <a:effectLst/>
                <a:latin typeface="CIDFont+F2"/>
              </a:rPr>
              <a:t> </a:t>
            </a:r>
            <a:r>
              <a:rPr lang="en-US" sz="3400" b="1" dirty="0"/>
              <a:t>firewall</a:t>
            </a:r>
            <a:br>
              <a:rPr lang="en-US" sz="1800" i="0" dirty="0">
                <a:solidFill>
                  <a:srgbClr val="000000"/>
                </a:solidFill>
                <a:effectLst/>
                <a:latin typeface="CIDFont+F2"/>
              </a:rPr>
            </a:br>
            <a:br>
              <a:rPr lang="en-US" sz="1800" i="0" dirty="0">
                <a:solidFill>
                  <a:srgbClr val="000000"/>
                </a:solidFill>
                <a:effectLst/>
                <a:latin typeface="CIDFont+F2"/>
              </a:rPr>
            </a:br>
            <a:br>
              <a:rPr lang="en-US" sz="2600" dirty="0"/>
            </a:br>
            <a:r>
              <a:rPr lang="en-US" sz="3400" dirty="0"/>
              <a:t>A stateful inspection firewall allows or blocks traffic based on state, port, and protocol. It monitors all activity from the opening of a connection until it is closed. Filtering decisions are made based on both administrator defined rules as well as context.</a:t>
            </a:r>
            <a:br>
              <a:rPr lang="en-US" dirty="0"/>
            </a:br>
            <a:br>
              <a:rPr lang="en-US" dirty="0"/>
            </a:br>
            <a:br>
              <a:rPr lang="en-US" sz="2000" dirty="0"/>
            </a:b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6" r="30805" b="-1"/>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93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Types of Firewall</a:t>
            </a:r>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3EEC5014-5275-4E80-9BA8-EB8B5D23F1EA}"/>
              </a:ext>
            </a:extLst>
          </p:cNvPr>
          <p:cNvPicPr>
            <a:picLocks noChangeAspect="1"/>
          </p:cNvPicPr>
          <p:nvPr/>
        </p:nvPicPr>
        <p:blipFill>
          <a:blip r:embed="rId3"/>
          <a:stretch>
            <a:fillRect/>
          </a:stretch>
        </p:blipFill>
        <p:spPr>
          <a:xfrm>
            <a:off x="4777287" y="2869882"/>
            <a:ext cx="6962775" cy="2581275"/>
          </a:xfrm>
          <a:prstGeom prst="rect">
            <a:avLst/>
          </a:prstGeom>
        </p:spPr>
      </p:pic>
    </p:spTree>
    <p:extLst>
      <p:ext uri="{BB962C8B-B14F-4D97-AF65-F5344CB8AC3E}">
        <p14:creationId xmlns:p14="http://schemas.microsoft.com/office/powerpoint/2010/main" val="2680290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t="15730"/>
          <a:stretch/>
        </p:blipFill>
        <p:spPr>
          <a:xfrm>
            <a:off x="-3047" y="10"/>
            <a:ext cx="12191999" cy="6857990"/>
          </a:xfrm>
          <a:prstGeom prst="rect">
            <a:avLst/>
          </a:prstGeom>
        </p:spPr>
      </p:pic>
      <p:sp>
        <p:nvSpPr>
          <p:cNvPr id="32" name="Rectangle 2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8D7596D-46B8-4DA3-8518-A64F822B973F}"/>
              </a:ext>
            </a:extLst>
          </p:cNvPr>
          <p:cNvSpPr/>
          <p:nvPr/>
        </p:nvSpPr>
        <p:spPr>
          <a:xfrm>
            <a:off x="1097280" y="325550"/>
            <a:ext cx="10058400" cy="3574778"/>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en-US" sz="5200">
                <a:solidFill>
                  <a:srgbClr val="FFFFFF"/>
                </a:solidFill>
                <a:latin typeface="+mj-lt"/>
                <a:ea typeface="+mj-ea"/>
                <a:cs typeface="+mj-cs"/>
              </a:rPr>
              <a:t>Virtual Private Networks (VPN)</a:t>
            </a:r>
          </a:p>
        </p:txBody>
      </p:sp>
    </p:spTree>
    <p:extLst>
      <p:ext uri="{BB962C8B-B14F-4D97-AF65-F5344CB8AC3E}">
        <p14:creationId xmlns:p14="http://schemas.microsoft.com/office/powerpoint/2010/main" val="2242067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fontScale="90000"/>
          </a:bodyPr>
          <a:lstStyle/>
          <a:p>
            <a:r>
              <a:rPr lang="en-US" dirty="0"/>
              <a:t>Virtual Private Networks (VPN)</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856381"/>
          </a:xfrm>
        </p:spPr>
        <p:txBody>
          <a:bodyPr>
            <a:normAutofit fontScale="25000" lnSpcReduction="20000"/>
          </a:bodyPr>
          <a:lstStyle/>
          <a:p>
            <a:pPr marL="0" indent="0">
              <a:buNone/>
            </a:pPr>
            <a:r>
              <a:rPr lang="en-US" sz="9600" dirty="0"/>
              <a:t>A </a:t>
            </a:r>
            <a:r>
              <a:rPr lang="en-US" sz="9600" b="1" dirty="0"/>
              <a:t>virtual private network </a:t>
            </a:r>
            <a:r>
              <a:rPr lang="en-US" sz="9600" dirty="0"/>
              <a:t>(</a:t>
            </a:r>
            <a:r>
              <a:rPr lang="en-US" sz="9600" b="1" dirty="0"/>
              <a:t>VPN</a:t>
            </a:r>
            <a:r>
              <a:rPr lang="en-US" sz="9600" dirty="0"/>
              <a:t>) is a network connection that uses the Internet to give users or branch offices secure access to a company’s network resources </a:t>
            </a:r>
          </a:p>
          <a:p>
            <a:r>
              <a:rPr lang="en-US" sz="9600" dirty="0"/>
              <a:t>Provides an encrypted tunnel between the two private networks</a:t>
            </a:r>
          </a:p>
          <a:p>
            <a:r>
              <a:rPr lang="en-US" sz="9600" dirty="0"/>
              <a:t>Usually cheaper than a private leased line.</a:t>
            </a:r>
          </a:p>
          <a:p>
            <a:r>
              <a:rPr lang="en-US" sz="9600" dirty="0"/>
              <a:t>Once established and as long as the encryption remains secure the VPN is impractical to exploit</a:t>
            </a:r>
          </a:p>
          <a:p>
            <a:br>
              <a:rPr lang="en-US" dirty="0"/>
            </a:br>
            <a:br>
              <a:rPr lang="en-US" dirty="0"/>
            </a:br>
            <a:br>
              <a:rPr lang="en-US" sz="2000" dirty="0"/>
            </a:b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1364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fontScale="90000"/>
          </a:bodyPr>
          <a:lstStyle/>
          <a:p>
            <a:r>
              <a:rPr lang="en-US" dirty="0"/>
              <a:t>Securing Communication with VPN</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fontScale="25000" lnSpcReduction="20000"/>
          </a:bodyPr>
          <a:lstStyle/>
          <a:p>
            <a:r>
              <a:rPr lang="en-US" sz="9600" dirty="0"/>
              <a:t>VPNs use encryption technology to ensure the communication is secure while traveling through the public Internet</a:t>
            </a:r>
          </a:p>
          <a:p>
            <a:r>
              <a:rPr lang="en-US" sz="9600" dirty="0"/>
              <a:t>A “tunnel” is created between the VPN client and VPN server</a:t>
            </a:r>
          </a:p>
          <a:p>
            <a:r>
              <a:rPr lang="en-US" sz="9600" dirty="0"/>
              <a:t>VPN servers can be configured on server OSs or they can be in the form of a dedicated device with the sole purpose of handling VPN connections</a:t>
            </a:r>
            <a:br>
              <a:rPr lang="en-US" sz="9600" dirty="0"/>
            </a:br>
            <a:br>
              <a:rPr lang="en-US" dirty="0"/>
            </a:br>
            <a:br>
              <a:rPr lang="en-US" dirty="0"/>
            </a:br>
            <a:br>
              <a:rPr lang="en-US" sz="2000" dirty="0"/>
            </a:b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266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fontScale="90000"/>
          </a:bodyPr>
          <a:lstStyle/>
          <a:p>
            <a:r>
              <a:rPr lang="en-US" dirty="0"/>
              <a:t>Securing Communication with VPN</a:t>
            </a:r>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1D93470-2E23-4B71-AFD6-794C83902319}"/>
              </a:ext>
            </a:extLst>
          </p:cNvPr>
          <p:cNvPicPr>
            <a:picLocks noChangeAspect="1"/>
          </p:cNvPicPr>
          <p:nvPr/>
        </p:nvPicPr>
        <p:blipFill>
          <a:blip r:embed="rId3"/>
          <a:stretch>
            <a:fillRect/>
          </a:stretch>
        </p:blipFill>
        <p:spPr>
          <a:xfrm>
            <a:off x="4965430" y="2686932"/>
            <a:ext cx="6921770" cy="3305899"/>
          </a:xfrm>
          <a:prstGeom prst="rect">
            <a:avLst/>
          </a:prstGeom>
        </p:spPr>
      </p:pic>
    </p:spTree>
    <p:extLst>
      <p:ext uri="{BB962C8B-B14F-4D97-AF65-F5344CB8AC3E}">
        <p14:creationId xmlns:p14="http://schemas.microsoft.com/office/powerpoint/2010/main" val="1638915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5E37-8E9C-4484-BC3A-EC6CE5B29548}"/>
              </a:ext>
            </a:extLst>
          </p:cNvPr>
          <p:cNvSpPr>
            <a:spLocks noGrp="1"/>
          </p:cNvSpPr>
          <p:nvPr>
            <p:ph type="title"/>
          </p:nvPr>
        </p:nvSpPr>
        <p:spPr>
          <a:xfrm>
            <a:off x="4965430" y="629268"/>
            <a:ext cx="6586491" cy="1286160"/>
          </a:xfrm>
        </p:spPr>
        <p:txBody>
          <a:bodyPr anchor="b">
            <a:normAutofit/>
          </a:bodyPr>
          <a:lstStyle/>
          <a:p>
            <a:r>
              <a:rPr lang="en-US" dirty="0"/>
              <a:t>VPN Benefits</a:t>
            </a:r>
          </a:p>
        </p:txBody>
      </p:sp>
      <p:sp>
        <p:nvSpPr>
          <p:cNvPr id="3" name="Content Placeholder 2">
            <a:extLst>
              <a:ext uri="{FF2B5EF4-FFF2-40B4-BE49-F238E27FC236}">
                <a16:creationId xmlns:a16="http://schemas.microsoft.com/office/drawing/2014/main" id="{2364785C-8255-4494-8609-FB3890D261D2}"/>
              </a:ext>
            </a:extLst>
          </p:cNvPr>
          <p:cNvSpPr>
            <a:spLocks noGrp="1"/>
          </p:cNvSpPr>
          <p:nvPr>
            <p:ph idx="1"/>
          </p:nvPr>
        </p:nvSpPr>
        <p:spPr>
          <a:xfrm>
            <a:off x="4965431" y="2438400"/>
            <a:ext cx="6586489" cy="3785419"/>
          </a:xfrm>
        </p:spPr>
        <p:txBody>
          <a:bodyPr>
            <a:normAutofit fontScale="25000" lnSpcReduction="20000"/>
          </a:bodyPr>
          <a:lstStyle/>
          <a:p>
            <a:pPr marL="0" indent="0">
              <a:buNone/>
            </a:pPr>
            <a:r>
              <a:rPr lang="en-US" sz="9600" dirty="0"/>
              <a:t>VPN benefits include the following:</a:t>
            </a:r>
          </a:p>
          <a:p>
            <a:pPr marL="0" indent="0">
              <a:buNone/>
            </a:pPr>
            <a:endParaRPr lang="en-US" sz="9600" dirty="0"/>
          </a:p>
          <a:p>
            <a:r>
              <a:rPr lang="en-US" sz="9600" dirty="0"/>
              <a:t>Enable mobile users to connect with corporate networks securely wherever an Internet connection is available</a:t>
            </a:r>
          </a:p>
          <a:p>
            <a:r>
              <a:rPr lang="en-US" sz="9600" dirty="0"/>
              <a:t>Allow multiple sites to maintain permanent secure connections via the Internet instead of using expensive WAN links</a:t>
            </a:r>
          </a:p>
          <a:p>
            <a:r>
              <a:rPr lang="en-US" sz="9600" dirty="0"/>
              <a:t>Can reduce costs by using the ISP’s support services instead of paying for more expensive WAN support</a:t>
            </a:r>
            <a:br>
              <a:rPr lang="en-US" sz="9600" dirty="0"/>
            </a:br>
            <a:br>
              <a:rPr lang="en-US" sz="9600" dirty="0"/>
            </a:br>
            <a:br>
              <a:rPr lang="en-US" dirty="0"/>
            </a:br>
            <a:br>
              <a:rPr lang="en-US" dirty="0"/>
            </a:br>
            <a:br>
              <a:rPr lang="en-US" sz="2000" dirty="0"/>
            </a:br>
            <a:br>
              <a:rPr lang="en-US" sz="2000" dirty="0"/>
            </a:br>
            <a:br>
              <a:rPr lang="en-US" sz="2000" dirty="0"/>
            </a:br>
            <a:br>
              <a:rPr lang="en-US" sz="2000" dirty="0"/>
            </a:br>
            <a:endParaRPr lang="en-US" sz="2000" dirty="0"/>
          </a:p>
        </p:txBody>
      </p:sp>
      <p:pic>
        <p:nvPicPr>
          <p:cNvPr id="5" name="Picture 4">
            <a:extLst>
              <a:ext uri="{FF2B5EF4-FFF2-40B4-BE49-F238E27FC236}">
                <a16:creationId xmlns:a16="http://schemas.microsoft.com/office/drawing/2014/main" id="{0CFF63A3-95E7-48C9-95B4-158EE7F8F213}"/>
              </a:ext>
            </a:extLst>
          </p:cNvPr>
          <p:cNvPicPr>
            <a:picLocks noChangeAspect="1"/>
          </p:cNvPicPr>
          <p:nvPr/>
        </p:nvPicPr>
        <p:blipFill rotWithShape="1">
          <a:blip r:embed="rId2"/>
          <a:srcRect l="24075" r="30805" b="-1"/>
          <a:stretch/>
        </p:blipFill>
        <p:spPr>
          <a:xfrm>
            <a:off x="20" y="10"/>
            <a:ext cx="4635571" cy="6857990"/>
          </a:xfrm>
          <a:prstGeom prst="rect">
            <a:avLst/>
          </a:prstGeom>
          <a:effectLst/>
        </p:spPr>
      </p:pic>
      <p:cxnSp>
        <p:nvCxnSpPr>
          <p:cNvPr id="14" name="Straight Connector 13">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4653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167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8B12885D91BB40A0BB99E2A50A1EE3" ma:contentTypeVersion="3" ma:contentTypeDescription="Create a new document." ma:contentTypeScope="" ma:versionID="66d3699a59251bf72590b89b840aee2a">
  <xsd:schema xmlns:xsd="http://www.w3.org/2001/XMLSchema" xmlns:xs="http://www.w3.org/2001/XMLSchema" xmlns:p="http://schemas.microsoft.com/office/2006/metadata/properties" xmlns:ns2="df2c4b60-5aed-4c17-b8a3-f48bf4df2b21" targetNamespace="http://schemas.microsoft.com/office/2006/metadata/properties" ma:root="true" ma:fieldsID="46f555fcb575befc6dc00b384e8d6be5" ns2:_="">
    <xsd:import namespace="df2c4b60-5aed-4c17-b8a3-f48bf4df2b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2c4b60-5aed-4c17-b8a3-f48bf4df2b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C9CF81-7430-44C8-BA3A-6D1566A83FCF}"/>
</file>

<file path=customXml/itemProps2.xml><?xml version="1.0" encoding="utf-8"?>
<ds:datastoreItem xmlns:ds="http://schemas.openxmlformats.org/officeDocument/2006/customXml" ds:itemID="{F666B03A-625B-4225-BC96-4A1B4A76BA31}"/>
</file>

<file path=customXml/itemProps3.xml><?xml version="1.0" encoding="utf-8"?>
<ds:datastoreItem xmlns:ds="http://schemas.openxmlformats.org/officeDocument/2006/customXml" ds:itemID="{9BDD23E0-66C7-413E-993F-E1654B3B745A}"/>
</file>

<file path=docProps/app.xml><?xml version="1.0" encoding="utf-8"?>
<Properties xmlns="http://schemas.openxmlformats.org/officeDocument/2006/extended-properties" xmlns:vt="http://schemas.openxmlformats.org/officeDocument/2006/docPropsVTypes">
  <TotalTime>359</TotalTime>
  <Words>562</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CIDFont+F2</vt:lpstr>
      <vt:lpstr>Office Theme</vt:lpstr>
      <vt:lpstr>Firewall &amp; VPN</vt:lpstr>
      <vt:lpstr>Firewall</vt:lpstr>
      <vt:lpstr>Firewall</vt:lpstr>
      <vt:lpstr>Firewall</vt:lpstr>
      <vt:lpstr>Types of Firewall</vt:lpstr>
      <vt:lpstr>Types of Firewall</vt:lpstr>
      <vt:lpstr>Types of Firewall</vt:lpstr>
      <vt:lpstr>Types of Firewall</vt:lpstr>
      <vt:lpstr>PowerPoint Presentation</vt:lpstr>
      <vt:lpstr>Virtual Private Networks (VPN)</vt:lpstr>
      <vt:lpstr>Securing Communication with VPN</vt:lpstr>
      <vt:lpstr>Securing Communication with VPN</vt:lpstr>
      <vt:lpstr>VPN 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Firewall &amp; VPN</dc:title>
  <dc:creator>M Usman</dc:creator>
  <cp:lastModifiedBy>Muhammad Usman</cp:lastModifiedBy>
  <cp:revision>13</cp:revision>
  <dcterms:created xsi:type="dcterms:W3CDTF">2021-01-05T10:23:27Z</dcterms:created>
  <dcterms:modified xsi:type="dcterms:W3CDTF">2022-05-26T05:28:37Z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0x010100C48B12885D91BB40A0BB99E2A50A1EE3</vt:lpwstr>
  </property>
</Properties>
</file>