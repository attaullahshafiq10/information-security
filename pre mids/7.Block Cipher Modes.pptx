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78" r:id="rId4"/>
    <p:sldId id="265" r:id="rId5"/>
    <p:sldId id="279" r:id="rId6"/>
    <p:sldId id="280" r:id="rId7"/>
    <p:sldId id="281" r:id="rId8"/>
    <p:sldId id="282" r:id="rId9"/>
    <p:sldId id="283" r:id="rId10"/>
    <p:sldId id="271" r:id="rId11"/>
    <p:sldId id="272" r:id="rId12"/>
    <p:sldId id="273" r:id="rId13"/>
    <p:sldId id="276" r:id="rId14"/>
    <p:sldId id="277" r:id="rId15"/>
    <p:sldId id="28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17663-27EB-45F0-ADE1-0CDE4D45756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B3B7D-BB22-43B4-89BD-F874E7AAD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85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98460" y="1783959"/>
            <a:ext cx="306548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u="sng" dirty="0">
                <a:latin typeface="+mj-lt"/>
                <a:ea typeface="+mj-ea"/>
                <a:cs typeface="+mj-cs"/>
              </a:rPr>
              <a:t>Modes </a:t>
            </a:r>
            <a:r>
              <a:rPr lang="en-US" sz="4700" b="1" u="sng">
                <a:latin typeface="+mj-lt"/>
                <a:ea typeface="+mj-ea"/>
                <a:cs typeface="+mj-cs"/>
              </a:rPr>
              <a:t>of Operation</a:t>
            </a:r>
          </a:p>
        </p:txBody>
      </p:sp>
      <p:sp>
        <p:nvSpPr>
          <p:cNvPr id="12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B2531D1F-8779-4161-B5DB-A07BFD832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136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EB434E-DDBE-4BAB-AE72-04ED4183408D}"/>
              </a:ext>
            </a:extLst>
          </p:cNvPr>
          <p:cNvSpPr/>
          <p:nvPr/>
        </p:nvSpPr>
        <p:spPr>
          <a:xfrm>
            <a:off x="541606" y="1410355"/>
            <a:ext cx="81662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When multiple blocks of plaintext are encrypted using the same key, a number of security issues arise. To apply a block cipher in a variety of applications, five </a:t>
            </a:r>
            <a:r>
              <a:rPr lang="en-US" sz="2400" i="1" dirty="0">
                <a:solidFill>
                  <a:srgbClr val="000000"/>
                </a:solidFill>
              </a:rPr>
              <a:t>modes of operation </a:t>
            </a:r>
            <a:r>
              <a:rPr lang="en-US" sz="2400" dirty="0">
                <a:solidFill>
                  <a:srgbClr val="000000"/>
                </a:solidFill>
              </a:rPr>
              <a:t>have been defined by NIST.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 mode of operation is a technique for enhancing the effect of a cryptographic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The five modes are intended to cover a wide variety of applications of encryption for which a block cipher could be used. These modes are intended for use with any symmetric block cipher, including triple DES and AES.</a:t>
            </a: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  <a:latin typeface="CIDFont+F1"/>
              </a:rPr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43FC7-F0E8-459A-A912-599A57D61397}"/>
              </a:ext>
            </a:extLst>
          </p:cNvPr>
          <p:cNvSpPr/>
          <p:nvPr/>
        </p:nvSpPr>
        <p:spPr>
          <a:xfrm>
            <a:off x="2124222" y="458318"/>
            <a:ext cx="5162843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+mj-lt"/>
              </a:rPr>
              <a:t>Block Cipher Operation</a:t>
            </a:r>
            <a:br>
              <a:rPr lang="en-US" sz="4000" b="1" dirty="0">
                <a:solidFill>
                  <a:srgbClr val="000000"/>
                </a:solidFill>
                <a:latin typeface="+mj-lt"/>
              </a:rPr>
            </a:b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000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C70B5-9A57-4995-93ED-A7D809584A97}"/>
              </a:ext>
            </a:extLst>
          </p:cNvPr>
          <p:cNvSpPr/>
          <p:nvPr/>
        </p:nvSpPr>
        <p:spPr>
          <a:xfrm>
            <a:off x="628650" y="562271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Electronic Codebook (ECB) mode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766ED-1101-49C0-BD7C-8067919780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61"/>
          <a:stretch/>
        </p:blipFill>
        <p:spPr>
          <a:xfrm>
            <a:off x="628650" y="1845426"/>
            <a:ext cx="7884410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9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6" y="3270504"/>
            <a:ext cx="8497824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0247" y="457200"/>
            <a:ext cx="7745289" cy="4511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3990"/>
              </a:lnSpc>
              <a:spcAft>
                <a:spcPts val="49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Electronic Codebook (ECB)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265" y="1234440"/>
            <a:ext cx="6808763" cy="2194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302006" indent="-285750">
              <a:lnSpc>
                <a:spcPts val="2160"/>
              </a:lnSpc>
              <a:spcBef>
                <a:spcPts val="490"/>
              </a:spcBef>
              <a:spcAft>
                <a:spcPts val="49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</a:rPr>
              <a:t>Best for short messages such as a key </a:t>
            </a:r>
          </a:p>
          <a:p>
            <a:pPr marL="302006" indent="-285750">
              <a:lnSpc>
                <a:spcPts val="2160"/>
              </a:lnSpc>
              <a:spcBef>
                <a:spcPts val="490"/>
              </a:spcBef>
              <a:spcAft>
                <a:spcPts val="49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</a:rPr>
              <a:t>Not secure for lengthy data </a:t>
            </a:r>
          </a:p>
          <a:p>
            <a:pPr marL="302006" indent="-285750">
              <a:lnSpc>
                <a:spcPts val="2160"/>
              </a:lnSpc>
              <a:spcBef>
                <a:spcPts val="490"/>
              </a:spcBef>
              <a:spcAft>
                <a:spcPts val="49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</a:rPr>
              <a:t>Does not hide data patterns well and doesn't provide serious message confidentiality</a:t>
            </a:r>
          </a:p>
          <a:p>
            <a:pPr marL="302006" indent="-285750">
              <a:lnSpc>
                <a:spcPts val="2160"/>
              </a:lnSpc>
              <a:spcBef>
                <a:spcPts val="490"/>
              </a:spcBef>
              <a:spcAft>
                <a:spcPts val="49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</a:rPr>
              <a:t>Each block gets decrypted in exactly the same way.</a:t>
            </a:r>
          </a:p>
          <a:p>
            <a:pPr marL="282956" indent="-266700">
              <a:lnSpc>
                <a:spcPts val="2160"/>
              </a:lnSpc>
              <a:spcBef>
                <a:spcPts val="490"/>
              </a:spcBef>
              <a:spcAft>
                <a:spcPts val="490"/>
              </a:spcAft>
            </a:pPr>
            <a:endParaRPr lang="en-US" dirty="0">
              <a:latin typeface="Times New Roman"/>
            </a:endParaRPr>
          </a:p>
          <a:p>
            <a:pPr marL="282956" indent="-266700">
              <a:lnSpc>
                <a:spcPts val="1770"/>
              </a:lnSpc>
            </a:pPr>
            <a:endParaRPr lang="en-US" dirty="0">
              <a:latin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3648" y="6031992"/>
            <a:ext cx="5238340" cy="438912"/>
          </a:xfrm>
          <a:prstGeom prst="rect">
            <a:avLst/>
          </a:prstGeom>
        </p:spPr>
        <p:txBody>
          <a:bodyPr lIns="0" tIns="0" rIns="0" bIns="0">
            <a:normAutofit fontScale="97500"/>
          </a:bodyPr>
          <a:lstStyle/>
          <a:p>
            <a:pPr indent="0">
              <a:lnSpc>
                <a:spcPts val="1160"/>
              </a:lnSpc>
            </a:pPr>
            <a:endParaRPr lang="en-US" sz="1050" b="1" dirty="0">
              <a:solidFill>
                <a:srgbClr val="696464"/>
              </a:solidFill>
              <a:latin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9C9261-16AD-4AC9-BD7D-C8249549BD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22" b="19038"/>
          <a:stretch/>
        </p:blipFill>
        <p:spPr>
          <a:xfrm>
            <a:off x="347297" y="1477764"/>
            <a:ext cx="7553325" cy="1350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F74823-C56E-4391-B0D2-5591C4974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161" y="3632103"/>
            <a:ext cx="5667375" cy="2876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4B624F-BD5F-4965-85EA-24A8D0658647}"/>
              </a:ext>
            </a:extLst>
          </p:cNvPr>
          <p:cNvSpPr/>
          <p:nvPr/>
        </p:nvSpPr>
        <p:spPr>
          <a:xfrm>
            <a:off x="628650" y="349347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Electronic Codebook (ECB) mode</a:t>
            </a:r>
          </a:p>
        </p:txBody>
      </p:sp>
    </p:spTree>
    <p:extLst>
      <p:ext uri="{BB962C8B-B14F-4D97-AF65-F5344CB8AC3E}">
        <p14:creationId xmlns:p14="http://schemas.microsoft.com/office/powerpoint/2010/main" val="185954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975B4A-2A69-479E-93B0-D81D3CCC2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39" y="1266825"/>
            <a:ext cx="7829550" cy="43243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267291-A4B6-487E-BA64-0D62B029E8FB}"/>
              </a:ext>
            </a:extLst>
          </p:cNvPr>
          <p:cNvSpPr/>
          <p:nvPr/>
        </p:nvSpPr>
        <p:spPr>
          <a:xfrm>
            <a:off x="628650" y="349347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Cipher Block Chaining (CBC) mode</a:t>
            </a:r>
          </a:p>
        </p:txBody>
      </p:sp>
    </p:spTree>
    <p:extLst>
      <p:ext uri="{BB962C8B-B14F-4D97-AF65-F5344CB8AC3E}">
        <p14:creationId xmlns:p14="http://schemas.microsoft.com/office/powerpoint/2010/main" val="36424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299A0-93A6-4DA1-8567-48D525270499}"/>
              </a:ext>
            </a:extLst>
          </p:cNvPr>
          <p:cNvSpPr/>
          <p:nvPr/>
        </p:nvSpPr>
        <p:spPr>
          <a:xfrm>
            <a:off x="628650" y="562271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Cipher Block Chaining (CBC) mode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14D3DD-2D86-40EE-B63B-0A37A08113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583" r="848" b="2"/>
          <a:stretch/>
        </p:blipFill>
        <p:spPr>
          <a:xfrm>
            <a:off x="131000" y="2652062"/>
            <a:ext cx="8879713" cy="31728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DC2AF2-E7E6-42A9-BFA7-2DF7CD939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29" y="1748176"/>
            <a:ext cx="7886701" cy="54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6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8963AD-11B1-41FA-979B-1FADDEDAA9C1}"/>
              </a:ext>
            </a:extLst>
          </p:cNvPr>
          <p:cNvSpPr/>
          <p:nvPr/>
        </p:nvSpPr>
        <p:spPr>
          <a:xfrm>
            <a:off x="628650" y="168375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Cipher Block Chaining (CBC) mode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2713A-D223-4B91-B7F1-5900D0675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-1" r="-2237" b="63989"/>
          <a:stretch/>
        </p:blipFill>
        <p:spPr>
          <a:xfrm>
            <a:off x="0" y="1175460"/>
            <a:ext cx="9144000" cy="13405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BE526E-5F59-44E1-BEAB-0A0DD08CD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3724421"/>
            <a:ext cx="53911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16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6BA16-02A3-449E-87E6-8A1300F21AC8}"/>
              </a:ext>
            </a:extLst>
          </p:cNvPr>
          <p:cNvSpPr/>
          <p:nvPr/>
        </p:nvSpPr>
        <p:spPr>
          <a:xfrm>
            <a:off x="628650" y="562271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Cipher Feedback (CFB) mode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2448DB-1D35-4EE5-84C2-975D4E281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757433"/>
            <a:ext cx="90868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93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1936" y="1267968"/>
            <a:ext cx="7217664" cy="78638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79400" indent="-279400">
              <a:lnSpc>
                <a:spcPts val="3360"/>
              </a:lnSpc>
            </a:pPr>
            <a:r>
              <a:rPr lang="en-US" dirty="0">
                <a:solidFill>
                  <a:srgbClr val="D34817"/>
                </a:solidFill>
                <a:cs typeface="Arial" panose="020B0604020202020204" pitchFamily="34" charset="0"/>
              </a:rPr>
              <a:t>• </a:t>
            </a:r>
            <a:r>
              <a:rPr lang="en-US" dirty="0">
                <a:cs typeface="Arial" panose="020B0604020202020204" pitchFamily="34" charset="0"/>
              </a:rPr>
              <a:t>CFB decryption is almost identical to CBC </a:t>
            </a:r>
            <a:r>
              <a:rPr lang="en-US" b="1" dirty="0">
                <a:cs typeface="Arial" panose="020B0604020202020204" pitchFamily="34" charset="0"/>
              </a:rPr>
              <a:t>Encryption</a:t>
            </a:r>
            <a:r>
              <a:rPr lang="en-US" dirty="0">
                <a:cs typeface="Arial" panose="020B0604020202020204" pitchFamily="34" charset="0"/>
              </a:rPr>
              <a:t> performed in reverse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94355-34C1-4D6B-B3FE-29914F0C146E}"/>
              </a:ext>
            </a:extLst>
          </p:cNvPr>
          <p:cNvSpPr/>
          <p:nvPr/>
        </p:nvSpPr>
        <p:spPr>
          <a:xfrm>
            <a:off x="681990" y="350191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Cipher Feedback (CFB) mode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F6F8E2-9B03-44C7-8D54-676228257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995"/>
            <a:ext cx="8829675" cy="44005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E4D75F-4A54-430F-9466-7717E348DFB5}"/>
              </a:ext>
            </a:extLst>
          </p:cNvPr>
          <p:cNvSpPr/>
          <p:nvPr/>
        </p:nvSpPr>
        <p:spPr>
          <a:xfrm>
            <a:off x="681990" y="350191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Output Feedback (OFB)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448B8-27E4-4406-8005-B3445F777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" y="2375389"/>
            <a:ext cx="8515350" cy="40957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CABE7-AC95-4583-92A8-AC493CC4557E}"/>
              </a:ext>
            </a:extLst>
          </p:cNvPr>
          <p:cNvSpPr/>
          <p:nvPr/>
        </p:nvSpPr>
        <p:spPr>
          <a:xfrm>
            <a:off x="681990" y="350191"/>
            <a:ext cx="7886700" cy="1128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latin typeface="+mj-lt"/>
                <a:ea typeface="+mj-ea"/>
                <a:cs typeface="+mj-cs"/>
              </a:rPr>
              <a:t>Output Feedback (OFB) mode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8F5651-C9E5-41D2-88FE-DE5C0CD2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287143"/>
            <a:ext cx="8763000" cy="4048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6CF6AAE-75B5-4219-8A74-938F708FD451}"/>
              </a:ext>
            </a:extLst>
          </p:cNvPr>
          <p:cNvSpPr/>
          <p:nvPr/>
        </p:nvSpPr>
        <p:spPr>
          <a:xfrm>
            <a:off x="708484" y="1197673"/>
            <a:ext cx="7727032" cy="883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85750" indent="-285750">
              <a:lnSpc>
                <a:spcPts val="3336"/>
              </a:lnSpc>
              <a:buFont typeface="Arial" panose="020B0604020202020204" pitchFamily="34" charset="0"/>
              <a:buChar char="•"/>
            </a:pPr>
            <a:r>
              <a:rPr lang="en-US" dirty="0"/>
              <a:t>Because of the symmetry of the XOR operation, encryption and decryption are  exactly the same: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" y="1889760"/>
            <a:ext cx="8759952" cy="35295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9392" y="502920"/>
            <a:ext cx="4535424" cy="4053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3430"/>
              </a:lnSpc>
            </a:pPr>
            <a:r>
              <a:rPr lang="en-US" sz="4500" dirty="0">
                <a:latin typeface="+mj-lt"/>
              </a:rPr>
              <a:t>Counter (CTR) mode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" y="1603248"/>
            <a:ext cx="8766048" cy="34015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5F5AA-32CD-48C7-A8A5-B1E4DA82400D}"/>
              </a:ext>
            </a:extLst>
          </p:cNvPr>
          <p:cNvSpPr/>
          <p:nvPr/>
        </p:nvSpPr>
        <p:spPr>
          <a:xfrm>
            <a:off x="469392" y="502920"/>
            <a:ext cx="4535424" cy="4053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3430"/>
              </a:lnSpc>
            </a:pPr>
            <a:r>
              <a:rPr lang="en-US" sz="4500" dirty="0">
                <a:latin typeface="+mj-lt"/>
              </a:rPr>
              <a:t>Counter (CTR) mode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ble&#10;&#10;Description automatically generated">
            <a:extLst>
              <a:ext uri="{FF2B5EF4-FFF2-40B4-BE49-F238E27FC236}">
                <a16:creationId xmlns:a16="http://schemas.microsoft.com/office/drawing/2014/main" id="{8464F2DF-F1A4-45AE-AB74-3D9FE902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78878"/>
            <a:ext cx="8178799" cy="550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3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8B12885D91BB40A0BB99E2A50A1EE3" ma:contentTypeVersion="3" ma:contentTypeDescription="Create a new document." ma:contentTypeScope="" ma:versionID="66d3699a59251bf72590b89b840aee2a">
  <xsd:schema xmlns:xsd="http://www.w3.org/2001/XMLSchema" xmlns:xs="http://www.w3.org/2001/XMLSchema" xmlns:p="http://schemas.microsoft.com/office/2006/metadata/properties" xmlns:ns2="df2c4b60-5aed-4c17-b8a3-f48bf4df2b21" targetNamespace="http://schemas.microsoft.com/office/2006/metadata/properties" ma:root="true" ma:fieldsID="46f555fcb575befc6dc00b384e8d6be5" ns2:_="">
    <xsd:import namespace="df2c4b60-5aed-4c17-b8a3-f48bf4df2b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c4b60-5aed-4c17-b8a3-f48bf4df2b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01D3A6-1791-461D-8E83-0469933FB5DD}"/>
</file>

<file path=customXml/itemProps2.xml><?xml version="1.0" encoding="utf-8"?>
<ds:datastoreItem xmlns:ds="http://schemas.openxmlformats.org/officeDocument/2006/customXml" ds:itemID="{75ED0463-80B6-4C5D-A3BF-5DBC76F7C28E}"/>
</file>

<file path=customXml/itemProps3.xml><?xml version="1.0" encoding="utf-8"?>
<ds:datastoreItem xmlns:ds="http://schemas.openxmlformats.org/officeDocument/2006/customXml" ds:itemID="{EF799EE5-9F04-4B4F-B3D7-96BAA1B6A077}"/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245</Words>
  <Application>Microsoft Office PowerPoint</Application>
  <PresentationFormat>On-screen Show (4:3)</PresentationFormat>
  <Paragraphs>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CIDFont+F1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Usman</dc:creator>
  <cp:lastModifiedBy>Muhammad Usman</cp:lastModifiedBy>
  <cp:revision>23</cp:revision>
  <dcterms:created xsi:type="dcterms:W3CDTF">2020-11-30T10:05:17Z</dcterms:created>
  <dcterms:modified xsi:type="dcterms:W3CDTF">2022-04-09T10:08:34Z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0x010100C48B12885D91BB40A0BB99E2A50A1EE3</vt:lpwstr>
  </property>
</Properties>
</file>