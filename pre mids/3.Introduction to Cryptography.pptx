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Masters/slideMaster1.xml" ContentType="application/vnd.openxmlformats-officedocument.presentationml.slideMaster+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1.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3.xml" ContentType="application/vnd.openxmlformats-officedocument.presentationml.slideLayout+xml"/>
  <Override PartName="/ppt/notesSlides/notesSlide5.xml" ContentType="application/vnd.openxmlformats-officedocument.presentationml.notesSlide+xml"/>
  <Override PartName="/ppt/notesSlides/notesSlide3.xml" ContentType="application/vnd.openxmlformats-officedocument.presentationml.notesSlide+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57" r:id="rId2"/>
    <p:sldId id="597" r:id="rId3"/>
    <p:sldId id="417" r:id="rId4"/>
    <p:sldId id="405" r:id="rId5"/>
    <p:sldId id="411" r:id="rId6"/>
    <p:sldId id="413" r:id="rId7"/>
    <p:sldId id="262" r:id="rId8"/>
    <p:sldId id="414" r:id="rId9"/>
    <p:sldId id="260" r:id="rId10"/>
    <p:sldId id="267" r:id="rId11"/>
    <p:sldId id="268" r:id="rId12"/>
    <p:sldId id="269" r:id="rId13"/>
    <p:sldId id="271" r:id="rId14"/>
    <p:sldId id="272" r:id="rId15"/>
    <p:sldId id="273" r:id="rId16"/>
    <p:sldId id="274" r:id="rId17"/>
    <p:sldId id="379" r:id="rId18"/>
    <p:sldId id="423" r:id="rId19"/>
    <p:sldId id="424" r:id="rId20"/>
    <p:sldId id="375" r:id="rId21"/>
    <p:sldId id="259" r:id="rId22"/>
    <p:sldId id="416" r:id="rId23"/>
    <p:sldId id="265" r:id="rId24"/>
    <p:sldId id="427" r:id="rId25"/>
    <p:sldId id="299" r:id="rId26"/>
    <p:sldId id="300" r:id="rId27"/>
    <p:sldId id="301" r:id="rId28"/>
    <p:sldId id="425" r:id="rId29"/>
    <p:sldId id="408" r:id="rId30"/>
    <p:sldId id="409" r:id="rId31"/>
    <p:sldId id="399" r:id="rId32"/>
    <p:sldId id="400" r:id="rId33"/>
    <p:sldId id="372" r:id="rId34"/>
    <p:sldId id="308" r:id="rId35"/>
    <p:sldId id="415" r:id="rId36"/>
    <p:sldId id="421" r:id="rId37"/>
    <p:sldId id="422" r:id="rId38"/>
    <p:sldId id="371" r:id="rId39"/>
    <p:sldId id="370" r:id="rId40"/>
    <p:sldId id="309" r:id="rId41"/>
    <p:sldId id="310" r:id="rId42"/>
    <p:sldId id="420" r:id="rId43"/>
    <p:sldId id="430" r:id="rId44"/>
    <p:sldId id="316" r:id="rId45"/>
    <p:sldId id="318" r:id="rId46"/>
    <p:sldId id="320" r:id="rId47"/>
    <p:sldId id="426" r:id="rId48"/>
    <p:sldId id="367" r:id="rId49"/>
    <p:sldId id="323" r:id="rId50"/>
    <p:sldId id="325" r:id="rId51"/>
    <p:sldId id="327" r:id="rId52"/>
    <p:sldId id="329" r:id="rId53"/>
    <p:sldId id="334" r:id="rId5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55"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customXml" Target="../customXml/item2.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A5D257-ADAA-4B12-B01A-E20151ED2DD3}" type="datetimeFigureOut">
              <a:rPr lang="en-US" smtClean="0"/>
              <a:t>3/15/2025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65B085-84E6-48EF-B01D-930D356A9F17}" type="slidenum">
              <a:rPr lang="en-US" smtClean="0"/>
              <a:t>‹#›</a:t>
            </a:fld>
            <a:endParaRPr lang="en-US"/>
          </a:p>
        </p:txBody>
      </p:sp>
    </p:spTree>
    <p:extLst>
      <p:ext uri="{BB962C8B-B14F-4D97-AF65-F5344CB8AC3E}">
        <p14:creationId xmlns:p14="http://schemas.microsoft.com/office/powerpoint/2010/main" val="23267367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A51D848A-56C0-4009-B1FC-3D459C300B70}"/>
              </a:ext>
            </a:extLst>
          </p:cNvPr>
          <p:cNvSpPr>
            <a:spLocks noGrp="1" noChangeArrowheads="1"/>
          </p:cNvSpPr>
          <p:nvPr>
            <p:ph type="sldNum" sz="quarter" idx="5"/>
          </p:nvPr>
        </p:nvSpPr>
        <p:spPr>
          <a:ln/>
        </p:spPr>
        <p:txBody>
          <a:bodyPr/>
          <a:lstStyle/>
          <a:p>
            <a:fld id="{38504C9E-6962-49F2-94F6-727FB1B3DD7B}" type="slidenum">
              <a:rPr lang="en-US" altLang="en-US"/>
              <a:pPr/>
              <a:t>8</a:t>
            </a:fld>
            <a:endParaRPr lang="en-US" altLang="en-US"/>
          </a:p>
        </p:txBody>
      </p:sp>
      <p:sp>
        <p:nvSpPr>
          <p:cNvPr id="15362" name="Rectangle 2">
            <a:extLst>
              <a:ext uri="{FF2B5EF4-FFF2-40B4-BE49-F238E27FC236}">
                <a16:creationId xmlns:a16="http://schemas.microsoft.com/office/drawing/2014/main" id="{F92EB9AF-D650-4504-ADA1-21DD3B31CEF2}"/>
              </a:ext>
            </a:extLst>
          </p:cNvPr>
          <p:cNvSpPr>
            <a:spLocks noGrp="1" noRot="1" noChangeAspect="1" noChangeArrowheads="1" noTextEdit="1"/>
          </p:cNvSpPr>
          <p:nvPr>
            <p:ph type="sldImg"/>
          </p:nvPr>
        </p:nvSpPr>
        <p:spPr>
          <a:xfrm>
            <a:off x="406400" y="696913"/>
            <a:ext cx="6173788" cy="3473450"/>
          </a:xfrm>
          <a:ln w="12700" cap="flat"/>
        </p:spPr>
      </p:sp>
      <p:sp>
        <p:nvSpPr>
          <p:cNvPr id="15363" name="Rectangle 3">
            <a:extLst>
              <a:ext uri="{FF2B5EF4-FFF2-40B4-BE49-F238E27FC236}">
                <a16:creationId xmlns:a16="http://schemas.microsoft.com/office/drawing/2014/main" id="{586B35B3-AEEE-43B5-BAE7-1F912B6B4B4C}"/>
              </a:ext>
            </a:extLst>
          </p:cNvPr>
          <p:cNvSpPr>
            <a:spLocks noGrp="1" noChangeArrowheads="1"/>
          </p:cNvSpPr>
          <p:nvPr>
            <p:ph type="body" idx="1"/>
          </p:nvPr>
        </p:nvSpPr>
        <p:spPr>
          <a:ln/>
        </p:spPr>
        <p:txBody>
          <a:bodyPr lIns="93522" tIns="46761" rIns="93522" bIns="46761"/>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738F066-3A2F-4F3C-9ED3-547604163426}"/>
              </a:ext>
            </a:extLst>
          </p:cNvPr>
          <p:cNvSpPr>
            <a:spLocks noGrp="1" noChangeArrowheads="1"/>
          </p:cNvSpPr>
          <p:nvPr>
            <p:ph type="sldNum" sz="quarter" idx="5"/>
          </p:nvPr>
        </p:nvSpPr>
        <p:spPr>
          <a:ln/>
        </p:spPr>
        <p:txBody>
          <a:bodyPr/>
          <a:lstStyle/>
          <a:p>
            <a:fld id="{0D086867-9A0B-4342-965F-736EE76B749A}" type="slidenum">
              <a:rPr lang="en-US" altLang="en-US"/>
              <a:pPr/>
              <a:t>11</a:t>
            </a:fld>
            <a:endParaRPr lang="en-US" altLang="en-US"/>
          </a:p>
        </p:txBody>
      </p:sp>
      <p:sp>
        <p:nvSpPr>
          <p:cNvPr id="22530" name="Rectangle 2">
            <a:extLst>
              <a:ext uri="{FF2B5EF4-FFF2-40B4-BE49-F238E27FC236}">
                <a16:creationId xmlns:a16="http://schemas.microsoft.com/office/drawing/2014/main" id="{8B1F4269-3EC4-4F03-B958-58E1C6A4EF70}"/>
              </a:ext>
            </a:extLst>
          </p:cNvPr>
          <p:cNvSpPr>
            <a:spLocks noGrp="1" noRot="1" noChangeAspect="1" noChangeArrowheads="1" noTextEdit="1"/>
          </p:cNvSpPr>
          <p:nvPr>
            <p:ph type="sldImg"/>
          </p:nvPr>
        </p:nvSpPr>
        <p:spPr>
          <a:xfrm>
            <a:off x="406400" y="696913"/>
            <a:ext cx="6173788" cy="3473450"/>
          </a:xfrm>
          <a:ln w="12700" cap="flat"/>
        </p:spPr>
      </p:sp>
      <p:sp>
        <p:nvSpPr>
          <p:cNvPr id="22531" name="Rectangle 3">
            <a:extLst>
              <a:ext uri="{FF2B5EF4-FFF2-40B4-BE49-F238E27FC236}">
                <a16:creationId xmlns:a16="http://schemas.microsoft.com/office/drawing/2014/main" id="{7A8055DF-B689-444D-ABCD-9E933FFABDB1}"/>
              </a:ext>
            </a:extLst>
          </p:cNvPr>
          <p:cNvSpPr>
            <a:spLocks noGrp="1" noChangeArrowheads="1"/>
          </p:cNvSpPr>
          <p:nvPr>
            <p:ph type="body" idx="1"/>
          </p:nvPr>
        </p:nvSpPr>
        <p:spPr>
          <a:ln/>
        </p:spPr>
        <p:txBody>
          <a:bodyPr lIns="93522" tIns="46761" rIns="93522" bIns="46761"/>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089DF9E5-4FF2-451A-BD11-34E3F0E85BA6}"/>
              </a:ext>
            </a:extLst>
          </p:cNvPr>
          <p:cNvSpPr>
            <a:spLocks noGrp="1" noChangeArrowheads="1"/>
          </p:cNvSpPr>
          <p:nvPr>
            <p:ph type="sldNum" sz="quarter" idx="5"/>
          </p:nvPr>
        </p:nvSpPr>
        <p:spPr>
          <a:ln/>
        </p:spPr>
        <p:txBody>
          <a:bodyPr/>
          <a:lstStyle/>
          <a:p>
            <a:fld id="{1A45C139-9C62-4528-8100-D8845AA381D3}" type="slidenum">
              <a:rPr lang="en-US" altLang="en-US"/>
              <a:pPr/>
              <a:t>12</a:t>
            </a:fld>
            <a:endParaRPr lang="en-US" altLang="en-US"/>
          </a:p>
        </p:txBody>
      </p:sp>
      <p:sp>
        <p:nvSpPr>
          <p:cNvPr id="24578" name="Rectangle 2">
            <a:extLst>
              <a:ext uri="{FF2B5EF4-FFF2-40B4-BE49-F238E27FC236}">
                <a16:creationId xmlns:a16="http://schemas.microsoft.com/office/drawing/2014/main" id="{B4211BC3-AA4F-41FC-82F4-D9F7BA9FA7F0}"/>
              </a:ext>
            </a:extLst>
          </p:cNvPr>
          <p:cNvSpPr>
            <a:spLocks noGrp="1" noRot="1" noChangeAspect="1" noChangeArrowheads="1" noTextEdit="1"/>
          </p:cNvSpPr>
          <p:nvPr>
            <p:ph type="sldImg"/>
          </p:nvPr>
        </p:nvSpPr>
        <p:spPr>
          <a:xfrm>
            <a:off x="406400" y="696913"/>
            <a:ext cx="6173788" cy="3473450"/>
          </a:xfrm>
          <a:ln w="12700" cap="flat"/>
        </p:spPr>
      </p:sp>
      <p:sp>
        <p:nvSpPr>
          <p:cNvPr id="24579" name="Rectangle 3">
            <a:extLst>
              <a:ext uri="{FF2B5EF4-FFF2-40B4-BE49-F238E27FC236}">
                <a16:creationId xmlns:a16="http://schemas.microsoft.com/office/drawing/2014/main" id="{740927A0-30FE-44CC-8E0E-2A0951A743EC}"/>
              </a:ext>
            </a:extLst>
          </p:cNvPr>
          <p:cNvSpPr>
            <a:spLocks noGrp="1" noChangeArrowheads="1"/>
          </p:cNvSpPr>
          <p:nvPr>
            <p:ph type="body" idx="1"/>
          </p:nvPr>
        </p:nvSpPr>
        <p:spPr>
          <a:ln/>
        </p:spPr>
        <p:txBody>
          <a:bodyPr lIns="93522" tIns="46761" rIns="93522" bIns="46761"/>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7CF30C6-CB01-422F-BC8F-AC91F694CEB5}"/>
              </a:ext>
            </a:extLst>
          </p:cNvPr>
          <p:cNvSpPr>
            <a:spLocks noGrp="1" noChangeArrowheads="1"/>
          </p:cNvSpPr>
          <p:nvPr>
            <p:ph type="sldNum" sz="quarter" idx="5"/>
          </p:nvPr>
        </p:nvSpPr>
        <p:spPr>
          <a:ln/>
        </p:spPr>
        <p:txBody>
          <a:bodyPr/>
          <a:lstStyle/>
          <a:p>
            <a:fld id="{92F84FC1-E11A-4774-AB1A-A35C68418A6D}" type="slidenum">
              <a:rPr lang="en-US" altLang="en-US"/>
              <a:pPr/>
              <a:t>14</a:t>
            </a:fld>
            <a:endParaRPr lang="en-US" altLang="en-US"/>
          </a:p>
        </p:txBody>
      </p:sp>
      <p:sp>
        <p:nvSpPr>
          <p:cNvPr id="29698" name="Rectangle 2">
            <a:extLst>
              <a:ext uri="{FF2B5EF4-FFF2-40B4-BE49-F238E27FC236}">
                <a16:creationId xmlns:a16="http://schemas.microsoft.com/office/drawing/2014/main" id="{0A5AEDFB-2977-4806-BD78-BF6E0344F386}"/>
              </a:ext>
            </a:extLst>
          </p:cNvPr>
          <p:cNvSpPr>
            <a:spLocks noGrp="1" noRot="1" noChangeAspect="1" noChangeArrowheads="1" noTextEdit="1"/>
          </p:cNvSpPr>
          <p:nvPr>
            <p:ph type="sldImg"/>
          </p:nvPr>
        </p:nvSpPr>
        <p:spPr>
          <a:xfrm>
            <a:off x="406400" y="696913"/>
            <a:ext cx="6173788" cy="3473450"/>
          </a:xfrm>
          <a:ln w="12700" cap="flat"/>
        </p:spPr>
      </p:sp>
      <p:sp>
        <p:nvSpPr>
          <p:cNvPr id="29699" name="Rectangle 3">
            <a:extLst>
              <a:ext uri="{FF2B5EF4-FFF2-40B4-BE49-F238E27FC236}">
                <a16:creationId xmlns:a16="http://schemas.microsoft.com/office/drawing/2014/main" id="{6606E60F-1E97-479A-BEA2-47F5D3204CC7}"/>
              </a:ext>
            </a:extLst>
          </p:cNvPr>
          <p:cNvSpPr>
            <a:spLocks noGrp="1" noChangeArrowheads="1"/>
          </p:cNvSpPr>
          <p:nvPr>
            <p:ph type="body" idx="1"/>
          </p:nvPr>
        </p:nvSpPr>
        <p:spPr>
          <a:ln/>
        </p:spPr>
        <p:txBody>
          <a:bodyPr lIns="93522" tIns="46761" rIns="93522" bIns="46761"/>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90C797E1-A1EE-40A3-B0CB-DA03FB05E2B6}"/>
              </a:ext>
            </a:extLst>
          </p:cNvPr>
          <p:cNvSpPr>
            <a:spLocks noGrp="1" noChangeArrowheads="1"/>
          </p:cNvSpPr>
          <p:nvPr>
            <p:ph type="sldNum" sz="quarter" idx="5"/>
          </p:nvPr>
        </p:nvSpPr>
        <p:spPr>
          <a:ln/>
        </p:spPr>
        <p:txBody>
          <a:bodyPr/>
          <a:lstStyle/>
          <a:p>
            <a:fld id="{C87317DE-FF43-4131-B572-E681BDA1CFBA}" type="slidenum">
              <a:rPr lang="en-US" altLang="en-US"/>
              <a:pPr/>
              <a:t>15</a:t>
            </a:fld>
            <a:endParaRPr lang="en-US" altLang="en-US"/>
          </a:p>
        </p:txBody>
      </p:sp>
      <p:sp>
        <p:nvSpPr>
          <p:cNvPr id="31746" name="Rectangle 2">
            <a:extLst>
              <a:ext uri="{FF2B5EF4-FFF2-40B4-BE49-F238E27FC236}">
                <a16:creationId xmlns:a16="http://schemas.microsoft.com/office/drawing/2014/main" id="{0DCE84E1-457B-462B-B878-B17EE2A37601}"/>
              </a:ext>
            </a:extLst>
          </p:cNvPr>
          <p:cNvSpPr>
            <a:spLocks noGrp="1" noRot="1" noChangeAspect="1" noChangeArrowheads="1" noTextEdit="1"/>
          </p:cNvSpPr>
          <p:nvPr>
            <p:ph type="sldImg"/>
          </p:nvPr>
        </p:nvSpPr>
        <p:spPr>
          <a:xfrm>
            <a:off x="406400" y="696913"/>
            <a:ext cx="6173788" cy="3473450"/>
          </a:xfrm>
          <a:ln w="12700" cap="flat"/>
        </p:spPr>
      </p:sp>
      <p:sp>
        <p:nvSpPr>
          <p:cNvPr id="31747" name="Rectangle 3">
            <a:extLst>
              <a:ext uri="{FF2B5EF4-FFF2-40B4-BE49-F238E27FC236}">
                <a16:creationId xmlns:a16="http://schemas.microsoft.com/office/drawing/2014/main" id="{87239F83-577D-4E67-9423-3D1C65B8EB74}"/>
              </a:ext>
            </a:extLst>
          </p:cNvPr>
          <p:cNvSpPr>
            <a:spLocks noGrp="1" noChangeArrowheads="1"/>
          </p:cNvSpPr>
          <p:nvPr>
            <p:ph type="body" idx="1"/>
          </p:nvPr>
        </p:nvSpPr>
        <p:spPr>
          <a:ln/>
        </p:spPr>
        <p:txBody>
          <a:bodyPr lIns="93522" tIns="46761" rIns="93522" bIns="46761"/>
          <a:lstStyle/>
          <a:p>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6254B98-9A02-4F60-88D8-6054FE9DD1F9}"/>
              </a:ext>
            </a:extLst>
          </p:cNvPr>
          <p:cNvSpPr>
            <a:spLocks noGrp="1" noChangeArrowheads="1"/>
          </p:cNvSpPr>
          <p:nvPr>
            <p:ph type="sldNum" sz="quarter" idx="5"/>
          </p:nvPr>
        </p:nvSpPr>
        <p:spPr>
          <a:ln/>
        </p:spPr>
        <p:txBody>
          <a:bodyPr/>
          <a:lstStyle/>
          <a:p>
            <a:fld id="{5346F7E9-6A26-43C7-9CB0-99CE9FDBAA83}" type="slidenum">
              <a:rPr lang="en-US" altLang="en-US"/>
              <a:pPr/>
              <a:t>16</a:t>
            </a:fld>
            <a:endParaRPr lang="en-US" altLang="en-US"/>
          </a:p>
        </p:txBody>
      </p:sp>
      <p:sp>
        <p:nvSpPr>
          <p:cNvPr id="33794" name="Rectangle 2">
            <a:extLst>
              <a:ext uri="{FF2B5EF4-FFF2-40B4-BE49-F238E27FC236}">
                <a16:creationId xmlns:a16="http://schemas.microsoft.com/office/drawing/2014/main" id="{D820D4B3-2C8F-42EC-B65B-C4BCDF074FA5}"/>
              </a:ext>
            </a:extLst>
          </p:cNvPr>
          <p:cNvSpPr>
            <a:spLocks noGrp="1" noRot="1" noChangeAspect="1" noChangeArrowheads="1" noTextEdit="1"/>
          </p:cNvSpPr>
          <p:nvPr>
            <p:ph type="sldImg"/>
          </p:nvPr>
        </p:nvSpPr>
        <p:spPr>
          <a:xfrm>
            <a:off x="406400" y="696913"/>
            <a:ext cx="6173788" cy="3473450"/>
          </a:xfrm>
          <a:ln w="12700" cap="flat"/>
        </p:spPr>
      </p:sp>
      <p:sp>
        <p:nvSpPr>
          <p:cNvPr id="33795" name="Rectangle 3">
            <a:extLst>
              <a:ext uri="{FF2B5EF4-FFF2-40B4-BE49-F238E27FC236}">
                <a16:creationId xmlns:a16="http://schemas.microsoft.com/office/drawing/2014/main" id="{24EFD638-6FE0-462E-A975-6E35BF596EDB}"/>
              </a:ext>
            </a:extLst>
          </p:cNvPr>
          <p:cNvSpPr>
            <a:spLocks noGrp="1" noChangeArrowheads="1"/>
          </p:cNvSpPr>
          <p:nvPr>
            <p:ph type="body" idx="1"/>
          </p:nvPr>
        </p:nvSpPr>
        <p:spPr>
          <a:ln/>
        </p:spPr>
        <p:txBody>
          <a:bodyPr lIns="93522" tIns="46761" rIns="93522" bIns="46761"/>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1B19C8-C8AB-4F2B-99A1-A373CCB09AA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9112455-107F-4EFD-AB6D-C37DD70C2C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8EE97CF-9CB3-4FA6-B417-6FCA6E04CECE}"/>
              </a:ext>
            </a:extLst>
          </p:cNvPr>
          <p:cNvSpPr>
            <a:spLocks noGrp="1"/>
          </p:cNvSpPr>
          <p:nvPr>
            <p:ph type="dt" sz="half" idx="10"/>
          </p:nvPr>
        </p:nvSpPr>
        <p:spPr/>
        <p:txBody>
          <a:bodyPr/>
          <a:lstStyle/>
          <a:p>
            <a:fld id="{8E3AC006-F395-4A6B-8AAE-21F520D5FDD8}" type="datetimeFigureOut">
              <a:rPr lang="en-US" smtClean="0"/>
              <a:t>3/15/2025</a:t>
            </a:fld>
            <a:endParaRPr lang="en-US"/>
          </a:p>
        </p:txBody>
      </p:sp>
      <p:sp>
        <p:nvSpPr>
          <p:cNvPr id="5" name="Footer Placeholder 4">
            <a:extLst>
              <a:ext uri="{FF2B5EF4-FFF2-40B4-BE49-F238E27FC236}">
                <a16:creationId xmlns:a16="http://schemas.microsoft.com/office/drawing/2014/main" id="{0CFF33D6-F1C2-4FA5-84A0-8DEC23071B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736CBC-76B2-4B4C-B3EF-53CC2A010CCD}"/>
              </a:ext>
            </a:extLst>
          </p:cNvPr>
          <p:cNvSpPr>
            <a:spLocks noGrp="1"/>
          </p:cNvSpPr>
          <p:nvPr>
            <p:ph type="sldNum" sz="quarter" idx="12"/>
          </p:nvPr>
        </p:nvSpPr>
        <p:spPr/>
        <p:txBody>
          <a:bodyPr/>
          <a:lstStyle/>
          <a:p>
            <a:fld id="{D714488B-48CE-45C3-BB80-A2C88598A6C4}" type="slidenum">
              <a:rPr lang="en-US" smtClean="0"/>
              <a:t>‹#›</a:t>
            </a:fld>
            <a:endParaRPr lang="en-US"/>
          </a:p>
        </p:txBody>
      </p:sp>
    </p:spTree>
    <p:extLst>
      <p:ext uri="{BB962C8B-B14F-4D97-AF65-F5344CB8AC3E}">
        <p14:creationId xmlns:p14="http://schemas.microsoft.com/office/powerpoint/2010/main" val="813151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48778B-1B9A-4D8C-8700-FEBCB1ED954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16DC762-BCEE-4FBA-8782-E6C1236402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96E023-2A52-4A19-95DF-82B19FF82B25}"/>
              </a:ext>
            </a:extLst>
          </p:cNvPr>
          <p:cNvSpPr>
            <a:spLocks noGrp="1"/>
          </p:cNvSpPr>
          <p:nvPr>
            <p:ph type="dt" sz="half" idx="10"/>
          </p:nvPr>
        </p:nvSpPr>
        <p:spPr/>
        <p:txBody>
          <a:bodyPr/>
          <a:lstStyle/>
          <a:p>
            <a:fld id="{8E3AC006-F395-4A6B-8AAE-21F520D5FDD8}" type="datetimeFigureOut">
              <a:rPr lang="en-US" smtClean="0"/>
              <a:t>3/15/2025</a:t>
            </a:fld>
            <a:endParaRPr lang="en-US"/>
          </a:p>
        </p:txBody>
      </p:sp>
      <p:sp>
        <p:nvSpPr>
          <p:cNvPr id="5" name="Footer Placeholder 4">
            <a:extLst>
              <a:ext uri="{FF2B5EF4-FFF2-40B4-BE49-F238E27FC236}">
                <a16:creationId xmlns:a16="http://schemas.microsoft.com/office/drawing/2014/main" id="{15C44690-3CFB-4B15-A979-5D50864936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6147C32-0D97-4CB1-B934-6238BF1B1CEF}"/>
              </a:ext>
            </a:extLst>
          </p:cNvPr>
          <p:cNvSpPr>
            <a:spLocks noGrp="1"/>
          </p:cNvSpPr>
          <p:nvPr>
            <p:ph type="sldNum" sz="quarter" idx="12"/>
          </p:nvPr>
        </p:nvSpPr>
        <p:spPr/>
        <p:txBody>
          <a:bodyPr/>
          <a:lstStyle/>
          <a:p>
            <a:fld id="{D714488B-48CE-45C3-BB80-A2C88598A6C4}" type="slidenum">
              <a:rPr lang="en-US" smtClean="0"/>
              <a:t>‹#›</a:t>
            </a:fld>
            <a:endParaRPr lang="en-US"/>
          </a:p>
        </p:txBody>
      </p:sp>
    </p:spTree>
    <p:extLst>
      <p:ext uri="{BB962C8B-B14F-4D97-AF65-F5344CB8AC3E}">
        <p14:creationId xmlns:p14="http://schemas.microsoft.com/office/powerpoint/2010/main" val="3993713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C45B7-B0DA-450B-B7B4-ADA4D0E801E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4E7EBBB-4284-422A-A98D-13A4B187A3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533EBA6-4CF6-42D1-A74E-F11E2EC413F2}"/>
              </a:ext>
            </a:extLst>
          </p:cNvPr>
          <p:cNvSpPr>
            <a:spLocks noGrp="1"/>
          </p:cNvSpPr>
          <p:nvPr>
            <p:ph type="dt" sz="half" idx="10"/>
          </p:nvPr>
        </p:nvSpPr>
        <p:spPr/>
        <p:txBody>
          <a:bodyPr/>
          <a:lstStyle/>
          <a:p>
            <a:fld id="{8E3AC006-F395-4A6B-8AAE-21F520D5FDD8}" type="datetimeFigureOut">
              <a:rPr lang="en-US" smtClean="0"/>
              <a:t>3/15/2025</a:t>
            </a:fld>
            <a:endParaRPr lang="en-US"/>
          </a:p>
        </p:txBody>
      </p:sp>
      <p:sp>
        <p:nvSpPr>
          <p:cNvPr id="5" name="Footer Placeholder 4">
            <a:extLst>
              <a:ext uri="{FF2B5EF4-FFF2-40B4-BE49-F238E27FC236}">
                <a16:creationId xmlns:a16="http://schemas.microsoft.com/office/drawing/2014/main" id="{E5B38FF4-25FE-4A42-9B4C-1632ACF91A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C615A5-9BAC-4A6A-ACE0-034D8C277B0A}"/>
              </a:ext>
            </a:extLst>
          </p:cNvPr>
          <p:cNvSpPr>
            <a:spLocks noGrp="1"/>
          </p:cNvSpPr>
          <p:nvPr>
            <p:ph type="sldNum" sz="quarter" idx="12"/>
          </p:nvPr>
        </p:nvSpPr>
        <p:spPr/>
        <p:txBody>
          <a:bodyPr/>
          <a:lstStyle/>
          <a:p>
            <a:fld id="{D714488B-48CE-45C3-BB80-A2C88598A6C4}" type="slidenum">
              <a:rPr lang="en-US" smtClean="0"/>
              <a:t>‹#›</a:t>
            </a:fld>
            <a:endParaRPr lang="en-US"/>
          </a:p>
        </p:txBody>
      </p:sp>
    </p:spTree>
    <p:extLst>
      <p:ext uri="{BB962C8B-B14F-4D97-AF65-F5344CB8AC3E}">
        <p14:creationId xmlns:p14="http://schemas.microsoft.com/office/powerpoint/2010/main" val="227392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C075BB-D744-494F-80DF-CA434F91CE8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824AC0-A19D-4AEE-A67D-5E0E50FB794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8B65177-AF8B-4F63-A719-EE1F10468DD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959FF5E-B3F1-40B7-A516-4D6B67DA74E2}"/>
              </a:ext>
            </a:extLst>
          </p:cNvPr>
          <p:cNvSpPr>
            <a:spLocks noGrp="1"/>
          </p:cNvSpPr>
          <p:nvPr>
            <p:ph type="dt" sz="half" idx="10"/>
          </p:nvPr>
        </p:nvSpPr>
        <p:spPr/>
        <p:txBody>
          <a:bodyPr/>
          <a:lstStyle/>
          <a:p>
            <a:fld id="{8E3AC006-F395-4A6B-8AAE-21F520D5FDD8}" type="datetimeFigureOut">
              <a:rPr lang="en-US" smtClean="0"/>
              <a:t>3/15/2025</a:t>
            </a:fld>
            <a:endParaRPr lang="en-US"/>
          </a:p>
        </p:txBody>
      </p:sp>
      <p:sp>
        <p:nvSpPr>
          <p:cNvPr id="6" name="Footer Placeholder 5">
            <a:extLst>
              <a:ext uri="{FF2B5EF4-FFF2-40B4-BE49-F238E27FC236}">
                <a16:creationId xmlns:a16="http://schemas.microsoft.com/office/drawing/2014/main" id="{F25B1A3F-8781-4517-9B72-A97C6D0789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0B74A2F-F1EB-445A-A46A-6F3C18402DCC}"/>
              </a:ext>
            </a:extLst>
          </p:cNvPr>
          <p:cNvSpPr>
            <a:spLocks noGrp="1"/>
          </p:cNvSpPr>
          <p:nvPr>
            <p:ph type="sldNum" sz="quarter" idx="12"/>
          </p:nvPr>
        </p:nvSpPr>
        <p:spPr/>
        <p:txBody>
          <a:bodyPr/>
          <a:lstStyle/>
          <a:p>
            <a:fld id="{D714488B-48CE-45C3-BB80-A2C88598A6C4}" type="slidenum">
              <a:rPr lang="en-US" smtClean="0"/>
              <a:t>‹#›</a:t>
            </a:fld>
            <a:endParaRPr lang="en-US"/>
          </a:p>
        </p:txBody>
      </p:sp>
    </p:spTree>
    <p:extLst>
      <p:ext uri="{BB962C8B-B14F-4D97-AF65-F5344CB8AC3E}">
        <p14:creationId xmlns:p14="http://schemas.microsoft.com/office/powerpoint/2010/main" val="211692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71905-41B0-4CBE-8E21-6F15196CA9D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3660F2-79A5-4570-BC67-F51F2DDAE1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D399FA-213E-4D2F-B55F-9DC46DACF34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CF3DBAE-A97A-4FC7-9593-B12F59FAAC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78A64CD-F455-4BE5-AB97-2B3B62D21BA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5F342B7-8509-4139-BF3B-3BC41C4A6353}"/>
              </a:ext>
            </a:extLst>
          </p:cNvPr>
          <p:cNvSpPr>
            <a:spLocks noGrp="1"/>
          </p:cNvSpPr>
          <p:nvPr>
            <p:ph type="dt" sz="half" idx="10"/>
          </p:nvPr>
        </p:nvSpPr>
        <p:spPr/>
        <p:txBody>
          <a:bodyPr/>
          <a:lstStyle/>
          <a:p>
            <a:fld id="{8E3AC006-F395-4A6B-8AAE-21F520D5FDD8}" type="datetimeFigureOut">
              <a:rPr lang="en-US" smtClean="0"/>
              <a:t>3/15/2025</a:t>
            </a:fld>
            <a:endParaRPr lang="en-US"/>
          </a:p>
        </p:txBody>
      </p:sp>
      <p:sp>
        <p:nvSpPr>
          <p:cNvPr id="8" name="Footer Placeholder 7">
            <a:extLst>
              <a:ext uri="{FF2B5EF4-FFF2-40B4-BE49-F238E27FC236}">
                <a16:creationId xmlns:a16="http://schemas.microsoft.com/office/drawing/2014/main" id="{62D40D59-ED51-4BFE-9801-924644E70CE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11D0BFB-8C7E-4B77-AC9C-C7157981EC63}"/>
              </a:ext>
            </a:extLst>
          </p:cNvPr>
          <p:cNvSpPr>
            <a:spLocks noGrp="1"/>
          </p:cNvSpPr>
          <p:nvPr>
            <p:ph type="sldNum" sz="quarter" idx="12"/>
          </p:nvPr>
        </p:nvSpPr>
        <p:spPr/>
        <p:txBody>
          <a:bodyPr/>
          <a:lstStyle/>
          <a:p>
            <a:fld id="{D714488B-48CE-45C3-BB80-A2C88598A6C4}" type="slidenum">
              <a:rPr lang="en-US" smtClean="0"/>
              <a:t>‹#›</a:t>
            </a:fld>
            <a:endParaRPr lang="en-US"/>
          </a:p>
        </p:txBody>
      </p:sp>
    </p:spTree>
    <p:extLst>
      <p:ext uri="{BB962C8B-B14F-4D97-AF65-F5344CB8AC3E}">
        <p14:creationId xmlns:p14="http://schemas.microsoft.com/office/powerpoint/2010/main" val="3347449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1F351-BA2E-431B-9520-6D62032A28B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EC662AD-106E-4A23-98D6-184B903D5D01}"/>
              </a:ext>
            </a:extLst>
          </p:cNvPr>
          <p:cNvSpPr>
            <a:spLocks noGrp="1"/>
          </p:cNvSpPr>
          <p:nvPr>
            <p:ph type="dt" sz="half" idx="10"/>
          </p:nvPr>
        </p:nvSpPr>
        <p:spPr/>
        <p:txBody>
          <a:bodyPr/>
          <a:lstStyle/>
          <a:p>
            <a:fld id="{8E3AC006-F395-4A6B-8AAE-21F520D5FDD8}" type="datetimeFigureOut">
              <a:rPr lang="en-US" smtClean="0"/>
              <a:t>3/15/2025</a:t>
            </a:fld>
            <a:endParaRPr lang="en-US"/>
          </a:p>
        </p:txBody>
      </p:sp>
      <p:sp>
        <p:nvSpPr>
          <p:cNvPr id="4" name="Footer Placeholder 3">
            <a:extLst>
              <a:ext uri="{FF2B5EF4-FFF2-40B4-BE49-F238E27FC236}">
                <a16:creationId xmlns:a16="http://schemas.microsoft.com/office/drawing/2014/main" id="{29CDF598-AC9A-4CD5-868C-EE4C164D9F5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B48667E-2EC5-49E1-9684-B6B543BBE322}"/>
              </a:ext>
            </a:extLst>
          </p:cNvPr>
          <p:cNvSpPr>
            <a:spLocks noGrp="1"/>
          </p:cNvSpPr>
          <p:nvPr>
            <p:ph type="sldNum" sz="quarter" idx="12"/>
          </p:nvPr>
        </p:nvSpPr>
        <p:spPr/>
        <p:txBody>
          <a:bodyPr/>
          <a:lstStyle/>
          <a:p>
            <a:fld id="{D714488B-48CE-45C3-BB80-A2C88598A6C4}" type="slidenum">
              <a:rPr lang="en-US" smtClean="0"/>
              <a:t>‹#›</a:t>
            </a:fld>
            <a:endParaRPr lang="en-US"/>
          </a:p>
        </p:txBody>
      </p:sp>
    </p:spTree>
    <p:extLst>
      <p:ext uri="{BB962C8B-B14F-4D97-AF65-F5344CB8AC3E}">
        <p14:creationId xmlns:p14="http://schemas.microsoft.com/office/powerpoint/2010/main" val="4191486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0D86B99-96DD-46BE-A81E-762044C47B4D}"/>
              </a:ext>
            </a:extLst>
          </p:cNvPr>
          <p:cNvSpPr>
            <a:spLocks noGrp="1"/>
          </p:cNvSpPr>
          <p:nvPr>
            <p:ph type="dt" sz="half" idx="10"/>
          </p:nvPr>
        </p:nvSpPr>
        <p:spPr/>
        <p:txBody>
          <a:bodyPr/>
          <a:lstStyle/>
          <a:p>
            <a:fld id="{8E3AC006-F395-4A6B-8AAE-21F520D5FDD8}" type="datetimeFigureOut">
              <a:rPr lang="en-US" smtClean="0"/>
              <a:t>3/15/2025</a:t>
            </a:fld>
            <a:endParaRPr lang="en-US"/>
          </a:p>
        </p:txBody>
      </p:sp>
      <p:sp>
        <p:nvSpPr>
          <p:cNvPr id="3" name="Footer Placeholder 2">
            <a:extLst>
              <a:ext uri="{FF2B5EF4-FFF2-40B4-BE49-F238E27FC236}">
                <a16:creationId xmlns:a16="http://schemas.microsoft.com/office/drawing/2014/main" id="{51B44A4E-1EC8-4A4F-8D3A-3A2E0DE5C1A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515044F-BE85-4712-B5B0-9AA5D3F4F210}"/>
              </a:ext>
            </a:extLst>
          </p:cNvPr>
          <p:cNvSpPr>
            <a:spLocks noGrp="1"/>
          </p:cNvSpPr>
          <p:nvPr>
            <p:ph type="sldNum" sz="quarter" idx="12"/>
          </p:nvPr>
        </p:nvSpPr>
        <p:spPr/>
        <p:txBody>
          <a:bodyPr/>
          <a:lstStyle/>
          <a:p>
            <a:fld id="{D714488B-48CE-45C3-BB80-A2C88598A6C4}" type="slidenum">
              <a:rPr lang="en-US" smtClean="0"/>
              <a:t>‹#›</a:t>
            </a:fld>
            <a:endParaRPr lang="en-US"/>
          </a:p>
        </p:txBody>
      </p:sp>
    </p:spTree>
    <p:extLst>
      <p:ext uri="{BB962C8B-B14F-4D97-AF65-F5344CB8AC3E}">
        <p14:creationId xmlns:p14="http://schemas.microsoft.com/office/powerpoint/2010/main" val="27314563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DFA20-9BFC-4C80-BBB6-4D7EFC3B92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B8B068-478B-46FF-AA33-2644F9F15A8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BCB0586-56CB-4C83-BAC7-8EBEF6D543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AA48BC-68D2-4EF0-8651-51AB3DD25B59}"/>
              </a:ext>
            </a:extLst>
          </p:cNvPr>
          <p:cNvSpPr>
            <a:spLocks noGrp="1"/>
          </p:cNvSpPr>
          <p:nvPr>
            <p:ph type="dt" sz="half" idx="10"/>
          </p:nvPr>
        </p:nvSpPr>
        <p:spPr/>
        <p:txBody>
          <a:bodyPr/>
          <a:lstStyle/>
          <a:p>
            <a:fld id="{8E3AC006-F395-4A6B-8AAE-21F520D5FDD8}" type="datetimeFigureOut">
              <a:rPr lang="en-US" smtClean="0"/>
              <a:t>3/15/2025</a:t>
            </a:fld>
            <a:endParaRPr lang="en-US"/>
          </a:p>
        </p:txBody>
      </p:sp>
      <p:sp>
        <p:nvSpPr>
          <p:cNvPr id="6" name="Footer Placeholder 5">
            <a:extLst>
              <a:ext uri="{FF2B5EF4-FFF2-40B4-BE49-F238E27FC236}">
                <a16:creationId xmlns:a16="http://schemas.microsoft.com/office/drawing/2014/main" id="{5CF9DC01-CE38-4BAA-B23C-91AABB80CC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6F91319-AE6C-47E1-A0BB-9692FEFB67C1}"/>
              </a:ext>
            </a:extLst>
          </p:cNvPr>
          <p:cNvSpPr>
            <a:spLocks noGrp="1"/>
          </p:cNvSpPr>
          <p:nvPr>
            <p:ph type="sldNum" sz="quarter" idx="12"/>
          </p:nvPr>
        </p:nvSpPr>
        <p:spPr/>
        <p:txBody>
          <a:bodyPr/>
          <a:lstStyle/>
          <a:p>
            <a:fld id="{D714488B-48CE-45C3-BB80-A2C88598A6C4}" type="slidenum">
              <a:rPr lang="en-US" smtClean="0"/>
              <a:t>‹#›</a:t>
            </a:fld>
            <a:endParaRPr lang="en-US"/>
          </a:p>
        </p:txBody>
      </p:sp>
    </p:spTree>
    <p:extLst>
      <p:ext uri="{BB962C8B-B14F-4D97-AF65-F5344CB8AC3E}">
        <p14:creationId xmlns:p14="http://schemas.microsoft.com/office/powerpoint/2010/main" val="3203659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11427-8B01-437B-9F06-A754A7ECAB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6CD95E0-0386-4E26-8436-6AB6FCAD29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802A49D-C4AA-4444-92B4-631BAC658C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0CCFBD-912A-462D-A1EA-39A9B36C2F19}"/>
              </a:ext>
            </a:extLst>
          </p:cNvPr>
          <p:cNvSpPr>
            <a:spLocks noGrp="1"/>
          </p:cNvSpPr>
          <p:nvPr>
            <p:ph type="dt" sz="half" idx="10"/>
          </p:nvPr>
        </p:nvSpPr>
        <p:spPr/>
        <p:txBody>
          <a:bodyPr/>
          <a:lstStyle/>
          <a:p>
            <a:fld id="{8E3AC006-F395-4A6B-8AAE-21F520D5FDD8}" type="datetimeFigureOut">
              <a:rPr lang="en-US" smtClean="0"/>
              <a:t>3/15/2025</a:t>
            </a:fld>
            <a:endParaRPr lang="en-US"/>
          </a:p>
        </p:txBody>
      </p:sp>
      <p:sp>
        <p:nvSpPr>
          <p:cNvPr id="6" name="Footer Placeholder 5">
            <a:extLst>
              <a:ext uri="{FF2B5EF4-FFF2-40B4-BE49-F238E27FC236}">
                <a16:creationId xmlns:a16="http://schemas.microsoft.com/office/drawing/2014/main" id="{D5569179-4681-4002-A9C2-2CBE56B1B19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535488-E081-4CD6-8B9E-BBA7F1969E64}"/>
              </a:ext>
            </a:extLst>
          </p:cNvPr>
          <p:cNvSpPr>
            <a:spLocks noGrp="1"/>
          </p:cNvSpPr>
          <p:nvPr>
            <p:ph type="sldNum" sz="quarter" idx="12"/>
          </p:nvPr>
        </p:nvSpPr>
        <p:spPr/>
        <p:txBody>
          <a:bodyPr/>
          <a:lstStyle/>
          <a:p>
            <a:fld id="{D714488B-48CE-45C3-BB80-A2C88598A6C4}" type="slidenum">
              <a:rPr lang="en-US" smtClean="0"/>
              <a:t>‹#›</a:t>
            </a:fld>
            <a:endParaRPr lang="en-US"/>
          </a:p>
        </p:txBody>
      </p:sp>
    </p:spTree>
    <p:extLst>
      <p:ext uri="{BB962C8B-B14F-4D97-AF65-F5344CB8AC3E}">
        <p14:creationId xmlns:p14="http://schemas.microsoft.com/office/powerpoint/2010/main" val="39097333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A4404-D015-4589-B30C-B21B2FE7B9B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8A44CC8-2756-4148-A5CC-837898FFFD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1C9A53F-EA63-480F-8590-9C7F3D3EC5A5}"/>
              </a:ext>
            </a:extLst>
          </p:cNvPr>
          <p:cNvSpPr>
            <a:spLocks noGrp="1"/>
          </p:cNvSpPr>
          <p:nvPr>
            <p:ph type="dt" sz="half" idx="10"/>
          </p:nvPr>
        </p:nvSpPr>
        <p:spPr/>
        <p:txBody>
          <a:bodyPr/>
          <a:lstStyle/>
          <a:p>
            <a:fld id="{8E3AC006-F395-4A6B-8AAE-21F520D5FDD8}" type="datetimeFigureOut">
              <a:rPr lang="en-US" smtClean="0"/>
              <a:t>3/15/2025</a:t>
            </a:fld>
            <a:endParaRPr lang="en-US"/>
          </a:p>
        </p:txBody>
      </p:sp>
      <p:sp>
        <p:nvSpPr>
          <p:cNvPr id="5" name="Footer Placeholder 4">
            <a:extLst>
              <a:ext uri="{FF2B5EF4-FFF2-40B4-BE49-F238E27FC236}">
                <a16:creationId xmlns:a16="http://schemas.microsoft.com/office/drawing/2014/main" id="{1A5BC570-30DB-4752-A54C-6AFDCC264C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303BA1-7370-4F65-987E-FD4C30C7D2B3}"/>
              </a:ext>
            </a:extLst>
          </p:cNvPr>
          <p:cNvSpPr>
            <a:spLocks noGrp="1"/>
          </p:cNvSpPr>
          <p:nvPr>
            <p:ph type="sldNum" sz="quarter" idx="12"/>
          </p:nvPr>
        </p:nvSpPr>
        <p:spPr/>
        <p:txBody>
          <a:bodyPr/>
          <a:lstStyle/>
          <a:p>
            <a:fld id="{D714488B-48CE-45C3-BB80-A2C88598A6C4}" type="slidenum">
              <a:rPr lang="en-US" smtClean="0"/>
              <a:t>‹#›</a:t>
            </a:fld>
            <a:endParaRPr lang="en-US"/>
          </a:p>
        </p:txBody>
      </p:sp>
    </p:spTree>
    <p:extLst>
      <p:ext uri="{BB962C8B-B14F-4D97-AF65-F5344CB8AC3E}">
        <p14:creationId xmlns:p14="http://schemas.microsoft.com/office/powerpoint/2010/main" val="3902510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7B3E989-14CC-4489-A739-6BEB7922E38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D6B429F-8BCB-4A15-B932-CD923D3F4E2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BD923E-18A3-4C8F-B58D-2C9F38BA92CD}"/>
              </a:ext>
            </a:extLst>
          </p:cNvPr>
          <p:cNvSpPr>
            <a:spLocks noGrp="1"/>
          </p:cNvSpPr>
          <p:nvPr>
            <p:ph type="dt" sz="half" idx="10"/>
          </p:nvPr>
        </p:nvSpPr>
        <p:spPr/>
        <p:txBody>
          <a:bodyPr/>
          <a:lstStyle/>
          <a:p>
            <a:fld id="{8E3AC006-F395-4A6B-8AAE-21F520D5FDD8}" type="datetimeFigureOut">
              <a:rPr lang="en-US" smtClean="0"/>
              <a:t>3/15/2025</a:t>
            </a:fld>
            <a:endParaRPr lang="en-US"/>
          </a:p>
        </p:txBody>
      </p:sp>
      <p:sp>
        <p:nvSpPr>
          <p:cNvPr id="5" name="Footer Placeholder 4">
            <a:extLst>
              <a:ext uri="{FF2B5EF4-FFF2-40B4-BE49-F238E27FC236}">
                <a16:creationId xmlns:a16="http://schemas.microsoft.com/office/drawing/2014/main" id="{46C090AD-0E3D-42DC-AC26-39CE390582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5A6EE1-F8A5-4D2D-9E25-FAAD28ABFE6E}"/>
              </a:ext>
            </a:extLst>
          </p:cNvPr>
          <p:cNvSpPr>
            <a:spLocks noGrp="1"/>
          </p:cNvSpPr>
          <p:nvPr>
            <p:ph type="sldNum" sz="quarter" idx="12"/>
          </p:nvPr>
        </p:nvSpPr>
        <p:spPr/>
        <p:txBody>
          <a:bodyPr/>
          <a:lstStyle/>
          <a:p>
            <a:fld id="{D714488B-48CE-45C3-BB80-A2C88598A6C4}" type="slidenum">
              <a:rPr lang="en-US" smtClean="0"/>
              <a:t>‹#›</a:t>
            </a:fld>
            <a:endParaRPr lang="en-US"/>
          </a:p>
        </p:txBody>
      </p:sp>
    </p:spTree>
    <p:extLst>
      <p:ext uri="{BB962C8B-B14F-4D97-AF65-F5344CB8AC3E}">
        <p14:creationId xmlns:p14="http://schemas.microsoft.com/office/powerpoint/2010/main" val="1213217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489186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31E79-CAAA-40A7-B5A5-46B4FE515542}"/>
              </a:ext>
            </a:extLst>
          </p:cNvPr>
          <p:cNvSpPr>
            <a:spLocks noGrp="1"/>
          </p:cNvSpPr>
          <p:nvPr>
            <p:ph type="title"/>
          </p:nvPr>
        </p:nvSpPr>
        <p:spPr>
          <a:xfrm>
            <a:off x="541867" y="228600"/>
            <a:ext cx="11243733" cy="1143000"/>
          </a:xfrm>
        </p:spPr>
        <p:txBody>
          <a:bodyPr/>
          <a:lstStyle/>
          <a:p>
            <a:r>
              <a:rPr lang="en-US"/>
              <a:t>Click to edit Master title style</a:t>
            </a:r>
          </a:p>
        </p:txBody>
      </p:sp>
      <p:sp>
        <p:nvSpPr>
          <p:cNvPr id="3" name="Text Placeholder 2">
            <a:extLst>
              <a:ext uri="{FF2B5EF4-FFF2-40B4-BE49-F238E27FC236}">
                <a16:creationId xmlns:a16="http://schemas.microsoft.com/office/drawing/2014/main" id="{4815076B-E468-43C7-822C-DD2348CA6059}"/>
              </a:ext>
            </a:extLst>
          </p:cNvPr>
          <p:cNvSpPr>
            <a:spLocks noGrp="1"/>
          </p:cNvSpPr>
          <p:nvPr>
            <p:ph type="body" sz="half" idx="1"/>
          </p:nvPr>
        </p:nvSpPr>
        <p:spPr>
          <a:xfrm>
            <a:off x="609600" y="1524000"/>
            <a:ext cx="5486400" cy="4876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Online Image Placeholder 3">
            <a:extLst>
              <a:ext uri="{FF2B5EF4-FFF2-40B4-BE49-F238E27FC236}">
                <a16:creationId xmlns:a16="http://schemas.microsoft.com/office/drawing/2014/main" id="{59FBB696-AB60-4721-B145-319C81EFA71F}"/>
              </a:ext>
            </a:extLst>
          </p:cNvPr>
          <p:cNvSpPr>
            <a:spLocks noGrp="1"/>
          </p:cNvSpPr>
          <p:nvPr>
            <p:ph type="clipArt" sz="half" idx="2"/>
          </p:nvPr>
        </p:nvSpPr>
        <p:spPr>
          <a:xfrm>
            <a:off x="6299200" y="1524000"/>
            <a:ext cx="5486400" cy="4876800"/>
          </a:xfrm>
        </p:spPr>
        <p:txBody>
          <a:bodyPr/>
          <a:lstStyle/>
          <a:p>
            <a:endParaRPr lang="en-US"/>
          </a:p>
        </p:txBody>
      </p:sp>
      <p:sp>
        <p:nvSpPr>
          <p:cNvPr id="5" name="Date Placeholder 4">
            <a:extLst>
              <a:ext uri="{FF2B5EF4-FFF2-40B4-BE49-F238E27FC236}">
                <a16:creationId xmlns:a16="http://schemas.microsoft.com/office/drawing/2014/main" id="{D6715479-FF06-4049-9D51-3B84D58FEF15}"/>
              </a:ext>
            </a:extLst>
          </p:cNvPr>
          <p:cNvSpPr>
            <a:spLocks noGrp="1"/>
          </p:cNvSpPr>
          <p:nvPr>
            <p:ph type="dt" sz="half" idx="10"/>
          </p:nvPr>
        </p:nvSpPr>
        <p:spPr>
          <a:xfrm>
            <a:off x="575733" y="6229350"/>
            <a:ext cx="2540000" cy="457200"/>
          </a:xfrm>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236988A7-5EDA-4B90-B730-0A018CD065E6}"/>
              </a:ext>
            </a:extLst>
          </p:cNvPr>
          <p:cNvSpPr>
            <a:spLocks noGrp="1"/>
          </p:cNvSpPr>
          <p:nvPr>
            <p:ph type="ftr" sz="quarter" idx="11"/>
          </p:nvPr>
        </p:nvSpPr>
        <p:spPr>
          <a:xfrm>
            <a:off x="4165600" y="6229350"/>
            <a:ext cx="3860800" cy="457200"/>
          </a:xfrm>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458F2BED-BCB1-4191-A39D-F49F9F72403F}"/>
              </a:ext>
            </a:extLst>
          </p:cNvPr>
          <p:cNvSpPr>
            <a:spLocks noGrp="1"/>
          </p:cNvSpPr>
          <p:nvPr>
            <p:ph type="sldNum" sz="quarter" idx="12"/>
          </p:nvPr>
        </p:nvSpPr>
        <p:spPr>
          <a:xfrm>
            <a:off x="8974667" y="6229350"/>
            <a:ext cx="2810933" cy="628650"/>
          </a:xfrm>
        </p:spPr>
        <p:txBody>
          <a:bodyPr/>
          <a:lstStyle>
            <a:lvl1pPr>
              <a:defRPr/>
            </a:lvl1pPr>
          </a:lstStyle>
          <a:p>
            <a:fld id="{829A3346-7953-44F9-86D8-492B9AB82F9D}" type="slidenum">
              <a:rPr lang="en-US" altLang="en-US"/>
              <a:pPr/>
              <a:t>‹#›</a:t>
            </a:fld>
            <a:endParaRPr lang="en-US" altLang="en-US"/>
          </a:p>
        </p:txBody>
      </p:sp>
    </p:spTree>
    <p:extLst>
      <p:ext uri="{BB962C8B-B14F-4D97-AF65-F5344CB8AC3E}">
        <p14:creationId xmlns:p14="http://schemas.microsoft.com/office/powerpoint/2010/main" val="5548451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906C20-0F96-4E6B-BB41-281A458EC06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039C215-685D-4592-9EBA-AED6FE894D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056EEE-EFBE-4452-A0F8-E0DBCDAAA4B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3AC006-F395-4A6B-8AAE-21F520D5FDD8}" type="datetimeFigureOut">
              <a:rPr lang="en-US" smtClean="0"/>
              <a:t>3/15/2025</a:t>
            </a:fld>
            <a:endParaRPr lang="en-US"/>
          </a:p>
        </p:txBody>
      </p:sp>
      <p:sp>
        <p:nvSpPr>
          <p:cNvPr id="5" name="Footer Placeholder 4">
            <a:extLst>
              <a:ext uri="{FF2B5EF4-FFF2-40B4-BE49-F238E27FC236}">
                <a16:creationId xmlns:a16="http://schemas.microsoft.com/office/drawing/2014/main" id="{CB260669-EAFD-4E82-9648-ACEF12685B0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300B96F-E655-48DF-BCEB-674C427AD1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14488B-48CE-45C3-BB80-A2C88598A6C4}" type="slidenum">
              <a:rPr lang="en-US" smtClean="0"/>
              <a:t>‹#›</a:t>
            </a:fld>
            <a:endParaRPr lang="en-US"/>
          </a:p>
        </p:txBody>
      </p:sp>
    </p:spTree>
    <p:extLst>
      <p:ext uri="{BB962C8B-B14F-4D97-AF65-F5344CB8AC3E}">
        <p14:creationId xmlns:p14="http://schemas.microsoft.com/office/powerpoint/2010/main" val="9598112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jpeg"/><Relationship Id="rId1" Type="http://schemas.openxmlformats.org/officeDocument/2006/relationships/slideLayout" Target="../slideLayouts/slideLayout12.xml"/><Relationship Id="rId4" Type="http://schemas.openxmlformats.org/officeDocument/2006/relationships/image" Target="../media/image2.wmf"/></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hyperlink" Target="https://www.youtube.com/watch?v=r4HQ8Bp-pfw" TargetMode="External"/><Relationship Id="rId2" Type="http://schemas.openxmlformats.org/officeDocument/2006/relationships/hyperlink" Target="https://www.youtube.com/watch?v=6-JjHa-qLPk&amp;t=155s" TargetMode="Externa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hyperlink" Target="https://www.youtube.com/watch?v=AQDCe585Lnc" TargetMode="Externa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hyperlink" Target="https://www.youtube.com/watch?v=Zbqo7MGVElw&amp;t=9s" TargetMode="Externa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www.youtube.com/watch?v=sMOZf4GN3oc"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oleObject" Target="../embeddings/oleObject3.bin"/><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oleObject" Target="../embeddings/oleObject4.bin"/><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hyperlink" Target="https://www.youtube.com/watch?v=FlIG3TvQCBQ"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5" name="Rectangle 4"/>
          <p:cNvSpPr/>
          <p:nvPr/>
        </p:nvSpPr>
        <p:spPr>
          <a:xfrm>
            <a:off x="7464614" y="1783959"/>
            <a:ext cx="4087306" cy="2889114"/>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3800" b="1" dirty="0">
                <a:latin typeface="+mj-lt"/>
                <a:ea typeface="+mj-ea"/>
                <a:cs typeface="+mj-cs"/>
              </a:rPr>
              <a:t>Introduction to Cryptography</a:t>
            </a:r>
            <a:br>
              <a:rPr lang="en-US" sz="3800" dirty="0">
                <a:latin typeface="+mj-lt"/>
                <a:ea typeface="+mj-ea"/>
                <a:cs typeface="+mj-cs"/>
              </a:rPr>
            </a:br>
            <a:endParaRPr lang="en-US" sz="3800" b="1" dirty="0">
              <a:latin typeface="+mj-lt"/>
              <a:ea typeface="+mj-ea"/>
              <a:cs typeface="+mj-cs"/>
            </a:endParaRPr>
          </a:p>
          <a:p>
            <a:pPr>
              <a:lnSpc>
                <a:spcPct val="90000"/>
              </a:lnSpc>
              <a:spcBef>
                <a:spcPct val="0"/>
              </a:spcBef>
              <a:spcAft>
                <a:spcPts val="600"/>
              </a:spcAft>
            </a:pPr>
            <a:br>
              <a:rPr lang="en-US" sz="3800" dirty="0">
                <a:latin typeface="+mj-lt"/>
                <a:ea typeface="+mj-ea"/>
                <a:cs typeface="+mj-cs"/>
              </a:rPr>
            </a:br>
            <a:endParaRPr lang="en-US" sz="3800" b="1" dirty="0">
              <a:latin typeface="+mj-lt"/>
              <a:ea typeface="+mj-ea"/>
              <a:cs typeface="+mj-cs"/>
            </a:endParaRPr>
          </a:p>
        </p:txBody>
      </p:sp>
      <p:sp>
        <p:nvSpPr>
          <p:cNvPr id="24" name="Freeform: Shape 21">
            <a:extLst>
              <a:ext uri="{FF2B5EF4-FFF2-40B4-BE49-F238E27FC236}">
                <a16:creationId xmlns:a16="http://schemas.microsoft.com/office/drawing/2014/main" id="{E49CC64F-7275-4E33-961B-0C5CDC4398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1" y="0"/>
            <a:ext cx="7188051" cy="6858000"/>
          </a:xfrm>
          <a:custGeom>
            <a:avLst/>
            <a:gdLst>
              <a:gd name="connsiteX0" fmla="*/ 7188051 w 7188051"/>
              <a:gd name="connsiteY0" fmla="*/ 6858000 h 6858000"/>
              <a:gd name="connsiteX1" fmla="*/ 108694 w 7188051"/>
              <a:gd name="connsiteY1" fmla="*/ 6858000 h 6858000"/>
              <a:gd name="connsiteX2" fmla="*/ 79127 w 7188051"/>
              <a:gd name="connsiteY2" fmla="*/ 6681235 h 6858000"/>
              <a:gd name="connsiteX3" fmla="*/ 0 w 7188051"/>
              <a:gd name="connsiteY3" fmla="*/ 5565888 h 6858000"/>
              <a:gd name="connsiteX4" fmla="*/ 2190696 w 7188051"/>
              <a:gd name="connsiteY4" fmla="*/ 145339 h 6858000"/>
              <a:gd name="connsiteX5" fmla="*/ 2339431 w 7188051"/>
              <a:gd name="connsiteY5" fmla="*/ 0 h 6858000"/>
              <a:gd name="connsiteX6" fmla="*/ 7188051 w 7188051"/>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188051" h="6858000">
                <a:moveTo>
                  <a:pt x="7188051" y="6858000"/>
                </a:moveTo>
                <a:lnTo>
                  <a:pt x="108694" y="6858000"/>
                </a:lnTo>
                <a:lnTo>
                  <a:pt x="79127" y="6681235"/>
                </a:lnTo>
                <a:cubicBezTo>
                  <a:pt x="26981" y="6316967"/>
                  <a:pt x="0" y="5944579"/>
                  <a:pt x="0" y="5565888"/>
                </a:cubicBezTo>
                <a:cubicBezTo>
                  <a:pt x="0" y="3459953"/>
                  <a:pt x="834428" y="1548908"/>
                  <a:pt x="2190696" y="145339"/>
                </a:cubicBezTo>
                <a:lnTo>
                  <a:pt x="2339431" y="0"/>
                </a:lnTo>
                <a:lnTo>
                  <a:pt x="7188051" y="0"/>
                </a:lnTo>
                <a:close/>
              </a:path>
            </a:pathLst>
          </a:custGeom>
          <a:solidFill>
            <a:schemeClr val="tx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7" name="Picture 6">
            <a:extLst>
              <a:ext uri="{FF2B5EF4-FFF2-40B4-BE49-F238E27FC236}">
                <a16:creationId xmlns:a16="http://schemas.microsoft.com/office/drawing/2014/main" id="{C0B87931-5844-4715-B26B-2F502AFBB84A}"/>
              </a:ext>
            </a:extLst>
          </p:cNvPr>
          <p:cNvPicPr>
            <a:picLocks noChangeAspect="1"/>
          </p:cNvPicPr>
          <p:nvPr/>
        </p:nvPicPr>
        <p:blipFill rotWithShape="1">
          <a:blip r:embed="rId2"/>
          <a:srcRect t="1295" r="2" b="20403"/>
          <a:stretch/>
        </p:blipFill>
        <p:spPr>
          <a:xfrm>
            <a:off x="1" y="10"/>
            <a:ext cx="7028495" cy="6857990"/>
          </a:xfrm>
          <a:custGeom>
            <a:avLst/>
            <a:gdLst/>
            <a:ahLst/>
            <a:cxnLst/>
            <a:rect l="l" t="t" r="r" b="b"/>
            <a:pathLst>
              <a:path w="7028495" h="6858000">
                <a:moveTo>
                  <a:pt x="0" y="0"/>
                </a:moveTo>
                <a:lnTo>
                  <a:pt x="6915668" y="0"/>
                </a:lnTo>
                <a:lnTo>
                  <a:pt x="6952411" y="219663"/>
                </a:lnTo>
                <a:cubicBezTo>
                  <a:pt x="7002551" y="569921"/>
                  <a:pt x="7028495" y="927986"/>
                  <a:pt x="7028495" y="1292112"/>
                </a:cubicBezTo>
                <a:cubicBezTo>
                  <a:pt x="7028495" y="3343346"/>
                  <a:pt x="6205186" y="5202289"/>
                  <a:pt x="4870994" y="6556512"/>
                </a:cubicBezTo>
                <a:lnTo>
                  <a:pt x="4556185" y="6858000"/>
                </a:lnTo>
                <a:lnTo>
                  <a:pt x="0" y="6858000"/>
                </a:lnTo>
                <a:close/>
              </a:path>
            </a:pathLst>
          </a:custGeom>
        </p:spPr>
      </p:pic>
      <p:graphicFrame>
        <p:nvGraphicFramePr>
          <p:cNvPr id="34" name="Object 5">
            <a:extLst>
              <a:ext uri="{FF2B5EF4-FFF2-40B4-BE49-F238E27FC236}">
                <a16:creationId xmlns:a16="http://schemas.microsoft.com/office/drawing/2014/main" id="{0E0BF09A-95F8-4125-8CB9-A7B529AEFF4E}"/>
              </a:ext>
            </a:extLst>
          </p:cNvPr>
          <p:cNvGraphicFramePr>
            <a:graphicFrameLocks noChangeAspect="1"/>
          </p:cNvGraphicFramePr>
          <p:nvPr>
            <p:extLst>
              <p:ext uri="{D42A27DB-BD31-4B8C-83A1-F6EECF244321}">
                <p14:modId xmlns:p14="http://schemas.microsoft.com/office/powerpoint/2010/main" val="2718751205"/>
              </p:ext>
            </p:extLst>
          </p:nvPr>
        </p:nvGraphicFramePr>
        <p:xfrm>
          <a:off x="8042413" y="3855209"/>
          <a:ext cx="3276600" cy="1830388"/>
        </p:xfrm>
        <a:graphic>
          <a:graphicData uri="http://schemas.openxmlformats.org/presentationml/2006/ole">
            <mc:AlternateContent xmlns:mc="http://schemas.openxmlformats.org/markup-compatibility/2006">
              <mc:Choice xmlns:v="urn:schemas-microsoft-com:vml" Requires="v">
                <p:oleObj name="Clip" r:id="rId3" imgW="5714640" imgH="3192120" progId="MS_ClipArt_Gallery.2">
                  <p:embed/>
                </p:oleObj>
              </mc:Choice>
              <mc:Fallback>
                <p:oleObj name="Clip" r:id="rId3" imgW="5714640" imgH="3192120" progId="MS_ClipArt_Gallery.2">
                  <p:embed/>
                  <p:pic>
                    <p:nvPicPr>
                      <p:cNvPr id="34" name="Object 5">
                        <a:extLst>
                          <a:ext uri="{FF2B5EF4-FFF2-40B4-BE49-F238E27FC236}">
                            <a16:creationId xmlns:a16="http://schemas.microsoft.com/office/drawing/2014/main" id="{0E0BF09A-95F8-4125-8CB9-A7B529AEFF4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42413" y="3855209"/>
                        <a:ext cx="3276600" cy="18303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alphaModFix amt="42000"/>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a:fillRect/>
          </a:stretch>
        </p:blipFill>
        <p:spPr>
          <a:xfrm>
            <a:off x="5105304" y="3488877"/>
            <a:ext cx="3183061" cy="2801093"/>
          </a:xfrm>
          <a:prstGeom prst="rect">
            <a:avLst/>
          </a:prstGeom>
        </p:spPr>
      </p:pic>
      <p:sp>
        <p:nvSpPr>
          <p:cNvPr id="4" name="TextBox 4"/>
          <p:cNvSpPr txBox="1"/>
          <p:nvPr/>
        </p:nvSpPr>
        <p:spPr>
          <a:xfrm>
            <a:off x="460016" y="1600139"/>
            <a:ext cx="9293584" cy="4624856"/>
          </a:xfrm>
          <a:prstGeom prst="rect">
            <a:avLst/>
          </a:prstGeom>
        </p:spPr>
        <p:txBody>
          <a:bodyPr wrap="square" lIns="0" tIns="0" rIns="0" bIns="0" rtlCol="0" anchor="t">
            <a:spAutoFit/>
          </a:bodyPr>
          <a:lstStyle/>
          <a:p>
            <a:pPr>
              <a:lnSpc>
                <a:spcPts val="2848"/>
              </a:lnSpc>
            </a:pPr>
            <a:endParaRPr sz="1200" dirty="0"/>
          </a:p>
          <a:p>
            <a:pPr marL="345475" lvl="1" indent="-172738">
              <a:lnSpc>
                <a:spcPts val="2848"/>
              </a:lnSpc>
              <a:buFont typeface="Arial"/>
              <a:buChar char="•"/>
            </a:pPr>
            <a:r>
              <a:rPr lang="en-US" sz="1600" dirty="0">
                <a:solidFill>
                  <a:srgbClr val="000000"/>
                </a:solidFill>
                <a:latin typeface="Droid Serif Bold"/>
              </a:rPr>
              <a:t>PhD (MMU Malaysia), MS (NED UET), Executive Education (Stanford), BS (CYS)</a:t>
            </a:r>
          </a:p>
          <a:p>
            <a:pPr marL="345475" lvl="1" indent="-172738">
              <a:lnSpc>
                <a:spcPts val="2848"/>
              </a:lnSpc>
              <a:buFont typeface="Arial"/>
              <a:buChar char="•"/>
            </a:pPr>
            <a:r>
              <a:rPr lang="en-US" sz="1600" dirty="0" err="1">
                <a:solidFill>
                  <a:srgbClr val="000000"/>
                </a:solidFill>
                <a:latin typeface="Droid Serif Bold"/>
              </a:rPr>
              <a:t>xCyber</a:t>
            </a:r>
            <a:r>
              <a:rPr lang="en-US" sz="1600" dirty="0">
                <a:solidFill>
                  <a:srgbClr val="000000"/>
                </a:solidFill>
                <a:latin typeface="Droid Serif Bold"/>
              </a:rPr>
              <a:t> Security Consultant at </a:t>
            </a:r>
            <a:r>
              <a:rPr lang="en-US" sz="1600" dirty="0" err="1">
                <a:solidFill>
                  <a:srgbClr val="000000"/>
                </a:solidFill>
                <a:latin typeface="Droid Serif Bold"/>
              </a:rPr>
              <a:t>GreensFin</a:t>
            </a:r>
            <a:r>
              <a:rPr lang="en-US" sz="1600" dirty="0">
                <a:solidFill>
                  <a:srgbClr val="000000"/>
                </a:solidFill>
                <a:latin typeface="Droid Serif Bold"/>
              </a:rPr>
              <a:t> (Meezan Bank’s FinTech)</a:t>
            </a:r>
          </a:p>
          <a:p>
            <a:pPr marL="345475" lvl="1" indent="-172738">
              <a:lnSpc>
                <a:spcPts val="2848"/>
              </a:lnSpc>
              <a:buFont typeface="Arial"/>
              <a:buChar char="•"/>
            </a:pPr>
            <a:r>
              <a:rPr lang="en-US" sz="1600" dirty="0">
                <a:solidFill>
                  <a:srgbClr val="000000"/>
                </a:solidFill>
                <a:latin typeface="Droid Serif Bold"/>
              </a:rPr>
              <a:t>Lecturer (CYS) &amp; FYP Head at Mohammad Ali Jinnah University</a:t>
            </a:r>
          </a:p>
          <a:p>
            <a:pPr marL="345475" lvl="1" indent="-172738">
              <a:lnSpc>
                <a:spcPts val="2848"/>
              </a:lnSpc>
              <a:buFont typeface="Arial"/>
              <a:buChar char="•"/>
            </a:pPr>
            <a:r>
              <a:rPr lang="en-US" sz="1600" dirty="0">
                <a:solidFill>
                  <a:srgbClr val="000000"/>
                </a:solidFill>
                <a:latin typeface="Droid Serif Bold"/>
              </a:rPr>
              <a:t>InfoSec Product Builder, NANOTECHX (Microsoft Imagine Cup Winner)</a:t>
            </a:r>
          </a:p>
          <a:p>
            <a:pPr marL="345475" lvl="1" indent="-172738">
              <a:lnSpc>
                <a:spcPts val="2848"/>
              </a:lnSpc>
              <a:buFont typeface="Arial"/>
              <a:buChar char="•"/>
            </a:pPr>
            <a:r>
              <a:rPr lang="en-US" sz="1600" dirty="0">
                <a:solidFill>
                  <a:srgbClr val="000000"/>
                </a:solidFill>
                <a:latin typeface="Droid Serif Bold"/>
              </a:rPr>
              <a:t>Secretary, IEEE Computer Society, Karachi Chapter</a:t>
            </a:r>
          </a:p>
          <a:p>
            <a:pPr marL="345475" lvl="1" indent="-172738">
              <a:lnSpc>
                <a:spcPts val="2848"/>
              </a:lnSpc>
              <a:buFont typeface="Arial"/>
              <a:buChar char="•"/>
            </a:pPr>
            <a:r>
              <a:rPr lang="en-US" sz="1600" dirty="0">
                <a:solidFill>
                  <a:srgbClr val="000000"/>
                </a:solidFill>
                <a:latin typeface="Droid Serif Bold"/>
              </a:rPr>
              <a:t>Community Manager, Cisco Community Pakistan</a:t>
            </a:r>
          </a:p>
          <a:p>
            <a:pPr marL="345475" lvl="1" indent="-172738">
              <a:lnSpc>
                <a:spcPts val="2848"/>
              </a:lnSpc>
              <a:buFont typeface="Arial"/>
              <a:buChar char="•"/>
            </a:pPr>
            <a:r>
              <a:rPr lang="en-US" sz="1600" dirty="0">
                <a:solidFill>
                  <a:srgbClr val="000000"/>
                </a:solidFill>
                <a:latin typeface="Droid Serif Bold"/>
              </a:rPr>
              <a:t>Cisco &amp; Microsoft Certified Official Trainer</a:t>
            </a:r>
          </a:p>
          <a:p>
            <a:pPr marL="345475" lvl="1" indent="-172738">
              <a:lnSpc>
                <a:spcPts val="2848"/>
              </a:lnSpc>
              <a:buFont typeface="Arial"/>
              <a:buChar char="•"/>
            </a:pPr>
            <a:r>
              <a:rPr lang="en-US" sz="1600" dirty="0">
                <a:solidFill>
                  <a:srgbClr val="000000"/>
                </a:solidFill>
                <a:latin typeface="Droid Serif Bold"/>
              </a:rPr>
              <a:t>OSCP Certified</a:t>
            </a:r>
          </a:p>
          <a:p>
            <a:pPr marL="345475" lvl="1" indent="-172738">
              <a:lnSpc>
                <a:spcPts val="2848"/>
              </a:lnSpc>
              <a:buFont typeface="Arial"/>
              <a:buChar char="•"/>
            </a:pPr>
            <a:r>
              <a:rPr lang="en-US" sz="1600" dirty="0">
                <a:solidFill>
                  <a:srgbClr val="000000"/>
                </a:solidFill>
                <a:latin typeface="Droid Serif Bold"/>
              </a:rPr>
              <a:t>5x Microsoft Certified and MVP</a:t>
            </a:r>
          </a:p>
          <a:p>
            <a:pPr marL="345475" lvl="1" indent="-172738">
              <a:lnSpc>
                <a:spcPts val="2848"/>
              </a:lnSpc>
              <a:buFont typeface="Arial"/>
              <a:buChar char="•"/>
            </a:pPr>
            <a:r>
              <a:rPr lang="en-US" sz="1600" dirty="0">
                <a:solidFill>
                  <a:srgbClr val="000000"/>
                </a:solidFill>
                <a:latin typeface="Droid Serif Bold"/>
              </a:rPr>
              <a:t>2x Cisco Certified</a:t>
            </a:r>
          </a:p>
          <a:p>
            <a:pPr marL="345475" lvl="1" indent="-172738">
              <a:lnSpc>
                <a:spcPts val="2848"/>
              </a:lnSpc>
              <a:buFont typeface="Arial"/>
              <a:buChar char="•"/>
            </a:pPr>
            <a:r>
              <a:rPr lang="en-US" sz="1600" dirty="0">
                <a:solidFill>
                  <a:srgbClr val="000000"/>
                </a:solidFill>
                <a:latin typeface="Droid Serif Bold"/>
              </a:rPr>
              <a:t>2x IBM Certified </a:t>
            </a:r>
          </a:p>
          <a:p>
            <a:pPr marL="345475" lvl="1" indent="-172738">
              <a:lnSpc>
                <a:spcPts val="2848"/>
              </a:lnSpc>
              <a:buFont typeface="Arial"/>
              <a:buChar char="•"/>
            </a:pPr>
            <a:r>
              <a:rPr lang="en-US" sz="1600" dirty="0">
                <a:solidFill>
                  <a:srgbClr val="000000"/>
                </a:solidFill>
                <a:latin typeface="Droid Serif Bold"/>
              </a:rPr>
              <a:t>2x Aviatrix Certified (Multi-cloud)</a:t>
            </a:r>
          </a:p>
        </p:txBody>
      </p:sp>
      <p:pic>
        <p:nvPicPr>
          <p:cNvPr id="5" name="Picture 5"/>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a:fillRect/>
          </a:stretch>
        </p:blipFill>
        <p:spPr>
          <a:xfrm>
            <a:off x="4719831" y="6300214"/>
            <a:ext cx="358289" cy="364586"/>
          </a:xfrm>
          <a:prstGeom prst="rect">
            <a:avLst/>
          </a:prstGeom>
        </p:spPr>
      </p:pic>
      <p:pic>
        <p:nvPicPr>
          <p:cNvPr id="6" name="Picture 6"/>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a:stretch>
            <a:fillRect/>
          </a:stretch>
        </p:blipFill>
        <p:spPr>
          <a:xfrm>
            <a:off x="8167992" y="6337941"/>
            <a:ext cx="355591" cy="355591"/>
          </a:xfrm>
          <a:prstGeom prst="rect">
            <a:avLst/>
          </a:prstGeom>
        </p:spPr>
      </p:pic>
      <p:pic>
        <p:nvPicPr>
          <p:cNvPr id="7" name="Picture 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rcRect/>
          <a:stretch>
            <a:fillRect/>
          </a:stretch>
        </p:blipFill>
        <p:spPr>
          <a:xfrm>
            <a:off x="560825" y="6337941"/>
            <a:ext cx="352259" cy="352259"/>
          </a:xfrm>
          <a:prstGeom prst="rect">
            <a:avLst/>
          </a:prstGeom>
        </p:spPr>
      </p:pic>
      <p:sp>
        <p:nvSpPr>
          <p:cNvPr id="8" name="TextBox 8"/>
          <p:cNvSpPr txBox="1"/>
          <p:nvPr/>
        </p:nvSpPr>
        <p:spPr>
          <a:xfrm>
            <a:off x="560823" y="275842"/>
            <a:ext cx="6724120" cy="702693"/>
          </a:xfrm>
          <a:prstGeom prst="rect">
            <a:avLst/>
          </a:prstGeom>
        </p:spPr>
        <p:txBody>
          <a:bodyPr lIns="0" tIns="0" rIns="0" bIns="0" rtlCol="0" anchor="t">
            <a:spAutoFit/>
          </a:bodyPr>
          <a:lstStyle/>
          <a:p>
            <a:pPr algn="ctr">
              <a:lnSpc>
                <a:spcPts val="6026"/>
              </a:lnSpc>
              <a:spcBef>
                <a:spcPct val="0"/>
              </a:spcBef>
            </a:pPr>
            <a:r>
              <a:rPr lang="en-US" sz="4304" dirty="0">
                <a:solidFill>
                  <a:srgbClr val="000000"/>
                </a:solidFill>
                <a:latin typeface="Droid Serif Bold"/>
              </a:rPr>
              <a:t>SOMETHING ABOUT ME</a:t>
            </a:r>
          </a:p>
        </p:txBody>
      </p:sp>
      <p:sp>
        <p:nvSpPr>
          <p:cNvPr id="9" name="TextBox 9"/>
          <p:cNvSpPr txBox="1"/>
          <p:nvPr/>
        </p:nvSpPr>
        <p:spPr>
          <a:xfrm>
            <a:off x="685802" y="1035692"/>
            <a:ext cx="4552107" cy="307777"/>
          </a:xfrm>
          <a:prstGeom prst="rect">
            <a:avLst/>
          </a:prstGeom>
        </p:spPr>
        <p:txBody>
          <a:bodyPr wrap="square" lIns="0" tIns="0" rIns="0" bIns="0" rtlCol="0" anchor="t">
            <a:spAutoFit/>
          </a:bodyPr>
          <a:lstStyle/>
          <a:p>
            <a:pPr algn="ctr">
              <a:lnSpc>
                <a:spcPts val="2426"/>
              </a:lnSpc>
              <a:spcBef>
                <a:spcPct val="0"/>
              </a:spcBef>
            </a:pPr>
            <a:r>
              <a:rPr lang="en-US" sz="1733" dirty="0">
                <a:solidFill>
                  <a:srgbClr val="000000"/>
                </a:solidFill>
                <a:latin typeface="Droid Serif Bold"/>
              </a:rPr>
              <a:t>I’m </a:t>
            </a:r>
            <a:r>
              <a:rPr lang="en-US" sz="2133" b="1" dirty="0">
                <a:solidFill>
                  <a:srgbClr val="92D050"/>
                </a:solidFill>
                <a:latin typeface="Droid Serif Bold"/>
              </a:rPr>
              <a:t>Hafiz Muhammad Attaullah</a:t>
            </a:r>
          </a:p>
        </p:txBody>
      </p:sp>
      <p:sp>
        <p:nvSpPr>
          <p:cNvPr id="10" name="TextBox 10"/>
          <p:cNvSpPr txBox="1"/>
          <p:nvPr/>
        </p:nvSpPr>
        <p:spPr>
          <a:xfrm>
            <a:off x="1130069" y="6365319"/>
            <a:ext cx="2471931" cy="245901"/>
          </a:xfrm>
          <a:prstGeom prst="rect">
            <a:avLst/>
          </a:prstGeom>
        </p:spPr>
        <p:txBody>
          <a:bodyPr lIns="0" tIns="0" rIns="0" bIns="0" rtlCol="0" anchor="t">
            <a:spAutoFit/>
          </a:bodyPr>
          <a:lstStyle/>
          <a:p>
            <a:pPr algn="ctr">
              <a:lnSpc>
                <a:spcPts val="2107"/>
              </a:lnSpc>
              <a:spcBef>
                <a:spcPct val="0"/>
              </a:spcBef>
            </a:pPr>
            <a:r>
              <a:rPr lang="en-US" sz="1505" dirty="0">
                <a:solidFill>
                  <a:srgbClr val="000000"/>
                </a:solidFill>
                <a:latin typeface="Droid Serif Bold"/>
              </a:rPr>
              <a:t>attaullah@nanotechx.org</a:t>
            </a:r>
          </a:p>
        </p:txBody>
      </p:sp>
      <p:sp>
        <p:nvSpPr>
          <p:cNvPr id="11" name="TextBox 11"/>
          <p:cNvSpPr txBox="1"/>
          <p:nvPr/>
        </p:nvSpPr>
        <p:spPr>
          <a:xfrm>
            <a:off x="5237909" y="6371668"/>
            <a:ext cx="2429757" cy="245965"/>
          </a:xfrm>
          <a:prstGeom prst="rect">
            <a:avLst/>
          </a:prstGeom>
        </p:spPr>
        <p:txBody>
          <a:bodyPr lIns="0" tIns="0" rIns="0" bIns="0" rtlCol="0" anchor="t">
            <a:spAutoFit/>
          </a:bodyPr>
          <a:lstStyle/>
          <a:p>
            <a:pPr algn="ctr">
              <a:lnSpc>
                <a:spcPts val="2109"/>
              </a:lnSpc>
              <a:spcBef>
                <a:spcPct val="0"/>
              </a:spcBef>
            </a:pPr>
            <a:r>
              <a:rPr lang="en-US" sz="1507">
                <a:solidFill>
                  <a:srgbClr val="000000"/>
                </a:solidFill>
                <a:latin typeface="Droid Serif Bold"/>
              </a:rPr>
              <a:t>https://attaullah.com.pk/ </a:t>
            </a:r>
          </a:p>
        </p:txBody>
      </p:sp>
      <p:sp>
        <p:nvSpPr>
          <p:cNvPr id="12" name="TextBox 12"/>
          <p:cNvSpPr txBox="1"/>
          <p:nvPr/>
        </p:nvSpPr>
        <p:spPr>
          <a:xfrm>
            <a:off x="8778082" y="6371668"/>
            <a:ext cx="2853095" cy="245901"/>
          </a:xfrm>
          <a:prstGeom prst="rect">
            <a:avLst/>
          </a:prstGeom>
        </p:spPr>
        <p:txBody>
          <a:bodyPr wrap="square" lIns="0" tIns="0" rIns="0" bIns="0" rtlCol="0" anchor="t">
            <a:spAutoFit/>
          </a:bodyPr>
          <a:lstStyle/>
          <a:p>
            <a:pPr algn="ctr">
              <a:lnSpc>
                <a:spcPts val="2109"/>
              </a:lnSpc>
              <a:spcBef>
                <a:spcPct val="0"/>
              </a:spcBef>
            </a:pPr>
            <a:r>
              <a:rPr lang="en-US" sz="1506" dirty="0">
                <a:solidFill>
                  <a:srgbClr val="000000"/>
                </a:solidFill>
                <a:latin typeface="Droid Serif Bold"/>
              </a:rPr>
              <a:t>@HafizMuhammadAttaullah</a:t>
            </a:r>
          </a:p>
        </p:txBody>
      </p:sp>
      <p:pic>
        <p:nvPicPr>
          <p:cNvPr id="17" name="Picture 16">
            <a:extLst>
              <a:ext uri="{FF2B5EF4-FFF2-40B4-BE49-F238E27FC236}">
                <a16:creationId xmlns:a16="http://schemas.microsoft.com/office/drawing/2014/main" id="{414F8CA2-0A5A-AE6A-169F-93213CC90CA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8288365" y="1752600"/>
            <a:ext cx="3914929" cy="406673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C091803-41C2-48E0-9228-5148460C74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6343" y="448055"/>
            <a:ext cx="9181081" cy="5952745"/>
          </a:xfrm>
          <a:prstGeom prst="rect">
            <a:avLst/>
          </a:prstGeom>
          <a:solidFill>
            <a:schemeClr val="tx1">
              <a:lumMod val="50000"/>
              <a:lumOff val="50000"/>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3936216F-E9B6-4AB2-A05C-ABF4FD7C2C9C}"/>
              </a:ext>
            </a:extLst>
          </p:cNvPr>
          <p:cNvPicPr>
            <a:picLocks noChangeAspect="1"/>
          </p:cNvPicPr>
          <p:nvPr/>
        </p:nvPicPr>
        <p:blipFill rotWithShape="1">
          <a:blip r:embed="rId2"/>
          <a:srcRect r="119" b="2"/>
          <a:stretch/>
        </p:blipFill>
        <p:spPr>
          <a:xfrm>
            <a:off x="741023" y="731673"/>
            <a:ext cx="8621342" cy="5394653"/>
          </a:xfrm>
          <a:prstGeom prst="rect">
            <a:avLst/>
          </a:prstGeom>
        </p:spPr>
      </p:pic>
      <p:sp>
        <p:nvSpPr>
          <p:cNvPr id="9" name="Rectangle 8">
            <a:extLst>
              <a:ext uri="{FF2B5EF4-FFF2-40B4-BE49-F238E27FC236}">
                <a16:creationId xmlns:a16="http://schemas.microsoft.com/office/drawing/2014/main" id="{B775CD93-9DF2-48CB-9F57-1BCA9A46C7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12738" y="448055"/>
            <a:ext cx="1920339" cy="3801257"/>
          </a:xfrm>
          <a:prstGeom prst="rect">
            <a:avLst/>
          </a:prstGeom>
          <a:solidFill>
            <a:srgbClr val="7F6B52"/>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id="{6166C6D1-23AC-49C4-BA07-238E4E9F8C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12740" y="4419227"/>
            <a:ext cx="1920338" cy="1979852"/>
          </a:xfrm>
          <a:prstGeom prst="rect">
            <a:avLst/>
          </a:prstGeom>
          <a:solidFill>
            <a:schemeClr val="accent5">
              <a:alpha val="95000"/>
            </a:schemeClr>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Tree>
    <p:extLst>
      <p:ext uri="{BB962C8B-B14F-4D97-AF65-F5344CB8AC3E}">
        <p14:creationId xmlns:p14="http://schemas.microsoft.com/office/powerpoint/2010/main" val="34083164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B761509-3B9A-49A6-A84B-C3D8681169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99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9" name="Freeform: Shape 8">
            <a:extLst>
              <a:ext uri="{FF2B5EF4-FFF2-40B4-BE49-F238E27FC236}">
                <a16:creationId xmlns:a16="http://schemas.microsoft.com/office/drawing/2014/main" id="{91DE43FD-EB47-414A-B0AB-169B0FFFA5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272922" cy="6858000"/>
          </a:xfrm>
          <a:custGeom>
            <a:avLst/>
            <a:gdLst>
              <a:gd name="connsiteX0" fmla="*/ 0 w 9272922"/>
              <a:gd name="connsiteY0" fmla="*/ 0 h 6858000"/>
              <a:gd name="connsiteX1" fmla="*/ 1733417 w 9272922"/>
              <a:gd name="connsiteY1" fmla="*/ 0 h 6858000"/>
              <a:gd name="connsiteX2" fmla="*/ 3307976 w 9272922"/>
              <a:gd name="connsiteY2" fmla="*/ 0 h 6858000"/>
              <a:gd name="connsiteX3" fmla="*/ 8126249 w 9272922"/>
              <a:gd name="connsiteY3" fmla="*/ 0 h 6858000"/>
              <a:gd name="connsiteX4" fmla="*/ 8138896 w 9272922"/>
              <a:gd name="connsiteY4" fmla="*/ 31774 h 6858000"/>
              <a:gd name="connsiteX5" fmla="*/ 9193904 w 9272922"/>
              <a:gd name="connsiteY5" fmla="*/ 2682457 h 6858000"/>
              <a:gd name="connsiteX6" fmla="*/ 9193904 w 9272922"/>
              <a:gd name="connsiteY6" fmla="*/ 3752208 h 6858000"/>
              <a:gd name="connsiteX7" fmla="*/ 8036400 w 9272922"/>
              <a:gd name="connsiteY7" fmla="*/ 6660411 h 6858000"/>
              <a:gd name="connsiteX8" fmla="*/ 7957938 w 9272922"/>
              <a:gd name="connsiteY8" fmla="*/ 6857542 h 6858000"/>
              <a:gd name="connsiteX9" fmla="*/ 3307976 w 9272922"/>
              <a:gd name="connsiteY9" fmla="*/ 6857542 h 6858000"/>
              <a:gd name="connsiteX10" fmla="*/ 3307976 w 9272922"/>
              <a:gd name="connsiteY10" fmla="*/ 6858000 h 6858000"/>
              <a:gd name="connsiteX11" fmla="*/ 0 w 9272922"/>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272922" h="6858000">
                <a:moveTo>
                  <a:pt x="0" y="0"/>
                </a:moveTo>
                <a:lnTo>
                  <a:pt x="1733417" y="0"/>
                </a:lnTo>
                <a:lnTo>
                  <a:pt x="3307976" y="0"/>
                </a:lnTo>
                <a:lnTo>
                  <a:pt x="8126249" y="0"/>
                </a:lnTo>
                <a:lnTo>
                  <a:pt x="8138896" y="31774"/>
                </a:lnTo>
                <a:cubicBezTo>
                  <a:pt x="9193904" y="2682457"/>
                  <a:pt x="9193904" y="2682457"/>
                  <a:pt x="9193904" y="2682457"/>
                </a:cubicBezTo>
                <a:cubicBezTo>
                  <a:pt x="9299262" y="2988100"/>
                  <a:pt x="9299262" y="3446565"/>
                  <a:pt x="9193904" y="3752208"/>
                </a:cubicBezTo>
                <a:cubicBezTo>
                  <a:pt x="8709916" y="4968215"/>
                  <a:pt x="8331802" y="5918220"/>
                  <a:pt x="8036400" y="6660411"/>
                </a:cubicBezTo>
                <a:lnTo>
                  <a:pt x="7957938" y="6857542"/>
                </a:lnTo>
                <a:lnTo>
                  <a:pt x="3307976" y="6857542"/>
                </a:lnTo>
                <a:lnTo>
                  <a:pt x="3307976" y="6858000"/>
                </a:lnTo>
                <a:lnTo>
                  <a:pt x="0" y="685800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 name="Picture 1">
            <a:extLst>
              <a:ext uri="{FF2B5EF4-FFF2-40B4-BE49-F238E27FC236}">
                <a16:creationId xmlns:a16="http://schemas.microsoft.com/office/drawing/2014/main" id="{BAB08EE8-8FF1-420D-9CF3-122B1C95F011}"/>
              </a:ext>
            </a:extLst>
          </p:cNvPr>
          <p:cNvPicPr>
            <a:picLocks noChangeAspect="1"/>
          </p:cNvPicPr>
          <p:nvPr/>
        </p:nvPicPr>
        <p:blipFill>
          <a:blip r:embed="rId2"/>
          <a:stretch>
            <a:fillRect/>
          </a:stretch>
        </p:blipFill>
        <p:spPr>
          <a:xfrm>
            <a:off x="643467" y="924870"/>
            <a:ext cx="7047923" cy="5004025"/>
          </a:xfrm>
          <a:prstGeom prst="rect">
            <a:avLst/>
          </a:prstGeom>
        </p:spPr>
      </p:pic>
      <p:grpSp>
        <p:nvGrpSpPr>
          <p:cNvPr id="11" name="Group 10">
            <a:extLst>
              <a:ext uri="{FF2B5EF4-FFF2-40B4-BE49-F238E27FC236}">
                <a16:creationId xmlns:a16="http://schemas.microsoft.com/office/drawing/2014/main" id="{58495BCC-CE77-4CC2-952E-846F41119FD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160561" y="1075188"/>
            <a:ext cx="1562267" cy="1172973"/>
            <a:chOff x="9160561" y="1075188"/>
            <a:chExt cx="1562267" cy="1172973"/>
          </a:xfrm>
        </p:grpSpPr>
        <p:sp>
          <p:nvSpPr>
            <p:cNvPr id="12" name="Freeform 5">
              <a:extLst>
                <a:ext uri="{FF2B5EF4-FFF2-40B4-BE49-F238E27FC236}">
                  <a16:creationId xmlns:a16="http://schemas.microsoft.com/office/drawing/2014/main" id="{1B42538B-E30F-4967-A6C1-8EBA775F4D60}"/>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160561" y="1423846"/>
              <a:ext cx="935037" cy="8243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sp>
          <p:nvSpPr>
            <p:cNvPr id="21" name="Freeform 5">
              <a:extLst>
                <a:ext uri="{FF2B5EF4-FFF2-40B4-BE49-F238E27FC236}">
                  <a16:creationId xmlns:a16="http://schemas.microsoft.com/office/drawing/2014/main" id="{9A6BD9AC-4DE7-4B20-8547-4E3B375C21F7}"/>
                </a:ext>
                <a:ext uri="{C183D7F6-B498-43B3-948B-1728B52AA6E4}">
                  <adec:decorative xmlns:adec="http://schemas.microsoft.com/office/drawing/2017/decorative" val="1"/>
                </a:ext>
              </a:extLst>
            </p:cNvPr>
            <p:cNvSpPr>
              <a:spLocks/>
            </p:cNvSpPr>
            <p:nvPr>
              <p:extLst>
                <p:ext uri="{386F3935-93C4-4BCD-93E2-E3B085C9AB24}">
                  <p16:designElem xmlns:p16="http://schemas.microsoft.com/office/powerpoint/2015/main" val="1"/>
                </p:ext>
              </p:extLst>
            </p:nvPr>
          </p:nvSpPr>
          <p:spPr bwMode="auto">
            <a:xfrm>
              <a:off x="9960661" y="1075188"/>
              <a:ext cx="762167" cy="671915"/>
            </a:xfrm>
            <a:custGeom>
              <a:avLst/>
              <a:gdLst>
                <a:gd name="T0" fmla="*/ 225 w 785"/>
                <a:gd name="T1" fmla="*/ 692 h 692"/>
                <a:gd name="T2" fmla="*/ 177 w 785"/>
                <a:gd name="T3" fmla="*/ 665 h 692"/>
                <a:gd name="T4" fmla="*/ 9 w 785"/>
                <a:gd name="T5" fmla="*/ 374 h 692"/>
                <a:gd name="T6" fmla="*/ 9 w 785"/>
                <a:gd name="T7" fmla="*/ 318 h 692"/>
                <a:gd name="T8" fmla="*/ 177 w 785"/>
                <a:gd name="T9" fmla="*/ 27 h 692"/>
                <a:gd name="T10" fmla="*/ 225 w 785"/>
                <a:gd name="T11" fmla="*/ 0 h 692"/>
                <a:gd name="T12" fmla="*/ 561 w 785"/>
                <a:gd name="T13" fmla="*/ 0 h 692"/>
                <a:gd name="T14" fmla="*/ 609 w 785"/>
                <a:gd name="T15" fmla="*/ 27 h 692"/>
                <a:gd name="T16" fmla="*/ 777 w 785"/>
                <a:gd name="T17" fmla="*/ 318 h 692"/>
                <a:gd name="T18" fmla="*/ 777 w 785"/>
                <a:gd name="T19" fmla="*/ 374 h 692"/>
                <a:gd name="T20" fmla="*/ 609 w 785"/>
                <a:gd name="T21" fmla="*/ 665 h 692"/>
                <a:gd name="T22" fmla="*/ 561 w 785"/>
                <a:gd name="T23" fmla="*/ 692 h 692"/>
                <a:gd name="T24" fmla="*/ 225 w 785"/>
                <a:gd name="T25" fmla="*/ 692 h 6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85" h="692">
                  <a:moveTo>
                    <a:pt x="225" y="692"/>
                  </a:moveTo>
                  <a:cubicBezTo>
                    <a:pt x="207" y="692"/>
                    <a:pt x="185" y="680"/>
                    <a:pt x="177" y="665"/>
                  </a:cubicBezTo>
                  <a:cubicBezTo>
                    <a:pt x="9" y="374"/>
                    <a:pt x="9" y="374"/>
                    <a:pt x="9" y="374"/>
                  </a:cubicBezTo>
                  <a:cubicBezTo>
                    <a:pt x="0" y="358"/>
                    <a:pt x="0" y="334"/>
                    <a:pt x="9" y="318"/>
                  </a:cubicBezTo>
                  <a:cubicBezTo>
                    <a:pt x="177" y="27"/>
                    <a:pt x="177" y="27"/>
                    <a:pt x="177" y="27"/>
                  </a:cubicBezTo>
                  <a:cubicBezTo>
                    <a:pt x="185" y="12"/>
                    <a:pt x="207" y="0"/>
                    <a:pt x="225" y="0"/>
                  </a:cubicBezTo>
                  <a:cubicBezTo>
                    <a:pt x="561" y="0"/>
                    <a:pt x="561" y="0"/>
                    <a:pt x="561" y="0"/>
                  </a:cubicBezTo>
                  <a:cubicBezTo>
                    <a:pt x="578" y="0"/>
                    <a:pt x="600" y="12"/>
                    <a:pt x="609" y="27"/>
                  </a:cubicBezTo>
                  <a:cubicBezTo>
                    <a:pt x="777" y="318"/>
                    <a:pt x="777" y="318"/>
                    <a:pt x="777" y="318"/>
                  </a:cubicBezTo>
                  <a:cubicBezTo>
                    <a:pt x="785" y="334"/>
                    <a:pt x="785" y="358"/>
                    <a:pt x="777" y="374"/>
                  </a:cubicBezTo>
                  <a:cubicBezTo>
                    <a:pt x="609" y="665"/>
                    <a:pt x="609" y="665"/>
                    <a:pt x="609" y="665"/>
                  </a:cubicBezTo>
                  <a:cubicBezTo>
                    <a:pt x="600" y="680"/>
                    <a:pt x="578" y="692"/>
                    <a:pt x="561" y="692"/>
                  </a:cubicBezTo>
                  <a:lnTo>
                    <a:pt x="225" y="692"/>
                  </a:lnTo>
                  <a:close/>
                </a:path>
              </a:pathLst>
            </a:custGeom>
            <a:noFill/>
            <a:ln w="28575" cmpd="sng">
              <a:solidFill>
                <a:schemeClr val="bg1"/>
              </a:solid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7488868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271" name="Rectangle 73">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72"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273"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274"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275"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4" name="Rectangle 83">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1268" name="Rectangle 4">
            <a:extLst>
              <a:ext uri="{FF2B5EF4-FFF2-40B4-BE49-F238E27FC236}">
                <a16:creationId xmlns:a16="http://schemas.microsoft.com/office/drawing/2014/main" id="{E5614FD3-0888-4971-ACE9-DE7ED20FB06F}"/>
              </a:ext>
            </a:extLst>
          </p:cNvPr>
          <p:cNvSpPr>
            <a:spLocks noGrp="1" noChangeArrowheads="1"/>
          </p:cNvSpPr>
          <p:nvPr>
            <p:ph type="title"/>
          </p:nvPr>
        </p:nvSpPr>
        <p:spPr>
          <a:xfrm>
            <a:off x="958506" y="800392"/>
            <a:ext cx="10264697" cy="1212102"/>
          </a:xfrm>
        </p:spPr>
        <p:txBody>
          <a:bodyPr>
            <a:normAutofit/>
          </a:bodyPr>
          <a:lstStyle/>
          <a:p>
            <a:r>
              <a:rPr lang="en-US" altLang="en-US" sz="4000">
                <a:solidFill>
                  <a:srgbClr val="FFFFFF"/>
                </a:solidFill>
              </a:rPr>
              <a:t>Definition</a:t>
            </a:r>
          </a:p>
        </p:txBody>
      </p:sp>
      <p:sp>
        <p:nvSpPr>
          <p:cNvPr id="11269" name="Rectangle 5">
            <a:extLst>
              <a:ext uri="{FF2B5EF4-FFF2-40B4-BE49-F238E27FC236}">
                <a16:creationId xmlns:a16="http://schemas.microsoft.com/office/drawing/2014/main" id="{37233CA1-F3E9-4E27-8D41-7F24C00357DA}"/>
              </a:ext>
            </a:extLst>
          </p:cNvPr>
          <p:cNvSpPr>
            <a:spLocks noGrp="1" noChangeArrowheads="1"/>
          </p:cNvSpPr>
          <p:nvPr>
            <p:ph type="body" idx="1"/>
          </p:nvPr>
        </p:nvSpPr>
        <p:spPr>
          <a:xfrm>
            <a:off x="1367624" y="2490436"/>
            <a:ext cx="9708995" cy="3567173"/>
          </a:xfrm>
        </p:spPr>
        <p:txBody>
          <a:bodyPr anchor="ctr">
            <a:normAutofit/>
          </a:bodyPr>
          <a:lstStyle/>
          <a:p>
            <a:r>
              <a:rPr lang="en-US" altLang="en-US" sz="2400"/>
              <a:t>Encryption normally works in the following way: </a:t>
            </a:r>
          </a:p>
          <a:p>
            <a:r>
              <a:rPr lang="en-US" altLang="en-US" sz="2400"/>
              <a:t>A message in its original form (plaintext) is encrypted into an unintelligible form (ciphertext) by a set of procedures known as an encryption algorithm and a variable, called a key; and the ciphertext is transformed (decrypted) back into plaintext using the encryption algorithm and a key. </a:t>
            </a:r>
          </a:p>
        </p:txBody>
      </p:sp>
      <p:sp>
        <p:nvSpPr>
          <p:cNvPr id="5" name="Slide Number Placeholder 4">
            <a:extLst>
              <a:ext uri="{FF2B5EF4-FFF2-40B4-BE49-F238E27FC236}">
                <a16:creationId xmlns:a16="http://schemas.microsoft.com/office/drawing/2014/main" id="{12508789-3FB4-4ED7-B4DD-02C3D71D44B5}"/>
              </a:ext>
            </a:extLst>
          </p:cNvPr>
          <p:cNvSpPr>
            <a:spLocks noGrp="1"/>
          </p:cNvSpPr>
          <p:nvPr>
            <p:ph type="sldNum" sz="quarter" idx="12"/>
          </p:nvPr>
        </p:nvSpPr>
        <p:spPr>
          <a:xfrm>
            <a:off x="10707624" y="6382512"/>
            <a:ext cx="685800" cy="320040"/>
          </a:xfrm>
        </p:spPr>
        <p:txBody>
          <a:bodyPr>
            <a:normAutofit/>
          </a:bodyPr>
          <a:lstStyle/>
          <a:p>
            <a:pPr>
              <a:spcAft>
                <a:spcPts val="600"/>
              </a:spcAft>
            </a:pPr>
            <a:fld id="{54232462-6599-4BB7-B0BF-7177412D57FE}" type="slidenum">
              <a:rPr lang="en-US" altLang="en-US" sz="1000"/>
              <a:pPr>
                <a:spcAft>
                  <a:spcPts val="600"/>
                </a:spcAft>
              </a:pPr>
              <a:t>5</a:t>
            </a:fld>
            <a:endParaRPr lang="en-US" altLang="en-US" sz="1000"/>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2290" name="Rectangle 2">
            <a:extLst>
              <a:ext uri="{FF2B5EF4-FFF2-40B4-BE49-F238E27FC236}">
                <a16:creationId xmlns:a16="http://schemas.microsoft.com/office/drawing/2014/main" id="{F9FD2D1B-FF4D-4096-8404-34BDF5AE7712}"/>
              </a:ext>
            </a:extLst>
          </p:cNvPr>
          <p:cNvSpPr>
            <a:spLocks noGrp="1" noChangeArrowheads="1"/>
          </p:cNvSpPr>
          <p:nvPr>
            <p:ph type="title"/>
          </p:nvPr>
        </p:nvSpPr>
        <p:spPr>
          <a:xfrm>
            <a:off x="958506" y="800392"/>
            <a:ext cx="10264697" cy="1212102"/>
          </a:xfrm>
        </p:spPr>
        <p:txBody>
          <a:bodyPr>
            <a:normAutofit/>
          </a:bodyPr>
          <a:lstStyle/>
          <a:p>
            <a:r>
              <a:rPr lang="en-US" altLang="en-US" sz="4000">
                <a:solidFill>
                  <a:srgbClr val="FFFFFF"/>
                </a:solidFill>
              </a:rPr>
              <a:t>Definitions - Crypto-speak</a:t>
            </a:r>
          </a:p>
        </p:txBody>
      </p:sp>
      <p:sp>
        <p:nvSpPr>
          <p:cNvPr id="12291" name="Rectangle 3">
            <a:extLst>
              <a:ext uri="{FF2B5EF4-FFF2-40B4-BE49-F238E27FC236}">
                <a16:creationId xmlns:a16="http://schemas.microsoft.com/office/drawing/2014/main" id="{D5F02F68-38E0-43E2-8DC5-105A6FD85306}"/>
              </a:ext>
            </a:extLst>
          </p:cNvPr>
          <p:cNvSpPr>
            <a:spLocks noGrp="1" noChangeArrowheads="1"/>
          </p:cNvSpPr>
          <p:nvPr>
            <p:ph type="body" idx="1"/>
          </p:nvPr>
        </p:nvSpPr>
        <p:spPr>
          <a:xfrm>
            <a:off x="1367624" y="2490436"/>
            <a:ext cx="9708995" cy="3567173"/>
          </a:xfrm>
        </p:spPr>
        <p:txBody>
          <a:bodyPr anchor="ctr">
            <a:normAutofit/>
          </a:bodyPr>
          <a:lstStyle/>
          <a:p>
            <a:r>
              <a:rPr lang="en-US" altLang="en-US" sz="2400"/>
              <a:t>Cryptography is the study of secret (crypto-) writing (-graphy) </a:t>
            </a:r>
          </a:p>
          <a:p>
            <a:r>
              <a:rPr lang="en-US" altLang="en-US" sz="2400"/>
              <a:t>Cryptography deals with all aspects of secure messaging, authentication, digital signatures, electronic money, and other applications</a:t>
            </a:r>
          </a:p>
          <a:p>
            <a:r>
              <a:rPr lang="en-US" altLang="en-US" sz="2400"/>
              <a:t>The practitioner of Cryptography is called Cryptographer </a:t>
            </a:r>
          </a:p>
        </p:txBody>
      </p:sp>
      <p:sp>
        <p:nvSpPr>
          <p:cNvPr id="5" name="Slide Number Placeholder 4">
            <a:extLst>
              <a:ext uri="{FF2B5EF4-FFF2-40B4-BE49-F238E27FC236}">
                <a16:creationId xmlns:a16="http://schemas.microsoft.com/office/drawing/2014/main" id="{EDA89191-ED06-47A3-883F-071122803237}"/>
              </a:ext>
            </a:extLst>
          </p:cNvPr>
          <p:cNvSpPr>
            <a:spLocks noGrp="1"/>
          </p:cNvSpPr>
          <p:nvPr>
            <p:ph type="sldNum" sz="quarter" idx="12"/>
          </p:nvPr>
        </p:nvSpPr>
        <p:spPr>
          <a:xfrm>
            <a:off x="10707624" y="6382512"/>
            <a:ext cx="685800" cy="320040"/>
          </a:xfrm>
        </p:spPr>
        <p:txBody>
          <a:bodyPr>
            <a:normAutofit/>
          </a:bodyPr>
          <a:lstStyle/>
          <a:p>
            <a:pPr>
              <a:spcAft>
                <a:spcPts val="600"/>
              </a:spcAft>
            </a:pPr>
            <a:fld id="{53D4A4D0-39EF-4E71-9F46-22F3C2AF4FDD}" type="slidenum">
              <a:rPr lang="en-US" altLang="en-US" sz="1000"/>
              <a:pPr>
                <a:spcAft>
                  <a:spcPts val="600"/>
                </a:spcAft>
              </a:pPr>
              <a:t>6</a:t>
            </a:fld>
            <a:endParaRPr lang="en-US" altLang="en-US" sz="1000"/>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3314" name="Rectangle 2">
            <a:extLst>
              <a:ext uri="{FF2B5EF4-FFF2-40B4-BE49-F238E27FC236}">
                <a16:creationId xmlns:a16="http://schemas.microsoft.com/office/drawing/2014/main" id="{5E358257-3C83-4324-8C4F-47D3F2D2A667}"/>
              </a:ext>
            </a:extLst>
          </p:cNvPr>
          <p:cNvSpPr>
            <a:spLocks noGrp="1" noChangeArrowheads="1"/>
          </p:cNvSpPr>
          <p:nvPr>
            <p:ph type="title"/>
          </p:nvPr>
        </p:nvSpPr>
        <p:spPr>
          <a:xfrm>
            <a:off x="958506" y="800392"/>
            <a:ext cx="10264697" cy="1212102"/>
          </a:xfrm>
        </p:spPr>
        <p:txBody>
          <a:bodyPr>
            <a:normAutofit/>
          </a:bodyPr>
          <a:lstStyle/>
          <a:p>
            <a:r>
              <a:rPr lang="en-US" altLang="en-US" sz="4000">
                <a:solidFill>
                  <a:srgbClr val="FFFFFF"/>
                </a:solidFill>
              </a:rPr>
              <a:t>Why Cryptography?</a:t>
            </a:r>
          </a:p>
        </p:txBody>
      </p:sp>
      <p:sp>
        <p:nvSpPr>
          <p:cNvPr id="13315" name="Rectangle 3">
            <a:extLst>
              <a:ext uri="{FF2B5EF4-FFF2-40B4-BE49-F238E27FC236}">
                <a16:creationId xmlns:a16="http://schemas.microsoft.com/office/drawing/2014/main" id="{ECE54E38-2B4F-47A2-8B55-900EADF99FCE}"/>
              </a:ext>
            </a:extLst>
          </p:cNvPr>
          <p:cNvSpPr>
            <a:spLocks noGrp="1" noChangeArrowheads="1"/>
          </p:cNvSpPr>
          <p:nvPr>
            <p:ph type="body" idx="1"/>
          </p:nvPr>
        </p:nvSpPr>
        <p:spPr>
          <a:xfrm>
            <a:off x="1367624" y="2490436"/>
            <a:ext cx="9708995" cy="3567173"/>
          </a:xfrm>
        </p:spPr>
        <p:txBody>
          <a:bodyPr anchor="ctr">
            <a:normAutofit/>
          </a:bodyPr>
          <a:lstStyle/>
          <a:p>
            <a:r>
              <a:rPr lang="en-US" altLang="en-US" sz="2400" dirty="0"/>
              <a:t>Concerned with developing algorithms which may be used to: </a:t>
            </a:r>
          </a:p>
          <a:p>
            <a:pPr lvl="1"/>
            <a:r>
              <a:rPr lang="en-US" altLang="en-US" dirty="0"/>
              <a:t>Conceal the context of some message from all except the sender and recipient (privacy or secrecy)</a:t>
            </a:r>
          </a:p>
          <a:p>
            <a:pPr lvl="1"/>
            <a:r>
              <a:rPr lang="en-US" altLang="en-US" dirty="0"/>
              <a:t>Verify the correctness of a message to the recipient (authentication) </a:t>
            </a:r>
          </a:p>
          <a:p>
            <a:pPr lvl="1"/>
            <a:r>
              <a:rPr lang="en-US" altLang="en-US" dirty="0"/>
              <a:t>Form the basis of many technological solutions to computer and communications security problems</a:t>
            </a:r>
          </a:p>
        </p:txBody>
      </p:sp>
      <p:sp>
        <p:nvSpPr>
          <p:cNvPr id="5" name="Slide Number Placeholder 4">
            <a:extLst>
              <a:ext uri="{FF2B5EF4-FFF2-40B4-BE49-F238E27FC236}">
                <a16:creationId xmlns:a16="http://schemas.microsoft.com/office/drawing/2014/main" id="{EB8488E2-D646-4EF4-8902-E83DB1D0DEA3}"/>
              </a:ext>
            </a:extLst>
          </p:cNvPr>
          <p:cNvSpPr>
            <a:spLocks noGrp="1"/>
          </p:cNvSpPr>
          <p:nvPr>
            <p:ph type="sldNum" sz="quarter" idx="12"/>
          </p:nvPr>
        </p:nvSpPr>
        <p:spPr>
          <a:xfrm>
            <a:off x="10707624" y="6382512"/>
            <a:ext cx="685800" cy="320040"/>
          </a:xfrm>
        </p:spPr>
        <p:txBody>
          <a:bodyPr>
            <a:normAutofit/>
          </a:bodyPr>
          <a:lstStyle/>
          <a:p>
            <a:pPr>
              <a:spcAft>
                <a:spcPts val="600"/>
              </a:spcAft>
            </a:pPr>
            <a:fld id="{B342C7B9-E0C1-4C75-A1DE-B11D7123E299}" type="slidenum">
              <a:rPr lang="en-US" altLang="en-US" sz="1000"/>
              <a:pPr>
                <a:spcAft>
                  <a:spcPts val="600"/>
                </a:spcAft>
              </a:pPr>
              <a:t>7</a:t>
            </a:fld>
            <a:endParaRPr lang="en-US" altLang="en-US" sz="1000"/>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342" name="Rectangle 6">
            <a:extLst>
              <a:ext uri="{FF2B5EF4-FFF2-40B4-BE49-F238E27FC236}">
                <a16:creationId xmlns:a16="http://schemas.microsoft.com/office/drawing/2014/main" id="{C4703A1C-FD81-4599-9B1B-2C30CAC8A205}"/>
              </a:ext>
            </a:extLst>
          </p:cNvPr>
          <p:cNvSpPr>
            <a:spLocks noGrp="1" noChangeArrowheads="1"/>
          </p:cNvSpPr>
          <p:nvPr>
            <p:ph type="title"/>
          </p:nvPr>
        </p:nvSpPr>
        <p:spPr>
          <a:xfrm>
            <a:off x="1653363" y="365760"/>
            <a:ext cx="9367203" cy="1188720"/>
          </a:xfrm>
        </p:spPr>
        <p:txBody>
          <a:bodyPr>
            <a:normAutofit/>
          </a:bodyPr>
          <a:lstStyle/>
          <a:p>
            <a:r>
              <a:rPr lang="en-US" altLang="en-US"/>
              <a:t>Definitions</a:t>
            </a:r>
          </a:p>
        </p:txBody>
      </p:sp>
      <p:sp>
        <p:nvSpPr>
          <p:cNvPr id="86" name="Freeform: Shape 85">
            <a:extLst>
              <a:ext uri="{FF2B5EF4-FFF2-40B4-BE49-F238E27FC236}">
                <a16:creationId xmlns:a16="http://schemas.microsoft.com/office/drawing/2014/main" id="{7CB4857B-ED7C-444D-9F04-2F885114A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764099" cy="1558212"/>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88" name="Freeform: Shape 87">
            <a:extLst>
              <a:ext uri="{FF2B5EF4-FFF2-40B4-BE49-F238E27FC236}">
                <a16:creationId xmlns:a16="http://schemas.microsoft.com/office/drawing/2014/main" id="{D18046FB-44EA-4FD8-A585-EA09A319B2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691640"/>
            <a:ext cx="12191999" cy="5166360"/>
          </a:xfrm>
          <a:custGeom>
            <a:avLst/>
            <a:gdLst>
              <a:gd name="connsiteX0" fmla="*/ 0 w 12191999"/>
              <a:gd name="connsiteY0" fmla="*/ 0 h 5166360"/>
              <a:gd name="connsiteX1" fmla="*/ 1822388 w 12191999"/>
              <a:gd name="connsiteY1" fmla="*/ 0 h 5166360"/>
              <a:gd name="connsiteX2" fmla="*/ 6468290 w 12191999"/>
              <a:gd name="connsiteY2" fmla="*/ 0 h 5166360"/>
              <a:gd name="connsiteX3" fmla="*/ 7796394 w 12191999"/>
              <a:gd name="connsiteY3" fmla="*/ 0 h 5166360"/>
              <a:gd name="connsiteX4" fmla="*/ 8376834 w 12191999"/>
              <a:gd name="connsiteY4" fmla="*/ 0 h 5166360"/>
              <a:gd name="connsiteX5" fmla="*/ 9704938 w 12191999"/>
              <a:gd name="connsiteY5" fmla="*/ 0 h 5166360"/>
              <a:gd name="connsiteX6" fmla="*/ 9704938 w 12191999"/>
              <a:gd name="connsiteY6" fmla="*/ 2 h 5166360"/>
              <a:gd name="connsiteX7" fmla="*/ 10283456 w 12191999"/>
              <a:gd name="connsiteY7" fmla="*/ 2 h 5166360"/>
              <a:gd name="connsiteX8" fmla="*/ 10863897 w 12191999"/>
              <a:gd name="connsiteY8" fmla="*/ 2 h 5166360"/>
              <a:gd name="connsiteX9" fmla="*/ 12191999 w 12191999"/>
              <a:gd name="connsiteY9" fmla="*/ 2 h 5166360"/>
              <a:gd name="connsiteX10" fmla="*/ 12191999 w 12191999"/>
              <a:gd name="connsiteY10" fmla="*/ 5166360 h 5166360"/>
              <a:gd name="connsiteX11" fmla="*/ 0 w 12191999"/>
              <a:gd name="connsiteY11" fmla="*/ 5166360 h 5166360"/>
              <a:gd name="connsiteX12" fmla="*/ 0 w 12191999"/>
              <a:gd name="connsiteY12" fmla="*/ 2604436 h 5166360"/>
              <a:gd name="connsiteX13" fmla="*/ 862341 w 12191999"/>
              <a:gd name="connsiteY13" fmla="*/ 743371 h 5166360"/>
              <a:gd name="connsiteX14" fmla="*/ 0 w 12191999"/>
              <a:gd name="connsiteY14" fmla="*/ 743371 h 5166360"/>
              <a:gd name="connsiteX15" fmla="*/ 0 w 12191999"/>
              <a:gd name="connsiteY15" fmla="*/ 742508 h 5166360"/>
              <a:gd name="connsiteX16" fmla="*/ 92826 w 12191999"/>
              <a:gd name="connsiteY16" fmla="*/ 742508 h 5166360"/>
              <a:gd name="connsiteX17" fmla="*/ 406486 w 12191999"/>
              <a:gd name="connsiteY17" fmla="*/ 742508 h 5166360"/>
              <a:gd name="connsiteX18" fmla="*/ 406486 w 12191999"/>
              <a:gd name="connsiteY18" fmla="*/ 742507 h 5166360"/>
              <a:gd name="connsiteX19" fmla="*/ 862741 w 12191999"/>
              <a:gd name="connsiteY19" fmla="*/ 742507 h 5166360"/>
              <a:gd name="connsiteX20" fmla="*/ 1206388 w 12191999"/>
              <a:gd name="connsiteY20" fmla="*/ 864 h 5166360"/>
              <a:gd name="connsiteX21" fmla="*/ 748500 w 12191999"/>
              <a:gd name="connsiteY21" fmla="*/ 864 h 5166360"/>
              <a:gd name="connsiteX22" fmla="*/ 0 w 12191999"/>
              <a:gd name="connsiteY22" fmla="*/ 864 h 516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91999" h="516636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0" name="Freeform: Shape 89">
            <a:extLst>
              <a:ext uri="{FF2B5EF4-FFF2-40B4-BE49-F238E27FC236}">
                <a16:creationId xmlns:a16="http://schemas.microsoft.com/office/drawing/2014/main" id="{479F5F2B-8B58-4140-AE6A-51F6C67B18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1641"/>
            <a:ext cx="971654" cy="2096979"/>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4343" name="Rectangle 7">
            <a:extLst>
              <a:ext uri="{FF2B5EF4-FFF2-40B4-BE49-F238E27FC236}">
                <a16:creationId xmlns:a16="http://schemas.microsoft.com/office/drawing/2014/main" id="{891307F8-3715-45FD-87B8-F0F55993C2CD}"/>
              </a:ext>
            </a:extLst>
          </p:cNvPr>
          <p:cNvSpPr>
            <a:spLocks noGrp="1" noChangeArrowheads="1"/>
          </p:cNvSpPr>
          <p:nvPr>
            <p:ph type="body" idx="1"/>
          </p:nvPr>
        </p:nvSpPr>
        <p:spPr>
          <a:xfrm>
            <a:off x="1653363" y="2176272"/>
            <a:ext cx="9367204" cy="4041648"/>
          </a:xfrm>
        </p:spPr>
        <p:txBody>
          <a:bodyPr anchor="t">
            <a:normAutofit/>
          </a:bodyPr>
          <a:lstStyle/>
          <a:p>
            <a:pPr>
              <a:spcBef>
                <a:spcPts val="500"/>
              </a:spcBef>
              <a:spcAft>
                <a:spcPts val="500"/>
              </a:spcAft>
            </a:pPr>
            <a:r>
              <a:rPr lang="en-US" altLang="en-US" sz="2200" dirty="0"/>
              <a:t>In cryptographic terminology, the message is called </a:t>
            </a:r>
            <a:r>
              <a:rPr lang="en-US" altLang="en-US" sz="2200" b="1" dirty="0"/>
              <a:t>plaintext</a:t>
            </a:r>
            <a:r>
              <a:rPr lang="en-US" altLang="en-US" sz="2200" dirty="0"/>
              <a:t> or </a:t>
            </a:r>
            <a:r>
              <a:rPr lang="en-US" altLang="en-US" sz="2200" b="1" dirty="0"/>
              <a:t>cleartext</a:t>
            </a:r>
            <a:r>
              <a:rPr lang="en-US" altLang="en-US" sz="2200" dirty="0"/>
              <a:t>.</a:t>
            </a:r>
          </a:p>
          <a:p>
            <a:pPr>
              <a:spcBef>
                <a:spcPts val="500"/>
              </a:spcBef>
              <a:spcAft>
                <a:spcPts val="500"/>
              </a:spcAft>
            </a:pPr>
            <a:r>
              <a:rPr lang="en-US" altLang="en-US" sz="2200" dirty="0"/>
              <a:t>Encoding the contents of the message in such a way that hides its contents from outsiders is called </a:t>
            </a:r>
            <a:r>
              <a:rPr lang="en-US" altLang="en-US" sz="2200" b="1" dirty="0"/>
              <a:t>encryption</a:t>
            </a:r>
            <a:r>
              <a:rPr lang="en-US" altLang="en-US" sz="2200" dirty="0"/>
              <a:t>. </a:t>
            </a:r>
          </a:p>
          <a:p>
            <a:pPr>
              <a:spcBef>
                <a:spcPts val="500"/>
              </a:spcBef>
              <a:spcAft>
                <a:spcPts val="500"/>
              </a:spcAft>
            </a:pPr>
            <a:r>
              <a:rPr lang="en-US" altLang="en-US" sz="2200" dirty="0"/>
              <a:t>A method of encryption and decryption is called a cipher - The name cipher originates from the Hebrew word "Saphar," meaning "to number.” </a:t>
            </a:r>
          </a:p>
          <a:p>
            <a:pPr>
              <a:spcBef>
                <a:spcPts val="500"/>
              </a:spcBef>
              <a:spcAft>
                <a:spcPts val="500"/>
              </a:spcAft>
            </a:pPr>
            <a:r>
              <a:rPr lang="en-US" altLang="en-US" sz="2200" dirty="0"/>
              <a:t>The encrypted message is called the </a:t>
            </a:r>
            <a:r>
              <a:rPr lang="en-US" altLang="en-US" sz="2200" b="1" dirty="0"/>
              <a:t>ciphertext</a:t>
            </a:r>
            <a:r>
              <a:rPr lang="en-US" altLang="en-US" sz="2200" dirty="0"/>
              <a:t>.</a:t>
            </a:r>
          </a:p>
          <a:p>
            <a:pPr>
              <a:spcBef>
                <a:spcPts val="500"/>
              </a:spcBef>
              <a:spcAft>
                <a:spcPts val="500"/>
              </a:spcAft>
            </a:pPr>
            <a:r>
              <a:rPr lang="en-US" altLang="en-US" sz="2200" dirty="0"/>
              <a:t>The process of retrieving the plaintext from the ciphertext is called </a:t>
            </a:r>
            <a:r>
              <a:rPr lang="en-US" altLang="en-US" sz="2200" b="1" dirty="0"/>
              <a:t>decryption</a:t>
            </a:r>
            <a:r>
              <a:rPr lang="en-US" altLang="en-US" sz="2200" dirty="0"/>
              <a:t>.</a:t>
            </a:r>
          </a:p>
          <a:p>
            <a:pPr>
              <a:spcBef>
                <a:spcPts val="500"/>
              </a:spcBef>
              <a:spcAft>
                <a:spcPts val="500"/>
              </a:spcAft>
            </a:pPr>
            <a:r>
              <a:rPr lang="en-US" altLang="en-US" sz="2200" dirty="0"/>
              <a:t>Encryption and decryption usually make use of a </a:t>
            </a:r>
            <a:r>
              <a:rPr lang="en-US" altLang="en-US" sz="2200" b="1" dirty="0"/>
              <a:t>key</a:t>
            </a:r>
            <a:r>
              <a:rPr lang="en-US" altLang="en-US" sz="2200" dirty="0"/>
              <a:t>, and the coding method is such that decryption can be performed only by knowing the proper key.</a:t>
            </a:r>
          </a:p>
        </p:txBody>
      </p:sp>
      <p:sp>
        <p:nvSpPr>
          <p:cNvPr id="5" name="Slide Number Placeholder 4">
            <a:extLst>
              <a:ext uri="{FF2B5EF4-FFF2-40B4-BE49-F238E27FC236}">
                <a16:creationId xmlns:a16="http://schemas.microsoft.com/office/drawing/2014/main" id="{3A31EB94-5331-472C-B4B9-105AA63C1C46}"/>
              </a:ext>
            </a:extLst>
          </p:cNvPr>
          <p:cNvSpPr>
            <a:spLocks noGrp="1"/>
          </p:cNvSpPr>
          <p:nvPr>
            <p:ph type="sldNum" sz="quarter" idx="12"/>
          </p:nvPr>
        </p:nvSpPr>
        <p:spPr>
          <a:xfrm>
            <a:off x="9091182" y="6356350"/>
            <a:ext cx="1929384" cy="365125"/>
          </a:xfrm>
        </p:spPr>
        <p:txBody>
          <a:bodyPr>
            <a:normAutofit/>
          </a:bodyPr>
          <a:lstStyle/>
          <a:p>
            <a:pPr>
              <a:spcAft>
                <a:spcPts val="600"/>
              </a:spcAft>
            </a:pPr>
            <a:fld id="{E21525B6-627D-4B76-A0E5-BE42D5AEA6F7}" type="slidenum">
              <a:rPr lang="en-US" altLang="en-US">
                <a:solidFill>
                  <a:schemeClr val="tx1">
                    <a:alpha val="80000"/>
                  </a:schemeClr>
                </a:solidFill>
              </a:rPr>
              <a:pPr>
                <a:spcAft>
                  <a:spcPts val="600"/>
                </a:spcAft>
              </a:pPr>
              <a:t>8</a:t>
            </a:fld>
            <a:endParaRPr lang="en-US" altLang="en-US">
              <a:solidFill>
                <a:schemeClr val="tx1">
                  <a:alpha val="80000"/>
                </a:schemeClr>
              </a:solidFill>
            </a:endParaRPr>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0">
            <a:extLst>
              <a:ext uri="{FF2B5EF4-FFF2-40B4-BE49-F238E27FC236}">
                <a16:creationId xmlns:a16="http://schemas.microsoft.com/office/drawing/2014/main" id="{19245A10-7F37-4569-80D2-2F692931E3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8">
            <a:extLst>
              <a:ext uri="{FF2B5EF4-FFF2-40B4-BE49-F238E27FC236}">
                <a16:creationId xmlns:a16="http://schemas.microsoft.com/office/drawing/2014/main" id="{9267F70F-11C6-4597-9381-D0D80FC18F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06152" y="2355786"/>
            <a:ext cx="4985748" cy="3531073"/>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Rectangle 5"/>
          <p:cNvSpPr/>
          <p:nvPr/>
        </p:nvSpPr>
        <p:spPr>
          <a:xfrm>
            <a:off x="7559812" y="2723322"/>
            <a:ext cx="3510355" cy="2236738"/>
          </a:xfrm>
          <a:prstGeom prst="rect">
            <a:avLst/>
          </a:prstGeom>
        </p:spPr>
        <p:txBody>
          <a:bodyPr vert="horz" lIns="91440" tIns="45720" rIns="91440" bIns="45720" rtlCol="0" anchor="b">
            <a:normAutofit/>
          </a:bodyPr>
          <a:lstStyle/>
          <a:p>
            <a:pPr marL="0" marR="0" lvl="0" indent="0" algn="l" defTabSz="914400" rtl="0" eaLnBrk="1" fontAlgn="auto" latinLnBrk="0" hangingPunct="1">
              <a:lnSpc>
                <a:spcPct val="90000"/>
              </a:lnSpc>
              <a:spcBef>
                <a:spcPct val="0"/>
              </a:spcBef>
              <a:spcAft>
                <a:spcPts val="600"/>
              </a:spcAft>
              <a:buClrTx/>
              <a:buSzTx/>
              <a:buFontTx/>
              <a:buNone/>
              <a:tabLst/>
              <a:defRPr/>
            </a:pPr>
            <a:r>
              <a:rPr kumimoji="0" lang="en-US" sz="4400" b="0" i="0" u="none" strike="noStrike" kern="1200" cap="none" spc="0" normalizeH="0" baseline="0" noProof="0" dirty="0">
                <a:ln>
                  <a:noFill/>
                </a:ln>
                <a:solidFill>
                  <a:srgbClr val="FFFFFF"/>
                </a:solidFill>
                <a:effectLst/>
                <a:uLnTx/>
                <a:uFillTx/>
                <a:latin typeface="Calibri Light" panose="020F0302020204030204"/>
                <a:ea typeface="+mn-ea"/>
                <a:cs typeface="+mn-cs"/>
              </a:rPr>
              <a:t>Cryptosystem</a:t>
            </a:r>
          </a:p>
        </p:txBody>
      </p:sp>
      <p:sp>
        <p:nvSpPr>
          <p:cNvPr id="15" name="Freeform 5">
            <a:extLst>
              <a:ext uri="{FF2B5EF4-FFF2-40B4-BE49-F238E27FC236}">
                <a16:creationId xmlns:a16="http://schemas.microsoft.com/office/drawing/2014/main" id="{2C20A93E-E407-4683-A405-147DE26132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09782" y="1654168"/>
            <a:ext cx="822493" cy="4232692"/>
          </a:xfrm>
          <a:custGeom>
            <a:avLst/>
            <a:gdLst>
              <a:gd name="T0" fmla="*/ 491 w 491"/>
              <a:gd name="T1" fmla="*/ 2247 h 2732"/>
              <a:gd name="T2" fmla="*/ 0 w 491"/>
              <a:gd name="T3" fmla="*/ 2732 h 2732"/>
              <a:gd name="T4" fmla="*/ 0 w 491"/>
              <a:gd name="T5" fmla="*/ 486 h 2732"/>
              <a:gd name="T6" fmla="*/ 491 w 491"/>
              <a:gd name="T7" fmla="*/ 0 h 2732"/>
              <a:gd name="T8" fmla="*/ 491 w 491"/>
              <a:gd name="T9" fmla="*/ 2247 h 2732"/>
            </a:gdLst>
            <a:ahLst/>
            <a:cxnLst>
              <a:cxn ang="0">
                <a:pos x="T0" y="T1"/>
              </a:cxn>
              <a:cxn ang="0">
                <a:pos x="T2" y="T3"/>
              </a:cxn>
              <a:cxn ang="0">
                <a:pos x="T4" y="T5"/>
              </a:cxn>
              <a:cxn ang="0">
                <a:pos x="T6" y="T7"/>
              </a:cxn>
              <a:cxn ang="0">
                <a:pos x="T8" y="T9"/>
              </a:cxn>
            </a:cxnLst>
            <a:rect l="0" t="0" r="r" b="b"/>
            <a:pathLst>
              <a:path w="491" h="2732">
                <a:moveTo>
                  <a:pt x="491" y="2247"/>
                </a:moveTo>
                <a:lnTo>
                  <a:pt x="0" y="2732"/>
                </a:lnTo>
                <a:lnTo>
                  <a:pt x="0" y="486"/>
                </a:lnTo>
                <a:lnTo>
                  <a:pt x="491" y="0"/>
                </a:lnTo>
                <a:lnTo>
                  <a:pt x="491" y="224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Freeform 6">
            <a:extLst>
              <a:ext uri="{FF2B5EF4-FFF2-40B4-BE49-F238E27FC236}">
                <a16:creationId xmlns:a16="http://schemas.microsoft.com/office/drawing/2014/main" id="{9E8E3DD9-D235-48D9-A0EC-D6817EC84B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544520" y="1311136"/>
            <a:ext cx="687754" cy="3820236"/>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Freeform 7">
            <a:extLst>
              <a:ext uri="{FF2B5EF4-FFF2-40B4-BE49-F238E27FC236}">
                <a16:creationId xmlns:a16="http://schemas.microsoft.com/office/drawing/2014/main" id="{EA83A145-578D-4A0B-94A7-AEAB2027D7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544520" y="1126737"/>
            <a:ext cx="347200" cy="3699705"/>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 name="Picture 1"/>
          <p:cNvPicPr>
            <a:picLocks noChangeAspect="1"/>
          </p:cNvPicPr>
          <p:nvPr/>
        </p:nvPicPr>
        <p:blipFill rotWithShape="1">
          <a:blip r:embed="rId2"/>
          <a:srcRect t="5290" r="3" b="3"/>
          <a:stretch/>
        </p:blipFill>
        <p:spPr>
          <a:xfrm>
            <a:off x="1258859" y="1120046"/>
            <a:ext cx="5635819" cy="3509504"/>
          </a:xfrm>
          <a:prstGeom prst="rect">
            <a:avLst/>
          </a:prstGeom>
        </p:spPr>
      </p:pic>
    </p:spTree>
    <p:extLst>
      <p:ext uri="{BB962C8B-B14F-4D97-AF65-F5344CB8AC3E}">
        <p14:creationId xmlns:p14="http://schemas.microsoft.com/office/powerpoint/2010/main" val="38984975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0482" name="Rectangle 2">
            <a:extLst>
              <a:ext uri="{FF2B5EF4-FFF2-40B4-BE49-F238E27FC236}">
                <a16:creationId xmlns:a16="http://schemas.microsoft.com/office/drawing/2014/main" id="{8B2F2147-4E97-4988-8232-BA843B204ACD}"/>
              </a:ext>
            </a:extLst>
          </p:cNvPr>
          <p:cNvSpPr>
            <a:spLocks noGrp="1" noChangeArrowheads="1"/>
          </p:cNvSpPr>
          <p:nvPr>
            <p:ph type="title"/>
          </p:nvPr>
        </p:nvSpPr>
        <p:spPr>
          <a:xfrm>
            <a:off x="958506" y="800392"/>
            <a:ext cx="10264697" cy="1212102"/>
          </a:xfrm>
        </p:spPr>
        <p:txBody>
          <a:bodyPr>
            <a:normAutofit/>
          </a:bodyPr>
          <a:lstStyle/>
          <a:p>
            <a:r>
              <a:rPr lang="en-US" altLang="en-US" sz="4000">
                <a:solidFill>
                  <a:srgbClr val="FFFFFF"/>
                </a:solidFill>
              </a:rPr>
              <a:t>Encryption is a form of Coding</a:t>
            </a:r>
          </a:p>
        </p:txBody>
      </p:sp>
      <p:sp>
        <p:nvSpPr>
          <p:cNvPr id="20483" name="Rectangle 3">
            <a:extLst>
              <a:ext uri="{FF2B5EF4-FFF2-40B4-BE49-F238E27FC236}">
                <a16:creationId xmlns:a16="http://schemas.microsoft.com/office/drawing/2014/main" id="{3A6247DE-BBA9-4107-AE51-8555F65B3400}"/>
              </a:ext>
            </a:extLst>
          </p:cNvPr>
          <p:cNvSpPr>
            <a:spLocks noGrp="1" noChangeArrowheads="1"/>
          </p:cNvSpPr>
          <p:nvPr>
            <p:ph type="body" idx="1"/>
          </p:nvPr>
        </p:nvSpPr>
        <p:spPr>
          <a:xfrm>
            <a:off x="1367624" y="2490436"/>
            <a:ext cx="9708995" cy="3567173"/>
          </a:xfrm>
        </p:spPr>
        <p:txBody>
          <a:bodyPr anchor="ctr">
            <a:normAutofit/>
          </a:bodyPr>
          <a:lstStyle/>
          <a:p>
            <a:r>
              <a:rPr lang="en-US" altLang="en-US" sz="2400" b="1" dirty="0"/>
              <a:t>Code - </a:t>
            </a:r>
            <a:r>
              <a:rPr lang="en-US" altLang="en-US" sz="2400" dirty="0"/>
              <a:t>an algorithm for transforming an intelligible message into an unintelligible one using a code-book</a:t>
            </a:r>
          </a:p>
          <a:p>
            <a:r>
              <a:rPr lang="en-US" altLang="en-US" sz="2400" dirty="0"/>
              <a:t>A code is a pre-arranged word, sentence, or paragraph replacement system. Foreign languages are just like secret code, where the English word "hi" is represented as the word "Hola" in Spanish, or some other word in another language. </a:t>
            </a:r>
          </a:p>
        </p:txBody>
      </p:sp>
      <p:sp>
        <p:nvSpPr>
          <p:cNvPr id="5" name="Slide Number Placeholder 4">
            <a:extLst>
              <a:ext uri="{FF2B5EF4-FFF2-40B4-BE49-F238E27FC236}">
                <a16:creationId xmlns:a16="http://schemas.microsoft.com/office/drawing/2014/main" id="{918130F7-D9D4-4116-BBC5-0329E0AB1682}"/>
              </a:ext>
            </a:extLst>
          </p:cNvPr>
          <p:cNvSpPr>
            <a:spLocks noGrp="1"/>
          </p:cNvSpPr>
          <p:nvPr>
            <p:ph type="sldNum" sz="quarter" idx="12"/>
          </p:nvPr>
        </p:nvSpPr>
        <p:spPr>
          <a:xfrm>
            <a:off x="10707624" y="6382512"/>
            <a:ext cx="685800" cy="320040"/>
          </a:xfrm>
        </p:spPr>
        <p:txBody>
          <a:bodyPr>
            <a:normAutofit/>
          </a:bodyPr>
          <a:lstStyle/>
          <a:p>
            <a:pPr>
              <a:spcAft>
                <a:spcPts val="600"/>
              </a:spcAft>
            </a:pPr>
            <a:fld id="{1F781A5C-A17D-478F-90DC-968B45660C5E}" type="slidenum">
              <a:rPr lang="en-US" altLang="en-US" sz="1000"/>
              <a:pPr>
                <a:spcAft>
                  <a:spcPts val="600"/>
                </a:spcAft>
              </a:pPr>
              <a:t>10</a:t>
            </a:fld>
            <a:endParaRPr lang="en-US" altLang="en-US" sz="1000"/>
          </a:p>
        </p:txBody>
      </p:sp>
    </p:spTree>
  </p:cSld>
  <p:clrMapOvr>
    <a:masterClrMapping/>
  </p:clrMapOvr>
  <p:transition spd="slow"/>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4" name="Rectangle 83">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1508" name="Rectangle 4">
            <a:extLst>
              <a:ext uri="{FF2B5EF4-FFF2-40B4-BE49-F238E27FC236}">
                <a16:creationId xmlns:a16="http://schemas.microsoft.com/office/drawing/2014/main" id="{1EABEB3E-0221-49D5-A222-C98D9A3E31A7}"/>
              </a:ext>
            </a:extLst>
          </p:cNvPr>
          <p:cNvSpPr>
            <a:spLocks noGrp="1" noChangeArrowheads="1"/>
          </p:cNvSpPr>
          <p:nvPr>
            <p:ph type="title"/>
          </p:nvPr>
        </p:nvSpPr>
        <p:spPr>
          <a:xfrm>
            <a:off x="958506" y="800392"/>
            <a:ext cx="10264697" cy="1212102"/>
          </a:xfrm>
        </p:spPr>
        <p:txBody>
          <a:bodyPr>
            <a:normAutofit/>
          </a:bodyPr>
          <a:lstStyle/>
          <a:p>
            <a:r>
              <a:rPr lang="en-US" altLang="en-US" sz="4000">
                <a:solidFill>
                  <a:srgbClr val="FFFFFF"/>
                </a:solidFill>
              </a:rPr>
              <a:t>Cryptanalaysis</a:t>
            </a:r>
          </a:p>
        </p:txBody>
      </p:sp>
      <p:sp>
        <p:nvSpPr>
          <p:cNvPr id="21509" name="Rectangle 5">
            <a:extLst>
              <a:ext uri="{FF2B5EF4-FFF2-40B4-BE49-F238E27FC236}">
                <a16:creationId xmlns:a16="http://schemas.microsoft.com/office/drawing/2014/main" id="{43C3D6B1-6420-4B7E-91CB-944BB5C122A3}"/>
              </a:ext>
            </a:extLst>
          </p:cNvPr>
          <p:cNvSpPr>
            <a:spLocks noGrp="1" noChangeArrowheads="1"/>
          </p:cNvSpPr>
          <p:nvPr>
            <p:ph type="body" idx="1"/>
          </p:nvPr>
        </p:nvSpPr>
        <p:spPr>
          <a:xfrm>
            <a:off x="1367624" y="2490436"/>
            <a:ext cx="9708995" cy="3567173"/>
          </a:xfrm>
        </p:spPr>
        <p:txBody>
          <a:bodyPr anchor="ctr">
            <a:normAutofit/>
          </a:bodyPr>
          <a:lstStyle/>
          <a:p>
            <a:r>
              <a:rPr lang="en-US" altLang="en-US" sz="2400"/>
              <a:t>The study of principles and methods of transforming an unintelligible message back into an intelligible message without knowledge of the key</a:t>
            </a:r>
          </a:p>
          <a:p>
            <a:r>
              <a:rPr lang="en-US" altLang="en-US" sz="2400"/>
              <a:t>Also called codebreaking</a:t>
            </a:r>
          </a:p>
          <a:p>
            <a:r>
              <a:rPr lang="en-US" altLang="en-US" sz="2400"/>
              <a:t>Whereas people who do cryptography are cryptographers, and practitioners of cryptanalysis are cryptanalysts</a:t>
            </a:r>
          </a:p>
          <a:p>
            <a:endParaRPr lang="en-US" altLang="en-US" sz="2400"/>
          </a:p>
        </p:txBody>
      </p:sp>
      <p:sp>
        <p:nvSpPr>
          <p:cNvPr id="5" name="Slide Number Placeholder 4">
            <a:extLst>
              <a:ext uri="{FF2B5EF4-FFF2-40B4-BE49-F238E27FC236}">
                <a16:creationId xmlns:a16="http://schemas.microsoft.com/office/drawing/2014/main" id="{E06C8099-FDB9-42CB-9BA9-37C49BD95364}"/>
              </a:ext>
            </a:extLst>
          </p:cNvPr>
          <p:cNvSpPr>
            <a:spLocks noGrp="1"/>
          </p:cNvSpPr>
          <p:nvPr>
            <p:ph type="sldNum" sz="quarter" idx="12"/>
          </p:nvPr>
        </p:nvSpPr>
        <p:spPr>
          <a:xfrm>
            <a:off x="10707624" y="6382512"/>
            <a:ext cx="685800" cy="320040"/>
          </a:xfrm>
        </p:spPr>
        <p:txBody>
          <a:bodyPr>
            <a:normAutofit/>
          </a:bodyPr>
          <a:lstStyle/>
          <a:p>
            <a:pPr>
              <a:spcAft>
                <a:spcPts val="600"/>
              </a:spcAft>
            </a:pPr>
            <a:fld id="{44AEEC30-8CF3-4C50-9656-40112C31B117}" type="slidenum">
              <a:rPr lang="en-US" altLang="en-US" sz="1000"/>
              <a:pPr>
                <a:spcAft>
                  <a:spcPts val="600"/>
                </a:spcAft>
              </a:pPr>
              <a:t>11</a:t>
            </a:fld>
            <a:endParaRPr lang="en-US" altLang="en-US" sz="1000"/>
          </a:p>
        </p:txBody>
      </p:sp>
    </p:spTree>
  </p:cSld>
  <p:clrMapOvr>
    <a:masterClrMapping/>
  </p:clrMapOvr>
  <p:transition spd="slow"/>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3554" name="Rectangle 2">
            <a:extLst>
              <a:ext uri="{FF2B5EF4-FFF2-40B4-BE49-F238E27FC236}">
                <a16:creationId xmlns:a16="http://schemas.microsoft.com/office/drawing/2014/main" id="{28AF41B0-9A3E-4FE6-844A-D52686D591BA}"/>
              </a:ext>
            </a:extLst>
          </p:cNvPr>
          <p:cNvSpPr>
            <a:spLocks noGrp="1" noChangeArrowheads="1"/>
          </p:cNvSpPr>
          <p:nvPr>
            <p:ph type="title"/>
          </p:nvPr>
        </p:nvSpPr>
        <p:spPr>
          <a:xfrm>
            <a:off x="958506" y="800392"/>
            <a:ext cx="10264697" cy="1212102"/>
          </a:xfrm>
        </p:spPr>
        <p:txBody>
          <a:bodyPr>
            <a:normAutofit/>
          </a:bodyPr>
          <a:lstStyle/>
          <a:p>
            <a:r>
              <a:rPr lang="en-US" altLang="en-US" sz="4000">
                <a:solidFill>
                  <a:srgbClr val="FFFFFF"/>
                </a:solidFill>
              </a:rPr>
              <a:t>Cryptology</a:t>
            </a:r>
          </a:p>
        </p:txBody>
      </p:sp>
      <p:sp>
        <p:nvSpPr>
          <p:cNvPr id="23555" name="Rectangle 3">
            <a:extLst>
              <a:ext uri="{FF2B5EF4-FFF2-40B4-BE49-F238E27FC236}">
                <a16:creationId xmlns:a16="http://schemas.microsoft.com/office/drawing/2014/main" id="{41C288E5-6E2E-4931-8874-1CB5D3F4B6FE}"/>
              </a:ext>
            </a:extLst>
          </p:cNvPr>
          <p:cNvSpPr>
            <a:spLocks noGrp="1" noChangeArrowheads="1"/>
          </p:cNvSpPr>
          <p:nvPr>
            <p:ph type="body" idx="1"/>
          </p:nvPr>
        </p:nvSpPr>
        <p:spPr>
          <a:xfrm>
            <a:off x="1367624" y="2490436"/>
            <a:ext cx="9708995" cy="3567173"/>
          </a:xfrm>
        </p:spPr>
        <p:txBody>
          <a:bodyPr anchor="ctr">
            <a:normAutofit/>
          </a:bodyPr>
          <a:lstStyle/>
          <a:p>
            <a:r>
              <a:rPr lang="en-US" altLang="en-US" sz="2400"/>
              <a:t>Cryptology is the branch of mathematics that studies the mathematical foundations of cryptographic methods.</a:t>
            </a:r>
          </a:p>
          <a:p>
            <a:r>
              <a:rPr lang="en-US" altLang="en-US" sz="2400"/>
              <a:t>Cryptology comes from the Greek words Kryptos, meaning hidden, and Graphen, meaning to write. Cryptology is actually the study of codes and ciphers.</a:t>
            </a:r>
          </a:p>
          <a:p>
            <a:r>
              <a:rPr lang="en-US" altLang="en-US" sz="2400"/>
              <a:t>Cryptology  = both cryptography and cryptanalysis</a:t>
            </a:r>
          </a:p>
        </p:txBody>
      </p:sp>
      <p:sp>
        <p:nvSpPr>
          <p:cNvPr id="5" name="Slide Number Placeholder 4">
            <a:extLst>
              <a:ext uri="{FF2B5EF4-FFF2-40B4-BE49-F238E27FC236}">
                <a16:creationId xmlns:a16="http://schemas.microsoft.com/office/drawing/2014/main" id="{ED221A8F-9FE9-4CFA-8173-9E7FE93247BD}"/>
              </a:ext>
            </a:extLst>
          </p:cNvPr>
          <p:cNvSpPr>
            <a:spLocks noGrp="1"/>
          </p:cNvSpPr>
          <p:nvPr>
            <p:ph type="sldNum" sz="quarter" idx="12"/>
          </p:nvPr>
        </p:nvSpPr>
        <p:spPr>
          <a:xfrm>
            <a:off x="10707624" y="6382512"/>
            <a:ext cx="685800" cy="320040"/>
          </a:xfrm>
        </p:spPr>
        <p:txBody>
          <a:bodyPr>
            <a:normAutofit/>
          </a:bodyPr>
          <a:lstStyle/>
          <a:p>
            <a:pPr>
              <a:spcAft>
                <a:spcPts val="600"/>
              </a:spcAft>
            </a:pPr>
            <a:fld id="{809A4EC0-48AE-4C5F-AC07-C1CF57F9ABDD}" type="slidenum">
              <a:rPr lang="en-US" altLang="en-US" sz="1000"/>
              <a:pPr>
                <a:spcAft>
                  <a:spcPts val="600"/>
                </a:spcAft>
              </a:pPr>
              <a:t>12</a:t>
            </a:fld>
            <a:endParaRPr lang="en-US" altLang="en-US" sz="1000"/>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B7B5DBEE-1912-4695-8E5D-B8EF0E548847}"/>
              </a:ext>
            </a:extLst>
          </p:cNvPr>
          <p:cNvSpPr>
            <a:spLocks noGrp="1"/>
          </p:cNvSpPr>
          <p:nvPr>
            <p:ph type="sldNum" sz="quarter" idx="12"/>
          </p:nvPr>
        </p:nvSpPr>
        <p:spPr>
          <a:xfrm>
            <a:off x="8974667" y="6270915"/>
            <a:ext cx="2810933" cy="628650"/>
          </a:xfrm>
        </p:spPr>
        <p:txBody>
          <a:bodyPr/>
          <a:lstStyle/>
          <a:p>
            <a:fld id="{A4C42C2E-4147-474C-ABD6-BA4A134A380D}" type="slidenum">
              <a:rPr lang="en-US" altLang="en-US"/>
              <a:pPr/>
              <a:t>13</a:t>
            </a:fld>
            <a:endParaRPr lang="en-US" altLang="en-US"/>
          </a:p>
        </p:txBody>
      </p:sp>
      <p:sp>
        <p:nvSpPr>
          <p:cNvPr id="27650" name="Rectangle 2">
            <a:extLst>
              <a:ext uri="{FF2B5EF4-FFF2-40B4-BE49-F238E27FC236}">
                <a16:creationId xmlns:a16="http://schemas.microsoft.com/office/drawing/2014/main" id="{5859611C-253A-4039-8834-B4718C706C75}"/>
              </a:ext>
            </a:extLst>
          </p:cNvPr>
          <p:cNvSpPr>
            <a:spLocks noGrp="1" noChangeArrowheads="1"/>
          </p:cNvSpPr>
          <p:nvPr>
            <p:ph type="title"/>
          </p:nvPr>
        </p:nvSpPr>
        <p:spPr/>
        <p:txBody>
          <a:bodyPr/>
          <a:lstStyle/>
          <a:p>
            <a:r>
              <a:rPr lang="en-US" altLang="en-US"/>
              <a:t>The Key</a:t>
            </a:r>
          </a:p>
        </p:txBody>
      </p:sp>
      <p:sp>
        <p:nvSpPr>
          <p:cNvPr id="27651" name="Rectangle 3">
            <a:extLst>
              <a:ext uri="{FF2B5EF4-FFF2-40B4-BE49-F238E27FC236}">
                <a16:creationId xmlns:a16="http://schemas.microsoft.com/office/drawing/2014/main" id="{364FFBE8-C7CC-4E6D-83FF-8A8D20393A7D}"/>
              </a:ext>
            </a:extLst>
          </p:cNvPr>
          <p:cNvSpPr>
            <a:spLocks noGrp="1" noChangeArrowheads="1"/>
          </p:cNvSpPr>
          <p:nvPr>
            <p:ph type="body" sz="half" idx="1"/>
          </p:nvPr>
        </p:nvSpPr>
        <p:spPr>
          <a:xfrm>
            <a:off x="1981200" y="1524000"/>
            <a:ext cx="4724400" cy="4876800"/>
          </a:xfrm>
        </p:spPr>
        <p:txBody>
          <a:bodyPr/>
          <a:lstStyle/>
          <a:p>
            <a:r>
              <a:rPr lang="en-US" altLang="en-US"/>
              <a:t>All modern algorithms use a key to control encryption and decryption; a message can be decrypted only if the key matches the encryption key. The key used for decryption can be different from the encryption key, but for most algorithms they are the same.</a:t>
            </a:r>
          </a:p>
        </p:txBody>
      </p:sp>
      <p:pic>
        <p:nvPicPr>
          <p:cNvPr id="27652" name="Picture 4">
            <a:extLst>
              <a:ext uri="{FF2B5EF4-FFF2-40B4-BE49-F238E27FC236}">
                <a16:creationId xmlns:a16="http://schemas.microsoft.com/office/drawing/2014/main" id="{AC7BF4D3-A3FC-4EBF-8589-D56253CF6757}"/>
              </a:ext>
            </a:extLst>
          </p:cNvPr>
          <p:cNvPicPr>
            <a:picLocks noGrp="1" noChangeAspect="1" noChangeArrowheads="1"/>
          </p:cNvPicPr>
          <p:nvPr>
            <p:ph type="clipArt" sz="half" idx="2"/>
          </p:nvPr>
        </p:nvPicPr>
        <p:blipFill>
          <a:blip r:embed="rId2">
            <a:clrChange>
              <a:clrFrom>
                <a:srgbClr val="000000"/>
              </a:clrFrom>
              <a:clrTo>
                <a:srgbClr val="000000">
                  <a:alpha val="0"/>
                </a:srgbClr>
              </a:clrTo>
            </a:clrChange>
            <a:extLst>
              <a:ext uri="{28A0092B-C50C-407E-A947-70E740481C1C}">
                <a14:useLocalDpi xmlns:a14="http://schemas.microsoft.com/office/drawing/2010/main" val="0"/>
              </a:ext>
            </a:extLst>
          </a:blip>
          <a:srcRect/>
          <a:stretch>
            <a:fillRect/>
          </a:stretch>
        </p:blipFill>
        <p:spPr>
          <a:xfrm>
            <a:off x="6245226" y="2881314"/>
            <a:ext cx="4117975" cy="2160587"/>
          </a:xfrm>
          <a:noFill/>
          <a:ln/>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28674" name="Rectangle 2">
            <a:extLst>
              <a:ext uri="{FF2B5EF4-FFF2-40B4-BE49-F238E27FC236}">
                <a16:creationId xmlns:a16="http://schemas.microsoft.com/office/drawing/2014/main" id="{1BB1D948-7A41-4626-ADC7-282588173CB4}"/>
              </a:ext>
            </a:extLst>
          </p:cNvPr>
          <p:cNvSpPr>
            <a:spLocks noGrp="1" noChangeArrowheads="1"/>
          </p:cNvSpPr>
          <p:nvPr>
            <p:ph type="title"/>
          </p:nvPr>
        </p:nvSpPr>
        <p:spPr>
          <a:xfrm>
            <a:off x="958506" y="800392"/>
            <a:ext cx="10264697" cy="1212102"/>
          </a:xfrm>
        </p:spPr>
        <p:txBody>
          <a:bodyPr>
            <a:normAutofit/>
          </a:bodyPr>
          <a:lstStyle/>
          <a:p>
            <a:r>
              <a:rPr lang="en-US" altLang="en-US" sz="4000">
                <a:solidFill>
                  <a:srgbClr val="FFFFFF"/>
                </a:solidFill>
              </a:rPr>
              <a:t>Encryption Algorithm Types</a:t>
            </a:r>
          </a:p>
        </p:txBody>
      </p:sp>
      <p:sp>
        <p:nvSpPr>
          <p:cNvPr id="28675" name="Rectangle 3">
            <a:extLst>
              <a:ext uri="{FF2B5EF4-FFF2-40B4-BE49-F238E27FC236}">
                <a16:creationId xmlns:a16="http://schemas.microsoft.com/office/drawing/2014/main" id="{AD174E6B-4379-4D3B-8934-D911FA9B3B52}"/>
              </a:ext>
            </a:extLst>
          </p:cNvPr>
          <p:cNvSpPr>
            <a:spLocks noGrp="1" noChangeArrowheads="1"/>
          </p:cNvSpPr>
          <p:nvPr>
            <p:ph type="body" idx="1"/>
          </p:nvPr>
        </p:nvSpPr>
        <p:spPr>
          <a:xfrm>
            <a:off x="1367624" y="2490436"/>
            <a:ext cx="9708995" cy="3567173"/>
          </a:xfrm>
        </p:spPr>
        <p:txBody>
          <a:bodyPr anchor="ctr">
            <a:normAutofit/>
          </a:bodyPr>
          <a:lstStyle/>
          <a:p>
            <a:r>
              <a:rPr lang="en-US" altLang="en-US" sz="2400" dirty="0"/>
              <a:t>There are two classes of key-based algorithms:</a:t>
            </a:r>
          </a:p>
          <a:p>
            <a:pPr lvl="1"/>
            <a:r>
              <a:rPr lang="en-US" altLang="en-US" b="1" dirty="0"/>
              <a:t>Symmetric (or secret-key)</a:t>
            </a:r>
          </a:p>
          <a:p>
            <a:pPr lvl="1"/>
            <a:r>
              <a:rPr lang="en-US" altLang="en-US" b="1" dirty="0"/>
              <a:t>Asymmetric (or public-key) algorithms</a:t>
            </a:r>
            <a:endParaRPr lang="en-US" altLang="en-US" dirty="0"/>
          </a:p>
          <a:p>
            <a:r>
              <a:rPr lang="en-US" altLang="en-US" sz="2400" dirty="0"/>
              <a:t>The difference is that symmetric algorithms use the same key for encryption and decryption whereas asymmetric algorithms use a different key for encryption and decryption. </a:t>
            </a:r>
          </a:p>
        </p:txBody>
      </p:sp>
      <p:sp>
        <p:nvSpPr>
          <p:cNvPr id="5" name="Slide Number Placeholder 4">
            <a:extLst>
              <a:ext uri="{FF2B5EF4-FFF2-40B4-BE49-F238E27FC236}">
                <a16:creationId xmlns:a16="http://schemas.microsoft.com/office/drawing/2014/main" id="{65322379-962F-42FC-B8EA-3BD97B426C84}"/>
              </a:ext>
            </a:extLst>
          </p:cNvPr>
          <p:cNvSpPr>
            <a:spLocks noGrp="1"/>
          </p:cNvSpPr>
          <p:nvPr>
            <p:ph type="sldNum" sz="quarter" idx="12"/>
          </p:nvPr>
        </p:nvSpPr>
        <p:spPr>
          <a:xfrm>
            <a:off x="10707624" y="6382512"/>
            <a:ext cx="685800" cy="320040"/>
          </a:xfrm>
        </p:spPr>
        <p:txBody>
          <a:bodyPr>
            <a:normAutofit/>
          </a:bodyPr>
          <a:lstStyle/>
          <a:p>
            <a:pPr>
              <a:spcAft>
                <a:spcPts val="600"/>
              </a:spcAft>
            </a:pPr>
            <a:fld id="{20C7ED31-1C62-42D3-AEA9-05688C4CBEC7}" type="slidenum">
              <a:rPr lang="en-US" altLang="en-US" sz="1000"/>
              <a:pPr>
                <a:spcAft>
                  <a:spcPts val="600"/>
                </a:spcAft>
              </a:pPr>
              <a:t>14</a:t>
            </a:fld>
            <a:endParaRPr lang="en-US" altLang="en-US" sz="1000"/>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0722" name="Rectangle 2">
            <a:extLst>
              <a:ext uri="{FF2B5EF4-FFF2-40B4-BE49-F238E27FC236}">
                <a16:creationId xmlns:a16="http://schemas.microsoft.com/office/drawing/2014/main" id="{EB06BDEA-7127-48B1-A9DC-8D2E896C3C43}"/>
              </a:ext>
            </a:extLst>
          </p:cNvPr>
          <p:cNvSpPr>
            <a:spLocks noGrp="1" noChangeArrowheads="1"/>
          </p:cNvSpPr>
          <p:nvPr>
            <p:ph type="title"/>
          </p:nvPr>
        </p:nvSpPr>
        <p:spPr>
          <a:xfrm>
            <a:off x="958506" y="800392"/>
            <a:ext cx="10264697" cy="1212102"/>
          </a:xfrm>
        </p:spPr>
        <p:txBody>
          <a:bodyPr>
            <a:normAutofit/>
          </a:bodyPr>
          <a:lstStyle/>
          <a:p>
            <a:r>
              <a:rPr lang="en-US" altLang="en-US" sz="4000">
                <a:solidFill>
                  <a:srgbClr val="FFFFFF"/>
                </a:solidFill>
              </a:rPr>
              <a:t>Symmetric Algorithms</a:t>
            </a:r>
          </a:p>
        </p:txBody>
      </p:sp>
      <p:sp>
        <p:nvSpPr>
          <p:cNvPr id="30723" name="Rectangle 3">
            <a:extLst>
              <a:ext uri="{FF2B5EF4-FFF2-40B4-BE49-F238E27FC236}">
                <a16:creationId xmlns:a16="http://schemas.microsoft.com/office/drawing/2014/main" id="{6D432BD3-884B-4F23-A12D-23FC6F9929E1}"/>
              </a:ext>
            </a:extLst>
          </p:cNvPr>
          <p:cNvSpPr>
            <a:spLocks noGrp="1" noChangeArrowheads="1"/>
          </p:cNvSpPr>
          <p:nvPr>
            <p:ph type="body" idx="1"/>
          </p:nvPr>
        </p:nvSpPr>
        <p:spPr>
          <a:xfrm>
            <a:off x="1367624" y="2490436"/>
            <a:ext cx="9708995" cy="3567173"/>
          </a:xfrm>
        </p:spPr>
        <p:txBody>
          <a:bodyPr anchor="ctr">
            <a:normAutofit/>
          </a:bodyPr>
          <a:lstStyle/>
          <a:p>
            <a:r>
              <a:rPr lang="en-US" altLang="en-US" sz="2400" dirty="0"/>
              <a:t>Symmetric algorithms can be divided into stream ciphers and block ciphers.</a:t>
            </a:r>
          </a:p>
          <a:p>
            <a:r>
              <a:rPr lang="en-US" altLang="en-US" sz="2400" dirty="0"/>
              <a:t>Stream ciphers can encrypt a single bit of plaintext at a time, whereas </a:t>
            </a:r>
          </a:p>
          <a:p>
            <a:r>
              <a:rPr lang="en-US" altLang="en-US" sz="2400" dirty="0"/>
              <a:t>Block ciphers take a number of bits (typically 64 bits in modern ciphers) and encrypt them as a single unit.</a:t>
            </a:r>
          </a:p>
        </p:txBody>
      </p:sp>
      <p:sp>
        <p:nvSpPr>
          <p:cNvPr id="5" name="Slide Number Placeholder 4">
            <a:extLst>
              <a:ext uri="{FF2B5EF4-FFF2-40B4-BE49-F238E27FC236}">
                <a16:creationId xmlns:a16="http://schemas.microsoft.com/office/drawing/2014/main" id="{D1984DED-9C92-4DD5-85D8-2A81A8271EF8}"/>
              </a:ext>
            </a:extLst>
          </p:cNvPr>
          <p:cNvSpPr>
            <a:spLocks noGrp="1"/>
          </p:cNvSpPr>
          <p:nvPr>
            <p:ph type="sldNum" sz="quarter" idx="12"/>
          </p:nvPr>
        </p:nvSpPr>
        <p:spPr>
          <a:xfrm>
            <a:off x="10707624" y="6382512"/>
            <a:ext cx="685800" cy="320040"/>
          </a:xfrm>
        </p:spPr>
        <p:txBody>
          <a:bodyPr>
            <a:normAutofit/>
          </a:bodyPr>
          <a:lstStyle/>
          <a:p>
            <a:pPr>
              <a:spcAft>
                <a:spcPts val="600"/>
              </a:spcAft>
            </a:pPr>
            <a:fld id="{24A89F2B-D551-4D2F-B747-4B2F80EF656B}" type="slidenum">
              <a:rPr lang="en-US" altLang="en-US" sz="1000"/>
              <a:pPr>
                <a:spcAft>
                  <a:spcPts val="600"/>
                </a:spcAft>
              </a:pPr>
              <a:t>15</a:t>
            </a:fld>
            <a:endParaRPr lang="en-US" altLang="en-US" sz="1000"/>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32770" name="Rectangle 2">
            <a:extLst>
              <a:ext uri="{FF2B5EF4-FFF2-40B4-BE49-F238E27FC236}">
                <a16:creationId xmlns:a16="http://schemas.microsoft.com/office/drawing/2014/main" id="{DDFB5115-03C2-4890-BCC2-7B47222CEF04}"/>
              </a:ext>
            </a:extLst>
          </p:cNvPr>
          <p:cNvSpPr>
            <a:spLocks noGrp="1" noChangeArrowheads="1"/>
          </p:cNvSpPr>
          <p:nvPr>
            <p:ph type="title"/>
          </p:nvPr>
        </p:nvSpPr>
        <p:spPr>
          <a:xfrm>
            <a:off x="958506" y="800392"/>
            <a:ext cx="10264697" cy="1212102"/>
          </a:xfrm>
        </p:spPr>
        <p:txBody>
          <a:bodyPr>
            <a:normAutofit/>
          </a:bodyPr>
          <a:lstStyle/>
          <a:p>
            <a:r>
              <a:rPr lang="en-US" altLang="en-US" sz="4000">
                <a:solidFill>
                  <a:srgbClr val="FFFFFF"/>
                </a:solidFill>
              </a:rPr>
              <a:t>Asymmetric Algorithms</a:t>
            </a:r>
          </a:p>
        </p:txBody>
      </p:sp>
      <p:sp>
        <p:nvSpPr>
          <p:cNvPr id="32771" name="Rectangle 3">
            <a:extLst>
              <a:ext uri="{FF2B5EF4-FFF2-40B4-BE49-F238E27FC236}">
                <a16:creationId xmlns:a16="http://schemas.microsoft.com/office/drawing/2014/main" id="{A531E834-93BC-4907-83AB-CE5257D26A3E}"/>
              </a:ext>
            </a:extLst>
          </p:cNvPr>
          <p:cNvSpPr>
            <a:spLocks noGrp="1" noChangeArrowheads="1"/>
          </p:cNvSpPr>
          <p:nvPr>
            <p:ph type="body" idx="1"/>
          </p:nvPr>
        </p:nvSpPr>
        <p:spPr>
          <a:xfrm>
            <a:off x="1367624" y="2490436"/>
            <a:ext cx="9708995" cy="3567173"/>
          </a:xfrm>
        </p:spPr>
        <p:txBody>
          <a:bodyPr anchor="ctr">
            <a:normAutofit/>
          </a:bodyPr>
          <a:lstStyle/>
          <a:p>
            <a:r>
              <a:rPr lang="en-US" altLang="en-US" sz="2400"/>
              <a:t>Asymmetric ciphers (also called public-key algorithms or generally public-key cryptography) permit the encryption key to be public (it can even be published in a newspaper), allowing anyone to encrypt with the key, whereas only the proper recipient (who knows the decryption key) can decrypt the message. The encryption key is also called the public key and the decryption key the private key or secret key.</a:t>
            </a:r>
          </a:p>
        </p:txBody>
      </p:sp>
      <p:sp>
        <p:nvSpPr>
          <p:cNvPr id="5" name="Slide Number Placeholder 4">
            <a:extLst>
              <a:ext uri="{FF2B5EF4-FFF2-40B4-BE49-F238E27FC236}">
                <a16:creationId xmlns:a16="http://schemas.microsoft.com/office/drawing/2014/main" id="{44474410-46FE-4942-AA79-DF142D963868}"/>
              </a:ext>
            </a:extLst>
          </p:cNvPr>
          <p:cNvSpPr>
            <a:spLocks noGrp="1"/>
          </p:cNvSpPr>
          <p:nvPr>
            <p:ph type="sldNum" sz="quarter" idx="12"/>
          </p:nvPr>
        </p:nvSpPr>
        <p:spPr>
          <a:xfrm>
            <a:off x="10707624" y="6382512"/>
            <a:ext cx="685800" cy="320040"/>
          </a:xfrm>
        </p:spPr>
        <p:txBody>
          <a:bodyPr>
            <a:normAutofit/>
          </a:bodyPr>
          <a:lstStyle/>
          <a:p>
            <a:pPr>
              <a:spcAft>
                <a:spcPts val="600"/>
              </a:spcAft>
            </a:pPr>
            <a:fld id="{83628F38-A2A4-4F80-9C78-969D98E5A30B}" type="slidenum">
              <a:rPr lang="en-US" altLang="en-US" sz="1000"/>
              <a:pPr>
                <a:spcAft>
                  <a:spcPts val="600"/>
                </a:spcAft>
              </a:pPr>
              <a:t>16</a:t>
            </a:fld>
            <a:endParaRPr lang="en-US" altLang="en-US" sz="1000"/>
          </a:p>
        </p:txBody>
      </p:sp>
    </p:spTree>
  </p:cSld>
  <p:clrMapOvr>
    <a:masterClrMapping/>
  </p:clrMapOvr>
  <p:transition spd="slow"/>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3" name="Rectangle 72">
            <a:extLst>
              <a:ext uri="{FF2B5EF4-FFF2-40B4-BE49-F238E27FC236}">
                <a16:creationId xmlns:a16="http://schemas.microsoft.com/office/drawing/2014/main" id="{1707FC24-6981-43D9-B525-C7832BA22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36884" y="311449"/>
            <a:ext cx="4332307"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652" name="Rectangle 2052">
            <a:extLst>
              <a:ext uri="{FF2B5EF4-FFF2-40B4-BE49-F238E27FC236}">
                <a16:creationId xmlns:a16="http://schemas.microsoft.com/office/drawing/2014/main" id="{37075EFE-4293-42B7-A832-761E26AB68A0}"/>
              </a:ext>
            </a:extLst>
          </p:cNvPr>
          <p:cNvSpPr>
            <a:spLocks noGrp="1" noChangeArrowheads="1"/>
          </p:cNvSpPr>
          <p:nvPr>
            <p:ph type="title"/>
          </p:nvPr>
        </p:nvSpPr>
        <p:spPr>
          <a:xfrm>
            <a:off x="742950" y="742951"/>
            <a:ext cx="3476625" cy="4962524"/>
          </a:xfrm>
        </p:spPr>
        <p:txBody>
          <a:bodyPr>
            <a:normAutofit/>
          </a:bodyPr>
          <a:lstStyle/>
          <a:p>
            <a:pPr algn="ctr"/>
            <a:r>
              <a:rPr lang="en-US" altLang="en-US" sz="4800">
                <a:solidFill>
                  <a:srgbClr val="FFFFFF"/>
                </a:solidFill>
              </a:rPr>
              <a:t>Comparison of SE and AE</a:t>
            </a:r>
          </a:p>
        </p:txBody>
      </p:sp>
      <p:pic>
        <p:nvPicPr>
          <p:cNvPr id="155651" name="Picture 2051">
            <a:extLst>
              <a:ext uri="{FF2B5EF4-FFF2-40B4-BE49-F238E27FC236}">
                <a16:creationId xmlns:a16="http://schemas.microsoft.com/office/drawing/2014/main" id="{DE92751E-867C-41F6-A277-E829BC70CB76}"/>
              </a:ext>
            </a:extLst>
          </p:cNvPr>
          <p:cNvPicPr>
            <a:picLocks noGrp="1" noChangeAspect="1" noChangeArrowheads="1"/>
          </p:cNvPicPr>
          <p:nvPr>
            <p:ph type="clipArt" sz="half" idx="4294967295"/>
          </p:nvPr>
        </p:nvPicPr>
        <p:blipFill>
          <a:blip r:embed="rId2">
            <a:extLst>
              <a:ext uri="{28A0092B-C50C-407E-A947-70E740481C1C}">
                <a14:useLocalDpi xmlns:a14="http://schemas.microsoft.com/office/drawing/2010/main" val="0"/>
              </a:ext>
            </a:extLst>
          </a:blip>
          <a:stretch>
            <a:fillRect/>
          </a:stretch>
        </p:blipFill>
        <p:spPr>
          <a:xfrm>
            <a:off x="5153822" y="1318585"/>
            <a:ext cx="6553545" cy="4228771"/>
          </a:xfrm>
          <a:prstGeom prst="rect">
            <a:avLst/>
          </a:prstGeom>
          <a:noFill/>
          <a:extLs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Slide Number Placeholder 4">
            <a:extLst>
              <a:ext uri="{FF2B5EF4-FFF2-40B4-BE49-F238E27FC236}">
                <a16:creationId xmlns:a16="http://schemas.microsoft.com/office/drawing/2014/main" id="{BC472CC1-63E6-416F-904E-0B33E6FDFE7B}"/>
              </a:ext>
            </a:extLst>
          </p:cNvPr>
          <p:cNvSpPr>
            <a:spLocks noGrp="1"/>
          </p:cNvSpPr>
          <p:nvPr>
            <p:ph type="sldNum" sz="quarter" idx="12"/>
          </p:nvPr>
        </p:nvSpPr>
        <p:spPr>
          <a:xfrm>
            <a:off x="10926317" y="6423025"/>
            <a:ext cx="771525" cy="365125"/>
          </a:xfrm>
        </p:spPr>
        <p:txBody>
          <a:bodyPr>
            <a:normAutofit/>
          </a:bodyPr>
          <a:lstStyle/>
          <a:p>
            <a:pPr>
              <a:spcAft>
                <a:spcPts val="600"/>
              </a:spcAft>
            </a:pPr>
            <a:fld id="{9E9B2DE0-8C05-460A-8165-45E5AAF616ED}" type="slidenum">
              <a:rPr lang="en-US" altLang="en-US" smtClean="0"/>
              <a:pPr>
                <a:spcAft>
                  <a:spcPts val="600"/>
                </a:spcAft>
              </a:pPr>
              <a:t>17</a:t>
            </a:fld>
            <a:endParaRPr lang="en-US" altLang="en-US"/>
          </a:p>
        </p:txBody>
      </p:sp>
    </p:spTree>
  </p:cSld>
  <p:clrMapOvr>
    <a:masterClrMapping/>
  </p:clrMapOvr>
  <p:transition spd="slow"/>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5339FC-9D75-4026-89D4-1048D0649BD8}"/>
              </a:ext>
            </a:extLst>
          </p:cNvPr>
          <p:cNvSpPr>
            <a:spLocks noGrp="1"/>
          </p:cNvSpPr>
          <p:nvPr>
            <p:ph type="title"/>
          </p:nvPr>
        </p:nvSpPr>
        <p:spPr>
          <a:xfrm>
            <a:off x="341612" y="212035"/>
            <a:ext cx="11532336" cy="5552661"/>
          </a:xfrm>
        </p:spPr>
        <p:txBody>
          <a:bodyPr>
            <a:normAutofit/>
          </a:bodyPr>
          <a:lstStyle/>
          <a:p>
            <a:br>
              <a:rPr lang="en-US" dirty="0"/>
            </a:br>
            <a:r>
              <a:rPr lang="en-US" dirty="0">
                <a:hlinkClick r:id="rId2"/>
              </a:rPr>
              <a:t>https://www.youtube.com/watch?v=6-JjHa-qLPk&amp;t=155s</a:t>
            </a:r>
            <a:br>
              <a:rPr lang="en-US" dirty="0"/>
            </a:br>
            <a:r>
              <a:rPr lang="en-US" dirty="0">
                <a:hlinkClick r:id="rId3"/>
              </a:rPr>
              <a:t>https://www.youtube.com/watch?v=r4HQ8Bp-pfw</a:t>
            </a:r>
            <a:br>
              <a:rPr lang="en-US" dirty="0"/>
            </a:br>
            <a:br>
              <a:rPr lang="en-US" dirty="0"/>
            </a:br>
            <a:br>
              <a:rPr lang="en-US" dirty="0"/>
            </a:br>
            <a:br>
              <a:rPr lang="en-US" dirty="0"/>
            </a:br>
            <a:endParaRPr lang="en-US" dirty="0"/>
          </a:p>
        </p:txBody>
      </p:sp>
    </p:spTree>
    <p:extLst>
      <p:ext uri="{BB962C8B-B14F-4D97-AF65-F5344CB8AC3E}">
        <p14:creationId xmlns:p14="http://schemas.microsoft.com/office/powerpoint/2010/main" val="2620152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CB0C1-5FFC-453B-9C8A-410F0CA2A379}"/>
              </a:ext>
            </a:extLst>
          </p:cNvPr>
          <p:cNvSpPr>
            <a:spLocks noGrp="1"/>
          </p:cNvSpPr>
          <p:nvPr>
            <p:ph type="title"/>
          </p:nvPr>
        </p:nvSpPr>
        <p:spPr>
          <a:xfrm>
            <a:off x="838200" y="365125"/>
            <a:ext cx="10515600" cy="3703292"/>
          </a:xfrm>
        </p:spPr>
        <p:txBody>
          <a:bodyPr/>
          <a:lstStyle/>
          <a:p>
            <a:r>
              <a:rPr lang="en-US" dirty="0">
                <a:hlinkClick r:id="rId2"/>
              </a:rPr>
              <a:t>https://www.youtube.com/watch?v=AQDCe585Lnc</a:t>
            </a:r>
            <a:endParaRPr lang="en-US" dirty="0"/>
          </a:p>
        </p:txBody>
      </p:sp>
    </p:spTree>
    <p:extLst>
      <p:ext uri="{BB962C8B-B14F-4D97-AF65-F5344CB8AC3E}">
        <p14:creationId xmlns:p14="http://schemas.microsoft.com/office/powerpoint/2010/main" val="35371415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45410" name="Rectangle 1026">
            <a:extLst>
              <a:ext uri="{FF2B5EF4-FFF2-40B4-BE49-F238E27FC236}">
                <a16:creationId xmlns:a16="http://schemas.microsoft.com/office/drawing/2014/main" id="{2E3CE4E2-99C0-4C1E-B181-DC7139184CFF}"/>
              </a:ext>
            </a:extLst>
          </p:cNvPr>
          <p:cNvSpPr>
            <a:spLocks noGrp="1" noChangeArrowheads="1"/>
          </p:cNvSpPr>
          <p:nvPr>
            <p:ph type="title"/>
          </p:nvPr>
        </p:nvSpPr>
        <p:spPr>
          <a:xfrm>
            <a:off x="958506" y="800392"/>
            <a:ext cx="10264697" cy="1212102"/>
          </a:xfrm>
        </p:spPr>
        <p:txBody>
          <a:bodyPr>
            <a:normAutofit/>
          </a:bodyPr>
          <a:lstStyle/>
          <a:p>
            <a:r>
              <a:rPr lang="en-US" altLang="en-US" sz="4000" dirty="0">
                <a:solidFill>
                  <a:srgbClr val="FFFFFF"/>
                </a:solidFill>
              </a:rPr>
              <a:t>Cryptography vs Steganography</a:t>
            </a:r>
          </a:p>
        </p:txBody>
      </p:sp>
      <p:sp>
        <p:nvSpPr>
          <p:cNvPr id="145411" name="Rectangle 1027">
            <a:extLst>
              <a:ext uri="{FF2B5EF4-FFF2-40B4-BE49-F238E27FC236}">
                <a16:creationId xmlns:a16="http://schemas.microsoft.com/office/drawing/2014/main" id="{7CD3625D-71EF-42F7-A937-BDCD6A2AAE49}"/>
              </a:ext>
            </a:extLst>
          </p:cNvPr>
          <p:cNvSpPr>
            <a:spLocks noGrp="1" noChangeArrowheads="1"/>
          </p:cNvSpPr>
          <p:nvPr>
            <p:ph type="body" idx="1"/>
          </p:nvPr>
        </p:nvSpPr>
        <p:spPr>
          <a:xfrm>
            <a:off x="1367624" y="2490436"/>
            <a:ext cx="9708995" cy="3567173"/>
          </a:xfrm>
        </p:spPr>
        <p:txBody>
          <a:bodyPr anchor="ctr">
            <a:normAutofit/>
          </a:bodyPr>
          <a:lstStyle/>
          <a:p>
            <a:r>
              <a:rPr lang="en-US" altLang="en-US" sz="2400" dirty="0"/>
              <a:t>What is steganography?</a:t>
            </a:r>
          </a:p>
          <a:p>
            <a:pPr marL="0" indent="0">
              <a:buNone/>
            </a:pPr>
            <a:endParaRPr lang="en-US" altLang="en-US" sz="1700" dirty="0"/>
          </a:p>
          <a:p>
            <a:pPr marL="0" indent="0">
              <a:buNone/>
            </a:pPr>
            <a:r>
              <a:rPr lang="en-US" altLang="en-US" sz="2000" dirty="0"/>
              <a:t>Steganography simply takes one piece of information and hides it within another. Computer files (images, sounds recordings, even disks) contain unused or insignificant areas of data. Steganography takes advantage of these areas, replacing them with information (encrypted mail, for instance). The files can then be exchanged without anyone knowing what really lies inside of them. An image of the space shuttle landing might contain a private letter to a friend. A recording of a short sentence might contain your company's plans for a secret new product. Steganography can also be used to place a hidden "trademark" in images, music, and software, a technique referred to as watermarking.</a:t>
            </a:r>
            <a:r>
              <a:rPr lang="en-US" altLang="en-US" sz="1700" dirty="0"/>
              <a:t> </a:t>
            </a:r>
          </a:p>
        </p:txBody>
      </p:sp>
      <p:sp>
        <p:nvSpPr>
          <p:cNvPr id="5" name="Slide Number Placeholder 5">
            <a:extLst>
              <a:ext uri="{FF2B5EF4-FFF2-40B4-BE49-F238E27FC236}">
                <a16:creationId xmlns:a16="http://schemas.microsoft.com/office/drawing/2014/main" id="{66FC506E-4BAA-4E77-84CB-CF34BD87AAD9}"/>
              </a:ext>
            </a:extLst>
          </p:cNvPr>
          <p:cNvSpPr>
            <a:spLocks noGrp="1"/>
          </p:cNvSpPr>
          <p:nvPr>
            <p:ph type="sldNum" sz="quarter" idx="12"/>
          </p:nvPr>
        </p:nvSpPr>
        <p:spPr>
          <a:xfrm>
            <a:off x="10707624" y="6382512"/>
            <a:ext cx="685800" cy="320040"/>
          </a:xfrm>
        </p:spPr>
        <p:txBody>
          <a:bodyPr>
            <a:normAutofit/>
          </a:bodyPr>
          <a:lstStyle/>
          <a:p>
            <a:pPr>
              <a:spcAft>
                <a:spcPts val="600"/>
              </a:spcAft>
            </a:pPr>
            <a:fld id="{FEB7C627-A7AD-41BD-887F-F967C9B3DCFD}" type="slidenum">
              <a:rPr lang="en-US" altLang="en-US" sz="1000"/>
              <a:pPr>
                <a:spcAft>
                  <a:spcPts val="600"/>
                </a:spcAft>
              </a:pPr>
              <a:t>20</a:t>
            </a:fld>
            <a:endParaRPr lang="en-US" altLang="en-US" sz="10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895600" y="4718304"/>
            <a:ext cx="3182112" cy="216408"/>
          </a:xfrm>
          <a:prstGeom prst="rect">
            <a:avLst/>
          </a:prstGeom>
        </p:spPr>
      </p:pic>
      <p:pic>
        <p:nvPicPr>
          <p:cNvPr id="3" name="Picture 2"/>
          <p:cNvPicPr>
            <a:picLocks noChangeAspect="1"/>
          </p:cNvPicPr>
          <p:nvPr/>
        </p:nvPicPr>
        <p:blipFill>
          <a:blip r:embed="rId3"/>
          <a:stretch>
            <a:fillRect/>
          </a:stretch>
        </p:blipFill>
        <p:spPr>
          <a:xfrm>
            <a:off x="6641592" y="2343912"/>
            <a:ext cx="3240024" cy="2602992"/>
          </a:xfrm>
          <a:prstGeom prst="rect">
            <a:avLst/>
          </a:prstGeom>
        </p:spPr>
      </p:pic>
      <p:sp>
        <p:nvSpPr>
          <p:cNvPr id="7" name="Rectangle 6"/>
          <p:cNvSpPr/>
          <p:nvPr/>
        </p:nvSpPr>
        <p:spPr>
          <a:xfrm>
            <a:off x="1984248" y="350520"/>
            <a:ext cx="1816608" cy="451104"/>
          </a:xfrm>
          <a:prstGeom prst="rect">
            <a:avLst/>
          </a:prstGeom>
        </p:spPr>
        <p:txBody>
          <a:bodyPr wrap="none" lIns="0" tIns="0" rIns="0" bIns="0">
            <a:normAutofit fontScale="75000" lnSpcReduction="20000"/>
          </a:bodyPr>
          <a:lstStyle/>
          <a:p>
            <a:pPr>
              <a:lnSpc>
                <a:spcPts val="3880"/>
              </a:lnSpc>
            </a:pPr>
            <a:r>
              <a:rPr lang="en-US" sz="3500">
                <a:latin typeface="Times New Roman"/>
              </a:rPr>
              <a:t>Examples</a:t>
            </a:r>
          </a:p>
        </p:txBody>
      </p:sp>
      <p:sp>
        <p:nvSpPr>
          <p:cNvPr id="8" name="Rectangle 7"/>
          <p:cNvSpPr/>
          <p:nvPr/>
        </p:nvSpPr>
        <p:spPr>
          <a:xfrm>
            <a:off x="3749040" y="1895856"/>
            <a:ext cx="1496568" cy="286512"/>
          </a:xfrm>
          <a:prstGeom prst="rect">
            <a:avLst/>
          </a:prstGeom>
        </p:spPr>
        <p:txBody>
          <a:bodyPr wrap="none" lIns="0" tIns="0" rIns="0" bIns="0">
            <a:normAutofit fontScale="97500"/>
          </a:bodyPr>
          <a:lstStyle/>
          <a:p>
            <a:pPr>
              <a:lnSpc>
                <a:spcPts val="1900"/>
              </a:lnSpc>
            </a:pPr>
            <a:r>
              <a:rPr lang="en-US" sz="1700" b="1">
                <a:solidFill>
                  <a:srgbClr val="23476D"/>
                </a:solidFill>
                <a:latin typeface="Arial"/>
              </a:rPr>
              <a:t>Cryptography</a:t>
            </a:r>
          </a:p>
        </p:txBody>
      </p:sp>
      <p:graphicFrame>
        <p:nvGraphicFramePr>
          <p:cNvPr id="9" name="Table 8"/>
          <p:cNvGraphicFramePr>
            <a:graphicFrameLocks noGrp="1"/>
          </p:cNvGraphicFramePr>
          <p:nvPr/>
        </p:nvGraphicFramePr>
        <p:xfrm>
          <a:off x="2886456" y="2938272"/>
          <a:ext cx="2980944" cy="1252728"/>
        </p:xfrm>
        <a:graphic>
          <a:graphicData uri="http://schemas.openxmlformats.org/drawingml/2006/table">
            <a:tbl>
              <a:tblPr/>
              <a:tblGrid>
                <a:gridCol w="554736">
                  <a:extLst>
                    <a:ext uri="{9D8B030D-6E8A-4147-A177-3AD203B41FA5}">
                      <a16:colId xmlns:a16="http://schemas.microsoft.com/office/drawing/2014/main" val="20000"/>
                    </a:ext>
                  </a:extLst>
                </a:gridCol>
                <a:gridCol w="390144">
                  <a:extLst>
                    <a:ext uri="{9D8B030D-6E8A-4147-A177-3AD203B41FA5}">
                      <a16:colId xmlns:a16="http://schemas.microsoft.com/office/drawing/2014/main" val="20001"/>
                    </a:ext>
                  </a:extLst>
                </a:gridCol>
                <a:gridCol w="310896">
                  <a:extLst>
                    <a:ext uri="{9D8B030D-6E8A-4147-A177-3AD203B41FA5}">
                      <a16:colId xmlns:a16="http://schemas.microsoft.com/office/drawing/2014/main" val="20002"/>
                    </a:ext>
                  </a:extLst>
                </a:gridCol>
                <a:gridCol w="368808">
                  <a:extLst>
                    <a:ext uri="{9D8B030D-6E8A-4147-A177-3AD203B41FA5}">
                      <a16:colId xmlns:a16="http://schemas.microsoft.com/office/drawing/2014/main" val="20003"/>
                    </a:ext>
                  </a:extLst>
                </a:gridCol>
                <a:gridCol w="344424">
                  <a:extLst>
                    <a:ext uri="{9D8B030D-6E8A-4147-A177-3AD203B41FA5}">
                      <a16:colId xmlns:a16="http://schemas.microsoft.com/office/drawing/2014/main" val="20004"/>
                    </a:ext>
                  </a:extLst>
                </a:gridCol>
                <a:gridCol w="329184">
                  <a:extLst>
                    <a:ext uri="{9D8B030D-6E8A-4147-A177-3AD203B41FA5}">
                      <a16:colId xmlns:a16="http://schemas.microsoft.com/office/drawing/2014/main" val="20005"/>
                    </a:ext>
                  </a:extLst>
                </a:gridCol>
                <a:gridCol w="387096">
                  <a:extLst>
                    <a:ext uri="{9D8B030D-6E8A-4147-A177-3AD203B41FA5}">
                      <a16:colId xmlns:a16="http://schemas.microsoft.com/office/drawing/2014/main" val="20006"/>
                    </a:ext>
                  </a:extLst>
                </a:gridCol>
                <a:gridCol w="295656">
                  <a:extLst>
                    <a:ext uri="{9D8B030D-6E8A-4147-A177-3AD203B41FA5}">
                      <a16:colId xmlns:a16="http://schemas.microsoft.com/office/drawing/2014/main" val="20007"/>
                    </a:ext>
                  </a:extLst>
                </a:gridCol>
              </a:tblGrid>
              <a:tr h="155448">
                <a:tc gridSpan="2">
                  <a:txBody>
                    <a:bodyPr/>
                    <a:lstStyle/>
                    <a:p>
                      <a:pPr indent="0" algn="r">
                        <a:lnSpc>
                          <a:spcPts val="770"/>
                        </a:lnSpc>
                      </a:pPr>
                      <a:r>
                        <a:rPr lang="en-US" sz="700">
                          <a:solidFill>
                            <a:srgbClr val="7D7360"/>
                          </a:solidFill>
                          <a:latin typeface="Times New Roman"/>
                        </a:rPr>
                        <a:t>H6R MUt DC C</a:t>
                      </a:r>
                    </a:p>
                  </a:txBody>
                  <a:tcPr marL="0" marR="0" marT="0" marB="0" anchor="ctr">
                    <a:solidFill>
                      <a:srgbClr val="E9E0C6"/>
                    </a:solidFill>
                  </a:tcPr>
                </a:tc>
                <a:tc hMerge="1">
                  <a:txBody>
                    <a:bodyPr/>
                    <a:lstStyle/>
                    <a:p>
                      <a:endParaRPr sz="800"/>
                    </a:p>
                  </a:txBody>
                  <a:tcPr marL="0" marR="0" marT="0" marB="0"/>
                </a:tc>
                <a:tc>
                  <a:txBody>
                    <a:bodyPr/>
                    <a:lstStyle/>
                    <a:p>
                      <a:pPr marL="88900" indent="0">
                        <a:lnSpc>
                          <a:spcPts val="660"/>
                        </a:lnSpc>
                      </a:pPr>
                      <a:r>
                        <a:rPr lang="en-US" sz="550">
                          <a:solidFill>
                            <a:srgbClr val="7D7360"/>
                          </a:solidFill>
                          <a:latin typeface="Times New Roman"/>
                        </a:rPr>
                        <a:t>1&gt;4t»</a:t>
                      </a:r>
                    </a:p>
                  </a:txBody>
                  <a:tcPr marL="0" marR="0" marT="0" marB="0" anchor="ctr">
                    <a:solidFill>
                      <a:srgbClr val="E9E0C6"/>
                    </a:solidFill>
                  </a:tcPr>
                </a:tc>
                <a:tc>
                  <a:txBody>
                    <a:bodyPr/>
                    <a:lstStyle/>
                    <a:p>
                      <a:pPr indent="0">
                        <a:lnSpc>
                          <a:spcPts val="660"/>
                        </a:lnSpc>
                      </a:pPr>
                      <a:r>
                        <a:rPr lang="en-US" sz="550">
                          <a:solidFill>
                            <a:srgbClr val="7D7360"/>
                          </a:solidFill>
                          <a:latin typeface="Times New Roman"/>
                        </a:rPr>
                        <a:t>- JTL£</a:t>
                      </a:r>
                    </a:p>
                  </a:txBody>
                  <a:tcPr marL="0" marR="0" marT="0" marB="0" anchor="ctr">
                    <a:solidFill>
                      <a:srgbClr val="E9E0C6"/>
                    </a:solidFill>
                  </a:tcPr>
                </a:tc>
                <a:tc>
                  <a:txBody>
                    <a:bodyPr/>
                    <a:lstStyle/>
                    <a:p>
                      <a:pPr indent="0">
                        <a:lnSpc>
                          <a:spcPts val="660"/>
                        </a:lnSpc>
                      </a:pPr>
                      <a:r>
                        <a:rPr lang="en-US" sz="550">
                          <a:solidFill>
                            <a:srgbClr val="7D7360"/>
                          </a:solidFill>
                          <a:latin typeface="Times New Roman"/>
                        </a:rPr>
                        <a:t>- 2TL</a:t>
                      </a:r>
                    </a:p>
                  </a:txBody>
                  <a:tcPr marL="0" marR="0" marT="0" marB="0" anchor="ctr">
                    <a:solidFill>
                      <a:srgbClr val="E9E0C6"/>
                    </a:solidFill>
                  </a:tcPr>
                </a:tc>
                <a:tc>
                  <a:txBody>
                    <a:bodyPr/>
                    <a:lstStyle/>
                    <a:p>
                      <a:pPr indent="0">
                        <a:lnSpc>
                          <a:spcPts val="660"/>
                        </a:lnSpc>
                      </a:pPr>
                      <a:r>
                        <a:rPr lang="en-US" sz="550">
                          <a:solidFill>
                            <a:srgbClr val="7D7360"/>
                          </a:solidFill>
                          <a:latin typeface="Times New Roman"/>
                        </a:rPr>
                        <a:t>224 -</a:t>
                      </a:r>
                    </a:p>
                  </a:txBody>
                  <a:tcPr marL="0" marR="0" marT="0" marB="0" anchor="ctr">
                    <a:solidFill>
                      <a:srgbClr val="E9E0C6"/>
                    </a:solidFill>
                  </a:tcPr>
                </a:tc>
                <a:tc>
                  <a:txBody>
                    <a:bodyPr/>
                    <a:lstStyle/>
                    <a:p>
                      <a:pPr indent="0">
                        <a:lnSpc>
                          <a:spcPts val="770"/>
                        </a:lnSpc>
                      </a:pPr>
                      <a:r>
                        <a:rPr lang="en-US" sz="700">
                          <a:solidFill>
                            <a:srgbClr val="7D7360"/>
                          </a:solidFill>
                          <a:latin typeface="Times New Roman"/>
                        </a:rPr>
                        <a:t>HUV XNQ</a:t>
                      </a:r>
                    </a:p>
                  </a:txBody>
                  <a:tcPr marL="0" marR="0" marT="0" marB="0" anchor="ctr">
                    <a:solidFill>
                      <a:srgbClr val="E9E0C6"/>
                    </a:solidFill>
                  </a:tcPr>
                </a:tc>
                <a:tc>
                  <a:txBody>
                    <a:bodyPr/>
                    <a:lstStyle/>
                    <a:p>
                      <a:pPr indent="0">
                        <a:lnSpc>
                          <a:spcPts val="770"/>
                        </a:lnSpc>
                      </a:pPr>
                      <a:r>
                        <a:rPr lang="en-US" sz="700">
                          <a:solidFill>
                            <a:srgbClr val="7D7360"/>
                          </a:solidFill>
                          <a:latin typeface="Times New Roman"/>
                        </a:rPr>
                        <a:t>•</a:t>
                      </a:r>
                    </a:p>
                  </a:txBody>
                  <a:tcPr marL="0" marR="0" marT="0" marB="0" anchor="ctr">
                    <a:solidFill>
                      <a:srgbClr val="E9E0C6"/>
                    </a:solidFill>
                  </a:tcPr>
                </a:tc>
                <a:extLst>
                  <a:ext uri="{0D108BD9-81ED-4DB2-BD59-A6C34878D82A}">
                    <a16:rowId xmlns:a16="http://schemas.microsoft.com/office/drawing/2014/main" val="10000"/>
                  </a:ext>
                </a:extLst>
              </a:tr>
              <a:tr h="158496">
                <a:tc>
                  <a:txBody>
                    <a:bodyPr/>
                    <a:lstStyle/>
                    <a:p>
                      <a:pPr indent="0" algn="r">
                        <a:lnSpc>
                          <a:spcPts val="770"/>
                        </a:lnSpc>
                      </a:pPr>
                      <a:r>
                        <a:rPr lang="en-US" sz="700">
                          <a:solidFill>
                            <a:srgbClr val="7D7360"/>
                          </a:solidFill>
                          <a:latin typeface="Times New Roman"/>
                        </a:rPr>
                        <a:t>DKftKI</a:t>
                      </a:r>
                    </a:p>
                  </a:txBody>
                  <a:tcPr marL="0" marR="0" marT="0" marB="0" anchor="ctr">
                    <a:solidFill>
                      <a:srgbClr val="E9E0C6"/>
                    </a:solidFill>
                  </a:tcPr>
                </a:tc>
                <a:tc>
                  <a:txBody>
                    <a:bodyPr/>
                    <a:lstStyle/>
                    <a:p>
                      <a:pPr indent="0">
                        <a:lnSpc>
                          <a:spcPts val="660"/>
                        </a:lnSpc>
                      </a:pPr>
                      <a:r>
                        <a:rPr lang="en-US" sz="550">
                          <a:solidFill>
                            <a:srgbClr val="7D7360"/>
                          </a:solidFill>
                          <a:latin typeface="Times New Roman"/>
                        </a:rPr>
                        <a:t>CUZAF</a:t>
                      </a:r>
                    </a:p>
                  </a:txBody>
                  <a:tcPr marL="0" marR="0" marT="0" marB="0" anchor="ctr">
                    <a:solidFill>
                      <a:srgbClr val="E9E0C6"/>
                    </a:solidFill>
                  </a:tcPr>
                </a:tc>
                <a:tc>
                  <a:txBody>
                    <a:bodyPr/>
                    <a:lstStyle/>
                    <a:p>
                      <a:pPr indent="0">
                        <a:lnSpc>
                          <a:spcPts val="550"/>
                        </a:lnSpc>
                      </a:pPr>
                      <a:r>
                        <a:rPr lang="en-US" sz="500">
                          <a:solidFill>
                            <a:srgbClr val="7D7360"/>
                          </a:solidFill>
                          <a:latin typeface="Times New Roman"/>
                        </a:rPr>
                        <a:t>MHSDC</a:t>
                      </a:r>
                    </a:p>
                  </a:txBody>
                  <a:tcPr marL="0" marR="0" marT="0" marB="0" anchor="ctr">
                    <a:solidFill>
                      <a:srgbClr val="E9E0C6"/>
                    </a:solidFill>
                  </a:tcPr>
                </a:tc>
                <a:tc>
                  <a:txBody>
                    <a:bodyPr/>
                    <a:lstStyle/>
                    <a:p>
                      <a:pPr indent="0">
                        <a:lnSpc>
                          <a:spcPts val="770"/>
                        </a:lnSpc>
                      </a:pPr>
                      <a:r>
                        <a:rPr lang="en-US" sz="700">
                          <a:solidFill>
                            <a:srgbClr val="696464"/>
                          </a:solidFill>
                          <a:latin typeface="Times New Roman"/>
                        </a:rPr>
                        <a:t>AW XV J</a:t>
                      </a:r>
                    </a:p>
                  </a:txBody>
                  <a:tcPr marL="0" marR="0" marT="0" marB="0" anchor="ctr">
                    <a:solidFill>
                      <a:srgbClr val="E9E0C6"/>
                    </a:solidFill>
                  </a:tcPr>
                </a:tc>
                <a:tc>
                  <a:txBody>
                    <a:bodyPr/>
                    <a:lstStyle/>
                    <a:p>
                      <a:pPr indent="0">
                        <a:lnSpc>
                          <a:spcPts val="770"/>
                        </a:lnSpc>
                      </a:pPr>
                      <a:r>
                        <a:rPr lang="en-US" sz="700">
                          <a:solidFill>
                            <a:srgbClr val="696464"/>
                          </a:solidFill>
                          <a:latin typeface="Times New Roman"/>
                        </a:rPr>
                        <a:t>CVZMH</a:t>
                      </a:r>
                    </a:p>
                  </a:txBody>
                  <a:tcPr marL="0" marR="0" marT="0" marB="0" anchor="ctr">
                    <a:solidFill>
                      <a:srgbClr val="E9E0C6"/>
                    </a:solidFill>
                  </a:tcPr>
                </a:tc>
                <a:tc>
                  <a:txBody>
                    <a:bodyPr/>
                    <a:lstStyle/>
                    <a:p>
                      <a:pPr indent="0">
                        <a:lnSpc>
                          <a:spcPts val="660"/>
                        </a:lnSpc>
                      </a:pPr>
                      <a:r>
                        <a:rPr lang="en-US" sz="550">
                          <a:solidFill>
                            <a:srgbClr val="7D7360"/>
                          </a:solidFill>
                          <a:latin typeface="Times New Roman"/>
                        </a:rPr>
                        <a:t>DKQZ*</a:t>
                      </a:r>
                    </a:p>
                  </a:txBody>
                  <a:tcPr marL="0" marR="0" marT="0" marB="0" anchor="ctr">
                    <a:solidFill>
                      <a:srgbClr val="E9E0C6"/>
                    </a:solidFill>
                  </a:tcPr>
                </a:tc>
                <a:tc>
                  <a:txBody>
                    <a:bodyPr/>
                    <a:lstStyle/>
                    <a:p>
                      <a:pPr indent="0">
                        <a:lnSpc>
                          <a:spcPts val="770"/>
                        </a:lnSpc>
                      </a:pPr>
                      <a:r>
                        <a:rPr lang="en-US" sz="700">
                          <a:solidFill>
                            <a:srgbClr val="7D7360"/>
                          </a:solidFill>
                          <a:latin typeface="Times New Roman"/>
                        </a:rPr>
                        <a:t>HVRJC</a:t>
                      </a:r>
                    </a:p>
                  </a:txBody>
                  <a:tcPr marL="0" marR="0" marT="0" marB="0" anchor="ctr">
                    <a:solidFill>
                      <a:srgbClr val="E9E0C6"/>
                    </a:solidFill>
                  </a:tcPr>
                </a:tc>
                <a:tc>
                  <a:txBody>
                    <a:bodyPr/>
                    <a:lstStyle/>
                    <a:p>
                      <a:pPr indent="0">
                        <a:lnSpc>
                          <a:spcPts val="770"/>
                        </a:lnSpc>
                      </a:pPr>
                      <a:r>
                        <a:rPr lang="en-US" sz="700">
                          <a:solidFill>
                            <a:srgbClr val="7D7360"/>
                          </a:solidFill>
                          <a:latin typeface="Times New Roman"/>
                        </a:rPr>
                        <a:t>KAJV3</a:t>
                      </a:r>
                    </a:p>
                  </a:txBody>
                  <a:tcPr marL="0" marR="0" marT="0" marB="0" anchor="ctr">
                    <a:solidFill>
                      <a:srgbClr val="E9E0C6"/>
                    </a:solidFill>
                  </a:tcPr>
                </a:tc>
                <a:extLst>
                  <a:ext uri="{0D108BD9-81ED-4DB2-BD59-A6C34878D82A}">
                    <a16:rowId xmlns:a16="http://schemas.microsoft.com/office/drawing/2014/main" val="10001"/>
                  </a:ext>
                </a:extLst>
              </a:tr>
              <a:tr h="170688">
                <a:tc>
                  <a:txBody>
                    <a:bodyPr/>
                    <a:lstStyle/>
                    <a:p>
                      <a:pPr indent="0" algn="r">
                        <a:lnSpc>
                          <a:spcPts val="660"/>
                        </a:lnSpc>
                      </a:pPr>
                      <a:r>
                        <a:rPr lang="en-US" sz="550">
                          <a:solidFill>
                            <a:srgbClr val="7D7360"/>
                          </a:solidFill>
                          <a:latin typeface="Times New Roman"/>
                        </a:rPr>
                        <a:t>ELM I fc</a:t>
                      </a:r>
                    </a:p>
                  </a:txBody>
                  <a:tcPr marL="0" marR="0" marT="0" marB="0" anchor="ctr">
                    <a:solidFill>
                      <a:srgbClr val="E9E0C6"/>
                    </a:solidFill>
                  </a:tcPr>
                </a:tc>
                <a:tc>
                  <a:txBody>
                    <a:bodyPr/>
                    <a:lstStyle/>
                    <a:p>
                      <a:pPr indent="0">
                        <a:lnSpc>
                          <a:spcPts val="660"/>
                        </a:lnSpc>
                      </a:pPr>
                      <a:r>
                        <a:rPr lang="en-US" sz="550">
                          <a:solidFill>
                            <a:srgbClr val="7D7360"/>
                          </a:solidFill>
                          <a:latin typeface="Times New Roman"/>
                        </a:rPr>
                        <a:t>XDUUF</a:t>
                      </a:r>
                    </a:p>
                  </a:txBody>
                  <a:tcPr marL="0" marR="0" marT="0" marB="0" anchor="ctr">
                    <a:solidFill>
                      <a:srgbClr val="E9E0C6"/>
                    </a:solidFill>
                  </a:tcPr>
                </a:tc>
                <a:tc>
                  <a:txBody>
                    <a:bodyPr/>
                    <a:lstStyle/>
                    <a:p>
                      <a:pPr indent="0">
                        <a:lnSpc>
                          <a:spcPts val="660"/>
                        </a:lnSpc>
                      </a:pPr>
                      <a:r>
                        <a:rPr lang="en-US" sz="550">
                          <a:solidFill>
                            <a:srgbClr val="7D7360"/>
                          </a:solidFill>
                          <a:latin typeface="Times New Roman"/>
                        </a:rPr>
                        <a:t>ECEGN</a:t>
                      </a:r>
                    </a:p>
                  </a:txBody>
                  <a:tcPr marL="0" marR="0" marT="0" marB="0" anchor="ctr">
                    <a:solidFill>
                      <a:srgbClr val="E9E0C6"/>
                    </a:solidFill>
                  </a:tcPr>
                </a:tc>
                <a:tc>
                  <a:txBody>
                    <a:bodyPr/>
                    <a:lstStyle/>
                    <a:p>
                      <a:pPr indent="0">
                        <a:lnSpc>
                          <a:spcPts val="660"/>
                        </a:lnSpc>
                      </a:pPr>
                      <a:r>
                        <a:rPr lang="en-US" sz="550">
                          <a:solidFill>
                            <a:srgbClr val="7D7360"/>
                          </a:solidFill>
                          <a:latin typeface="Times New Roman"/>
                        </a:rPr>
                        <a:t>OUXNQ</a:t>
                      </a:r>
                    </a:p>
                  </a:txBody>
                  <a:tcPr marL="0" marR="0" marT="0" marB="0" anchor="ctr">
                    <a:solidFill>
                      <a:srgbClr val="E9E0C6"/>
                    </a:solidFill>
                  </a:tcPr>
                </a:tc>
                <a:tc>
                  <a:txBody>
                    <a:bodyPr/>
                    <a:lstStyle/>
                    <a:p>
                      <a:pPr indent="0">
                        <a:lnSpc>
                          <a:spcPts val="770"/>
                        </a:lnSpc>
                      </a:pPr>
                      <a:r>
                        <a:rPr lang="en-US" sz="700">
                          <a:solidFill>
                            <a:srgbClr val="7D7360"/>
                          </a:solidFill>
                          <a:latin typeface="Times New Roman"/>
                        </a:rPr>
                        <a:t>CIIZX</a:t>
                      </a:r>
                    </a:p>
                  </a:txBody>
                  <a:tcPr marL="0" marR="0" marT="0" marB="0" anchor="ctr">
                    <a:solidFill>
                      <a:srgbClr val="E9E0C6"/>
                    </a:solidFill>
                  </a:tcPr>
                </a:tc>
                <a:tc>
                  <a:txBody>
                    <a:bodyPr/>
                    <a:lstStyle/>
                    <a:p>
                      <a:pPr indent="0">
                        <a:lnSpc>
                          <a:spcPts val="830"/>
                        </a:lnSpc>
                      </a:pPr>
                      <a:r>
                        <a:rPr lang="en-US" sz="700" b="1">
                          <a:solidFill>
                            <a:srgbClr val="7D7360"/>
                          </a:solidFill>
                          <a:latin typeface="Times New Roman"/>
                        </a:rPr>
                        <a:t>Firyi</a:t>
                      </a:r>
                    </a:p>
                  </a:txBody>
                  <a:tcPr marL="0" marR="0" marT="0" marB="0" anchor="ctr">
                    <a:solidFill>
                      <a:srgbClr val="E9E0C6"/>
                    </a:solidFill>
                  </a:tcPr>
                </a:tc>
                <a:tc>
                  <a:txBody>
                    <a:bodyPr/>
                    <a:lstStyle/>
                    <a:p>
                      <a:pPr indent="0">
                        <a:lnSpc>
                          <a:spcPts val="770"/>
                        </a:lnSpc>
                      </a:pPr>
                      <a:r>
                        <a:rPr lang="en-US" sz="700">
                          <a:solidFill>
                            <a:srgbClr val="7D7360"/>
                          </a:solidFill>
                          <a:latin typeface="Times New Roman"/>
                        </a:rPr>
                        <a:t>STKWI</a:t>
                      </a:r>
                    </a:p>
                  </a:txBody>
                  <a:tcPr marL="0" marR="0" marT="0" marB="0" anchor="ctr">
                    <a:solidFill>
                      <a:srgbClr val="E9E0C6"/>
                    </a:solidFill>
                  </a:tcPr>
                </a:tc>
                <a:tc>
                  <a:txBody>
                    <a:bodyPr/>
                    <a:lstStyle/>
                    <a:p>
                      <a:pPr indent="0">
                        <a:lnSpc>
                          <a:spcPts val="660"/>
                        </a:lnSpc>
                      </a:pPr>
                      <a:r>
                        <a:rPr lang="en-US" sz="550">
                          <a:solidFill>
                            <a:srgbClr val="7D7360"/>
                          </a:solidFill>
                          <a:latin typeface="Times New Roman"/>
                        </a:rPr>
                        <a:t>GOEOC</a:t>
                      </a:r>
                    </a:p>
                  </a:txBody>
                  <a:tcPr marL="0" marR="0" marT="0" marB="0" anchor="ctr">
                    <a:solidFill>
                      <a:srgbClr val="E9E0C6"/>
                    </a:solidFill>
                  </a:tcPr>
                </a:tc>
                <a:extLst>
                  <a:ext uri="{0D108BD9-81ED-4DB2-BD59-A6C34878D82A}">
                    <a16:rowId xmlns:a16="http://schemas.microsoft.com/office/drawing/2014/main" val="10002"/>
                  </a:ext>
                </a:extLst>
              </a:tr>
              <a:tr h="161544">
                <a:tc>
                  <a:txBody>
                    <a:bodyPr/>
                    <a:lstStyle/>
                    <a:p>
                      <a:pPr indent="0" algn="r">
                        <a:lnSpc>
                          <a:spcPts val="1050"/>
                        </a:lnSpc>
                      </a:pPr>
                      <a:r>
                        <a:rPr lang="en-US" sz="900">
                          <a:solidFill>
                            <a:srgbClr val="7D7360"/>
                          </a:solidFill>
                          <a:latin typeface="Times New Roman"/>
                        </a:rPr>
                        <a:t>crnruc</a:t>
                      </a:r>
                    </a:p>
                  </a:txBody>
                  <a:tcPr marL="0" marR="0" marT="0" marB="0" anchor="b">
                    <a:solidFill>
                      <a:srgbClr val="E9E0C6"/>
                    </a:solidFill>
                  </a:tcPr>
                </a:tc>
                <a:tc>
                  <a:txBody>
                    <a:bodyPr/>
                    <a:lstStyle/>
                    <a:p>
                      <a:pPr indent="0">
                        <a:lnSpc>
                          <a:spcPts val="770"/>
                        </a:lnSpc>
                      </a:pPr>
                      <a:r>
                        <a:rPr lang="en-US" sz="700">
                          <a:solidFill>
                            <a:srgbClr val="7D7360"/>
                          </a:solidFill>
                          <a:latin typeface="Times New Roman"/>
                        </a:rPr>
                        <a:t>KTTYb</a:t>
                      </a:r>
                    </a:p>
                  </a:txBody>
                  <a:tcPr marL="0" marR="0" marT="0" marB="0" anchor="b">
                    <a:solidFill>
                      <a:srgbClr val="E9E0C6"/>
                    </a:solidFill>
                  </a:tcPr>
                </a:tc>
                <a:tc>
                  <a:txBody>
                    <a:bodyPr/>
                    <a:lstStyle/>
                    <a:p>
                      <a:pPr indent="0">
                        <a:lnSpc>
                          <a:spcPts val="770"/>
                        </a:lnSpc>
                      </a:pPr>
                      <a:r>
                        <a:rPr lang="en-US" sz="700">
                          <a:solidFill>
                            <a:srgbClr val="7D7360"/>
                          </a:solidFill>
                          <a:latin typeface="Times New Roman"/>
                        </a:rPr>
                        <a:t>ZHDTJ</a:t>
                      </a:r>
                    </a:p>
                  </a:txBody>
                  <a:tcPr marL="0" marR="0" marT="0" marB="0" anchor="b">
                    <a:solidFill>
                      <a:srgbClr val="E9E0C6"/>
                    </a:solidFill>
                  </a:tcPr>
                </a:tc>
                <a:tc>
                  <a:txBody>
                    <a:bodyPr/>
                    <a:lstStyle/>
                    <a:p>
                      <a:pPr indent="0">
                        <a:lnSpc>
                          <a:spcPts val="660"/>
                        </a:lnSpc>
                      </a:pPr>
                      <a:r>
                        <a:rPr lang="en-US" sz="550">
                          <a:solidFill>
                            <a:srgbClr val="7D7360"/>
                          </a:solidFill>
                          <a:latin typeface="Times New Roman"/>
                        </a:rPr>
                        <a:t>WCMWh</a:t>
                      </a:r>
                    </a:p>
                  </a:txBody>
                  <a:tcPr marL="0" marR="0" marT="0" marB="0" anchor="b">
                    <a:solidFill>
                      <a:srgbClr val="E9E0C6"/>
                    </a:solidFill>
                  </a:tcPr>
                </a:tc>
                <a:tc>
                  <a:txBody>
                    <a:bodyPr/>
                    <a:lstStyle/>
                    <a:p>
                      <a:pPr indent="0">
                        <a:lnSpc>
                          <a:spcPts val="770"/>
                        </a:lnSpc>
                      </a:pPr>
                      <a:r>
                        <a:rPr lang="en-US" sz="700">
                          <a:solidFill>
                            <a:srgbClr val="7D7360"/>
                          </a:solidFill>
                          <a:latin typeface="Times New Roman"/>
                        </a:rPr>
                        <a:t>OXOFX</a:t>
                      </a:r>
                    </a:p>
                  </a:txBody>
                  <a:tcPr marL="0" marR="0" marT="0" marB="0" anchor="b">
                    <a:solidFill>
                      <a:srgbClr val="E9E0C6"/>
                    </a:solidFill>
                  </a:tcPr>
                </a:tc>
                <a:tc>
                  <a:txBody>
                    <a:bodyPr/>
                    <a:lstStyle/>
                    <a:p>
                      <a:pPr indent="0">
                        <a:lnSpc>
                          <a:spcPts val="770"/>
                        </a:lnSpc>
                      </a:pPr>
                      <a:r>
                        <a:rPr lang="en-US" sz="700">
                          <a:solidFill>
                            <a:srgbClr val="7D7360"/>
                          </a:solidFill>
                          <a:latin typeface="Times New Roman"/>
                        </a:rPr>
                        <a:t>ERVQfc</a:t>
                      </a:r>
                    </a:p>
                  </a:txBody>
                  <a:tcPr marL="0" marR="0" marT="0" marB="0" anchor="b">
                    <a:solidFill>
                      <a:srgbClr val="E9E0C6"/>
                    </a:solidFill>
                  </a:tcPr>
                </a:tc>
                <a:tc>
                  <a:txBody>
                    <a:bodyPr/>
                    <a:lstStyle/>
                    <a:p>
                      <a:pPr indent="0">
                        <a:lnSpc>
                          <a:spcPts val="770"/>
                        </a:lnSpc>
                      </a:pPr>
                      <a:r>
                        <a:rPr lang="en-US" sz="700">
                          <a:solidFill>
                            <a:srgbClr val="7D7360"/>
                          </a:solidFill>
                          <a:latin typeface="Times New Roman"/>
                        </a:rPr>
                        <a:t>JUCVY</a:t>
                      </a:r>
                    </a:p>
                  </a:txBody>
                  <a:tcPr marL="0" marR="0" marT="0" marB="0" anchor="b">
                    <a:solidFill>
                      <a:srgbClr val="E9E0C6"/>
                    </a:solidFill>
                  </a:tcPr>
                </a:tc>
                <a:tc>
                  <a:txBody>
                    <a:bodyPr/>
                    <a:lstStyle/>
                    <a:p>
                      <a:pPr indent="0">
                        <a:lnSpc>
                          <a:spcPts val="770"/>
                        </a:lnSpc>
                      </a:pPr>
                      <a:r>
                        <a:rPr lang="en-US" sz="700">
                          <a:solidFill>
                            <a:srgbClr val="7D7360"/>
                          </a:solidFill>
                          <a:latin typeface="Times New Roman"/>
                        </a:rPr>
                        <a:t>P9ACQ</a:t>
                      </a:r>
                    </a:p>
                  </a:txBody>
                  <a:tcPr marL="0" marR="0" marT="0" marB="0" anchor="b">
                    <a:solidFill>
                      <a:srgbClr val="E9E0C6"/>
                    </a:solidFill>
                  </a:tcPr>
                </a:tc>
                <a:extLst>
                  <a:ext uri="{0D108BD9-81ED-4DB2-BD59-A6C34878D82A}">
                    <a16:rowId xmlns:a16="http://schemas.microsoft.com/office/drawing/2014/main" val="10003"/>
                  </a:ext>
                </a:extLst>
              </a:tr>
              <a:tr h="161544">
                <a:tc>
                  <a:txBody>
                    <a:bodyPr/>
                    <a:lstStyle/>
                    <a:p>
                      <a:pPr indent="0" algn="r">
                        <a:lnSpc>
                          <a:spcPts val="770"/>
                        </a:lnSpc>
                      </a:pPr>
                      <a:r>
                        <a:rPr lang="en-US" sz="700">
                          <a:solidFill>
                            <a:srgbClr val="7D7360"/>
                          </a:solidFill>
                          <a:latin typeface="Times New Roman"/>
                        </a:rPr>
                        <a:t>EfMXE</a:t>
                      </a:r>
                    </a:p>
                  </a:txBody>
                  <a:tcPr marL="0" marR="0" marT="0" marB="0" anchor="ctr">
                    <a:solidFill>
                      <a:srgbClr val="E9E0C6"/>
                    </a:solidFill>
                  </a:tcPr>
                </a:tc>
                <a:tc>
                  <a:txBody>
                    <a:bodyPr/>
                    <a:lstStyle/>
                    <a:p>
                      <a:pPr indent="0">
                        <a:lnSpc>
                          <a:spcPts val="550"/>
                        </a:lnSpc>
                      </a:pPr>
                      <a:r>
                        <a:rPr lang="en-US" sz="500">
                          <a:solidFill>
                            <a:srgbClr val="7D7360"/>
                          </a:solidFill>
                          <a:latin typeface="Times New Roman"/>
                        </a:rPr>
                        <a:t>M&gt;QKF</a:t>
                      </a:r>
                    </a:p>
                  </a:txBody>
                  <a:tcPr marL="0" marR="0" marT="0" marB="0" anchor="ctr">
                    <a:solidFill>
                      <a:srgbClr val="E9E0C6"/>
                    </a:solidFill>
                  </a:tcPr>
                </a:tc>
                <a:tc>
                  <a:txBody>
                    <a:bodyPr/>
                    <a:lstStyle/>
                    <a:p>
                      <a:pPr indent="0">
                        <a:lnSpc>
                          <a:spcPts val="770"/>
                        </a:lnSpc>
                      </a:pPr>
                      <a:r>
                        <a:rPr lang="en-US" sz="700">
                          <a:solidFill>
                            <a:srgbClr val="7D7360"/>
                          </a:solidFill>
                          <a:latin typeface="Times New Roman"/>
                        </a:rPr>
                        <a:t>l VRW»</a:t>
                      </a:r>
                    </a:p>
                  </a:txBody>
                  <a:tcPr marL="0" marR="0" marT="0" marB="0" anchor="ctr">
                    <a:solidFill>
                      <a:srgbClr val="E9E0C6"/>
                    </a:solidFill>
                  </a:tcPr>
                </a:tc>
                <a:tc>
                  <a:txBody>
                    <a:bodyPr/>
                    <a:lstStyle/>
                    <a:p>
                      <a:pPr indent="0">
                        <a:lnSpc>
                          <a:spcPts val="660"/>
                        </a:lnSpc>
                      </a:pPr>
                      <a:r>
                        <a:rPr lang="en-US" sz="550">
                          <a:solidFill>
                            <a:srgbClr val="7D7360"/>
                          </a:solidFill>
                          <a:latin typeface="Times New Roman"/>
                        </a:rPr>
                        <a:t>uuxz</a:t>
                      </a:r>
                    </a:p>
                  </a:txBody>
                  <a:tcPr marL="0" marR="0" marT="0" marB="0" anchor="ctr">
                    <a:solidFill>
                      <a:srgbClr val="E9E0C6"/>
                    </a:solidFill>
                  </a:tcPr>
                </a:tc>
                <a:tc>
                  <a:txBody>
                    <a:bodyPr/>
                    <a:lstStyle/>
                    <a:p>
                      <a:pPr indent="0">
                        <a:lnSpc>
                          <a:spcPts val="770"/>
                        </a:lnSpc>
                      </a:pPr>
                      <a:r>
                        <a:rPr lang="en-US" sz="700">
                          <a:solidFill>
                            <a:srgbClr val="7D7360"/>
                          </a:solidFill>
                          <a:latin typeface="Times New Roman"/>
                        </a:rPr>
                        <a:t>FFTVR</a:t>
                      </a:r>
                    </a:p>
                  </a:txBody>
                  <a:tcPr marL="0" marR="0" marT="0" marB="0" anchor="ctr">
                    <a:solidFill>
                      <a:srgbClr val="E9E0C6"/>
                    </a:solidFill>
                  </a:tcPr>
                </a:tc>
                <a:tc>
                  <a:txBody>
                    <a:bodyPr/>
                    <a:lstStyle/>
                    <a:p>
                      <a:pPr indent="0">
                        <a:lnSpc>
                          <a:spcPts val="770"/>
                        </a:lnSpc>
                      </a:pPr>
                      <a:r>
                        <a:rPr lang="en-US" sz="700">
                          <a:solidFill>
                            <a:srgbClr val="7D7360"/>
                          </a:solidFill>
                          <a:latin typeface="Times New Roman"/>
                        </a:rPr>
                        <a:t>CiCWYC</a:t>
                      </a:r>
                    </a:p>
                  </a:txBody>
                  <a:tcPr marL="0" marR="0" marT="0" marB="0" anchor="ctr">
                    <a:solidFill>
                      <a:srgbClr val="E9E0C6"/>
                    </a:solidFill>
                  </a:tcPr>
                </a:tc>
                <a:tc>
                  <a:txBody>
                    <a:bodyPr/>
                    <a:lstStyle/>
                    <a:p>
                      <a:pPr indent="0">
                        <a:lnSpc>
                          <a:spcPts val="770"/>
                        </a:lnSpc>
                      </a:pPr>
                      <a:r>
                        <a:rPr lang="en-US" sz="700">
                          <a:solidFill>
                            <a:srgbClr val="7D7360"/>
                          </a:solidFill>
                          <a:latin typeface="Times New Roman"/>
                        </a:rPr>
                        <a:t>WJUiA</a:t>
                      </a:r>
                    </a:p>
                  </a:txBody>
                  <a:tcPr marL="0" marR="0" marT="0" marB="0" anchor="ctr">
                    <a:solidFill>
                      <a:srgbClr val="E9E0C6"/>
                    </a:solidFill>
                  </a:tcPr>
                </a:tc>
                <a:tc>
                  <a:txBody>
                    <a:bodyPr/>
                    <a:lstStyle/>
                    <a:p>
                      <a:pPr indent="0">
                        <a:lnSpc>
                          <a:spcPts val="770"/>
                        </a:lnSpc>
                      </a:pPr>
                      <a:r>
                        <a:rPr lang="en-US" sz="700">
                          <a:solidFill>
                            <a:srgbClr val="7D7360"/>
                          </a:solidFill>
                          <a:latin typeface="Times New Roman"/>
                        </a:rPr>
                        <a:t>OJLKVC</a:t>
                      </a:r>
                    </a:p>
                  </a:txBody>
                  <a:tcPr marL="0" marR="0" marT="0" marB="0" anchor="ctr">
                    <a:solidFill>
                      <a:srgbClr val="E9E0C6"/>
                    </a:solidFill>
                  </a:tcPr>
                </a:tc>
                <a:extLst>
                  <a:ext uri="{0D108BD9-81ED-4DB2-BD59-A6C34878D82A}">
                    <a16:rowId xmlns:a16="http://schemas.microsoft.com/office/drawing/2014/main" val="10004"/>
                  </a:ext>
                </a:extLst>
              </a:tr>
              <a:tr h="170688">
                <a:tc>
                  <a:txBody>
                    <a:bodyPr/>
                    <a:lstStyle/>
                    <a:p>
                      <a:endParaRPr sz="900"/>
                    </a:p>
                  </a:txBody>
                  <a:tcPr marL="0" marR="0" marT="0" marB="0">
                    <a:solidFill>
                      <a:srgbClr val="E9E0C6"/>
                    </a:solidFill>
                  </a:tcPr>
                </a:tc>
                <a:tc>
                  <a:txBody>
                    <a:bodyPr/>
                    <a:lstStyle/>
                    <a:p>
                      <a:pPr indent="0">
                        <a:lnSpc>
                          <a:spcPts val="770"/>
                        </a:lnSpc>
                      </a:pPr>
                      <a:r>
                        <a:rPr lang="en-US" sz="700">
                          <a:solidFill>
                            <a:srgbClr val="7D7360"/>
                          </a:solidFill>
                          <a:latin typeface="Times New Roman"/>
                        </a:rPr>
                        <a:t>t'VUU)</a:t>
                      </a:r>
                    </a:p>
                  </a:txBody>
                  <a:tcPr marL="0" marR="0" marT="0" marB="0" anchor="ctr">
                    <a:solidFill>
                      <a:srgbClr val="E9E0C6"/>
                    </a:solidFill>
                  </a:tcPr>
                </a:tc>
                <a:tc>
                  <a:txBody>
                    <a:bodyPr/>
                    <a:lstStyle/>
                    <a:p>
                      <a:pPr indent="0">
                        <a:lnSpc>
                          <a:spcPts val="550"/>
                        </a:lnSpc>
                      </a:pPr>
                      <a:r>
                        <a:rPr lang="en-US" sz="500">
                          <a:solidFill>
                            <a:srgbClr val="696464"/>
                          </a:solidFill>
                          <a:latin typeface="Times New Roman"/>
                        </a:rPr>
                        <a:t>WFZJZ</a:t>
                      </a:r>
                    </a:p>
                  </a:txBody>
                  <a:tcPr marL="0" marR="0" marT="0" marB="0" anchor="ctr">
                    <a:solidFill>
                      <a:srgbClr val="E9E0C6"/>
                    </a:solidFill>
                  </a:tcPr>
                </a:tc>
                <a:tc>
                  <a:txBody>
                    <a:bodyPr/>
                    <a:lstStyle/>
                    <a:p>
                      <a:pPr indent="0">
                        <a:lnSpc>
                          <a:spcPts val="550"/>
                        </a:lnSpc>
                      </a:pPr>
                      <a:r>
                        <a:rPr lang="en-US" sz="500">
                          <a:solidFill>
                            <a:srgbClr val="696464"/>
                          </a:solidFill>
                          <a:latin typeface="Times New Roman"/>
                        </a:rPr>
                        <a:t>ktliVQC,</a:t>
                      </a:r>
                    </a:p>
                  </a:txBody>
                  <a:tcPr marL="0" marR="0" marT="0" marB="0" anchor="ctr">
                    <a:solidFill>
                      <a:srgbClr val="E9E0C6"/>
                    </a:solidFill>
                  </a:tcPr>
                </a:tc>
                <a:tc>
                  <a:txBody>
                    <a:bodyPr/>
                    <a:lstStyle/>
                    <a:p>
                      <a:pPr indent="0">
                        <a:lnSpc>
                          <a:spcPts val="550"/>
                        </a:lnSpc>
                      </a:pPr>
                      <a:r>
                        <a:rPr lang="en-US" sz="500">
                          <a:solidFill>
                            <a:srgbClr val="7D7360"/>
                          </a:solidFill>
                          <a:latin typeface="Times New Roman"/>
                        </a:rPr>
                        <a:t>YFC«1Q</a:t>
                      </a:r>
                    </a:p>
                  </a:txBody>
                  <a:tcPr marL="0" marR="0" marT="0" marB="0" anchor="ctr">
                    <a:solidFill>
                      <a:srgbClr val="E9E0C6"/>
                    </a:solidFill>
                  </a:tcPr>
                </a:tc>
                <a:tc>
                  <a:txBody>
                    <a:bodyPr/>
                    <a:lstStyle/>
                    <a:p>
                      <a:pPr indent="0">
                        <a:lnSpc>
                          <a:spcPts val="550"/>
                        </a:lnSpc>
                      </a:pPr>
                      <a:r>
                        <a:rPr lang="en-US" sz="500">
                          <a:solidFill>
                            <a:srgbClr val="7D7360"/>
                          </a:solidFill>
                          <a:latin typeface="Times New Roman"/>
                        </a:rPr>
                        <a:t>RNVWF</a:t>
                      </a:r>
                    </a:p>
                  </a:txBody>
                  <a:tcPr marL="0" marR="0" marT="0" marB="0" anchor="ctr">
                    <a:solidFill>
                      <a:srgbClr val="E9E0C6"/>
                    </a:solidFill>
                  </a:tcPr>
                </a:tc>
                <a:tc>
                  <a:txBody>
                    <a:bodyPr/>
                    <a:lstStyle/>
                    <a:p>
                      <a:pPr indent="0">
                        <a:lnSpc>
                          <a:spcPts val="550"/>
                        </a:lnSpc>
                      </a:pPr>
                      <a:r>
                        <a:rPr lang="en-US" sz="500">
                          <a:solidFill>
                            <a:srgbClr val="7D7360"/>
                          </a:solidFill>
                          <a:latin typeface="Times New Roman"/>
                        </a:rPr>
                        <a:t>QQ1DQ</a:t>
                      </a:r>
                    </a:p>
                  </a:txBody>
                  <a:tcPr marL="0" marR="0" marT="0" marB="0" anchor="ctr">
                    <a:solidFill>
                      <a:srgbClr val="E9E0C6"/>
                    </a:solidFill>
                  </a:tcPr>
                </a:tc>
                <a:tc>
                  <a:txBody>
                    <a:bodyPr/>
                    <a:lstStyle/>
                    <a:p>
                      <a:pPr indent="0">
                        <a:lnSpc>
                          <a:spcPts val="770"/>
                        </a:lnSpc>
                      </a:pPr>
                      <a:r>
                        <a:rPr lang="en-US" sz="700">
                          <a:solidFill>
                            <a:srgbClr val="696464"/>
                          </a:solidFill>
                          <a:latin typeface="Times New Roman"/>
                        </a:rPr>
                        <a:t>QVVtW</a:t>
                      </a:r>
                    </a:p>
                  </a:txBody>
                  <a:tcPr marL="0" marR="0" marT="0" marB="0" anchor="ctr">
                    <a:solidFill>
                      <a:srgbClr val="E9E0C6"/>
                    </a:solidFill>
                  </a:tcPr>
                </a:tc>
                <a:extLst>
                  <a:ext uri="{0D108BD9-81ED-4DB2-BD59-A6C34878D82A}">
                    <a16:rowId xmlns:a16="http://schemas.microsoft.com/office/drawing/2014/main" val="10005"/>
                  </a:ext>
                </a:extLst>
              </a:tr>
              <a:tr h="152400">
                <a:tc>
                  <a:txBody>
                    <a:bodyPr/>
                    <a:lstStyle/>
                    <a:p>
                      <a:pPr indent="0" algn="r">
                        <a:lnSpc>
                          <a:spcPts val="770"/>
                        </a:lnSpc>
                      </a:pPr>
                      <a:r>
                        <a:rPr lang="en-US" sz="700">
                          <a:solidFill>
                            <a:srgbClr val="7D7360"/>
                          </a:solidFill>
                          <a:latin typeface="Times New Roman"/>
                        </a:rPr>
                        <a:t>LJLBU</a:t>
                      </a:r>
                    </a:p>
                  </a:txBody>
                  <a:tcPr marL="0" marR="0" marT="0" marB="0" anchor="b">
                    <a:solidFill>
                      <a:srgbClr val="E9E0C6"/>
                    </a:solidFill>
                  </a:tcPr>
                </a:tc>
                <a:tc>
                  <a:txBody>
                    <a:bodyPr/>
                    <a:lstStyle/>
                    <a:p>
                      <a:pPr indent="0">
                        <a:lnSpc>
                          <a:spcPts val="770"/>
                        </a:lnSpc>
                      </a:pPr>
                      <a:r>
                        <a:rPr lang="en-US" sz="700">
                          <a:solidFill>
                            <a:srgbClr val="7D7360"/>
                          </a:solidFill>
                          <a:latin typeface="Times New Roman"/>
                        </a:rPr>
                        <a:t>LhHJl</a:t>
                      </a:r>
                    </a:p>
                  </a:txBody>
                  <a:tcPr marL="0" marR="0" marT="0" marB="0" anchor="b">
                    <a:solidFill>
                      <a:srgbClr val="E9E0C6"/>
                    </a:solidFill>
                  </a:tcPr>
                </a:tc>
                <a:tc>
                  <a:txBody>
                    <a:bodyPr/>
                    <a:lstStyle/>
                    <a:p>
                      <a:pPr indent="0">
                        <a:lnSpc>
                          <a:spcPts val="1050"/>
                        </a:lnSpc>
                      </a:pPr>
                      <a:r>
                        <a:rPr lang="en-US" sz="900">
                          <a:solidFill>
                            <a:srgbClr val="7D7360"/>
                          </a:solidFill>
                          <a:latin typeface="Times New Roman"/>
                        </a:rPr>
                        <a:t>onwr</a:t>
                      </a:r>
                    </a:p>
                  </a:txBody>
                  <a:tcPr marL="0" marR="0" marT="0" marB="0" anchor="b">
                    <a:solidFill>
                      <a:srgbClr val="E9E0C6"/>
                    </a:solidFill>
                  </a:tcPr>
                </a:tc>
                <a:tc>
                  <a:txBody>
                    <a:bodyPr/>
                    <a:lstStyle/>
                    <a:p>
                      <a:pPr indent="0">
                        <a:lnSpc>
                          <a:spcPts val="770"/>
                        </a:lnSpc>
                      </a:pPr>
                      <a:r>
                        <a:rPr lang="en-US" sz="700">
                          <a:solidFill>
                            <a:srgbClr val="7D7360"/>
                          </a:solidFill>
                          <a:latin typeface="Times New Roman"/>
                        </a:rPr>
                        <a:t>JJVUA</a:t>
                      </a:r>
                    </a:p>
                  </a:txBody>
                  <a:tcPr marL="0" marR="0" marT="0" marB="0" anchor="b">
                    <a:solidFill>
                      <a:srgbClr val="E9E0C6"/>
                    </a:solidFill>
                  </a:tcPr>
                </a:tc>
                <a:tc>
                  <a:txBody>
                    <a:bodyPr/>
                    <a:lstStyle/>
                    <a:p>
                      <a:pPr indent="0">
                        <a:lnSpc>
                          <a:spcPts val="770"/>
                        </a:lnSpc>
                      </a:pPr>
                      <a:r>
                        <a:rPr lang="en-US" sz="700">
                          <a:solidFill>
                            <a:srgbClr val="7D7360"/>
                          </a:solidFill>
                          <a:latin typeface="Times New Roman"/>
                        </a:rPr>
                        <a:t>ttfFi</a:t>
                      </a:r>
                    </a:p>
                  </a:txBody>
                  <a:tcPr marL="0" marR="0" marT="0" marB="0" anchor="b">
                    <a:solidFill>
                      <a:srgbClr val="E9E0C6"/>
                    </a:solidFill>
                  </a:tcPr>
                </a:tc>
                <a:tc>
                  <a:txBody>
                    <a:bodyPr/>
                    <a:lstStyle/>
                    <a:p>
                      <a:endParaRPr sz="800"/>
                    </a:p>
                  </a:txBody>
                  <a:tcPr marL="0" marR="0" marT="0" marB="0">
                    <a:solidFill>
                      <a:srgbClr val="E9E0C6"/>
                    </a:solidFill>
                  </a:tcPr>
                </a:tc>
                <a:tc>
                  <a:txBody>
                    <a:bodyPr/>
                    <a:lstStyle/>
                    <a:p>
                      <a:endParaRPr sz="800"/>
                    </a:p>
                  </a:txBody>
                  <a:tcPr marL="0" marR="0" marT="0" marB="0">
                    <a:solidFill>
                      <a:srgbClr val="E9E0C6"/>
                    </a:solidFill>
                  </a:tcPr>
                </a:tc>
                <a:tc>
                  <a:txBody>
                    <a:bodyPr/>
                    <a:lstStyle/>
                    <a:p>
                      <a:endParaRPr sz="800" dirty="0"/>
                    </a:p>
                  </a:txBody>
                  <a:tcPr marL="0" marR="0" marT="0" marB="0">
                    <a:solidFill>
                      <a:srgbClr val="E9E0C6"/>
                    </a:solidFill>
                  </a:tcPr>
                </a:tc>
                <a:extLst>
                  <a:ext uri="{0D108BD9-81ED-4DB2-BD59-A6C34878D82A}">
                    <a16:rowId xmlns:a16="http://schemas.microsoft.com/office/drawing/2014/main" val="10006"/>
                  </a:ext>
                </a:extLst>
              </a:tr>
            </a:tbl>
          </a:graphicData>
        </a:graphic>
      </p:graphicFrame>
      <p:sp>
        <p:nvSpPr>
          <p:cNvPr id="10" name="Rectangle 9"/>
          <p:cNvSpPr/>
          <p:nvPr/>
        </p:nvSpPr>
        <p:spPr>
          <a:xfrm>
            <a:off x="3148584" y="4108704"/>
            <a:ext cx="786384" cy="268224"/>
          </a:xfrm>
          <a:prstGeom prst="rect">
            <a:avLst/>
          </a:prstGeom>
          <a:solidFill>
            <a:srgbClr val="E9E0C6"/>
          </a:solidFill>
        </p:spPr>
        <p:txBody>
          <a:bodyPr lIns="0" tIns="0" rIns="0" bIns="0">
            <a:normAutofit fontScale="25000" lnSpcReduction="20000"/>
          </a:bodyPr>
          <a:lstStyle/>
          <a:p>
            <a:pPr algn="just">
              <a:lnSpc>
                <a:spcPts val="1176"/>
              </a:lnSpc>
            </a:pPr>
            <a:r>
              <a:rPr lang="en-US" sz="700">
                <a:solidFill>
                  <a:srgbClr val="7D7360"/>
                </a:solidFill>
                <a:latin typeface="Times New Roman"/>
              </a:rPr>
              <a:t>CCT 2/) RtWN</a:t>
            </a:r>
            <a:br/>
            <a:r>
              <a:rPr lang="en-US" sz="700">
                <a:solidFill>
                  <a:srgbClr val="7D7360"/>
                </a:solidFill>
                <a:latin typeface="Times New Roman"/>
              </a:rPr>
              <a:t>1852 FLC</a:t>
            </a:r>
          </a:p>
        </p:txBody>
      </p:sp>
      <p:sp>
        <p:nvSpPr>
          <p:cNvPr id="11" name="Rectangle 10"/>
          <p:cNvSpPr/>
          <p:nvPr/>
        </p:nvSpPr>
        <p:spPr>
          <a:xfrm>
            <a:off x="3322320" y="4983480"/>
            <a:ext cx="2346960" cy="502920"/>
          </a:xfrm>
          <a:prstGeom prst="rect">
            <a:avLst/>
          </a:prstGeom>
        </p:spPr>
        <p:txBody>
          <a:bodyPr lIns="0" tIns="0" rIns="0" bIns="0">
            <a:normAutofit fontScale="97500"/>
          </a:bodyPr>
          <a:lstStyle/>
          <a:p>
            <a:pPr algn="just">
              <a:lnSpc>
                <a:spcPts val="2016"/>
              </a:lnSpc>
            </a:pPr>
            <a:r>
              <a:rPr lang="en-US" sz="1600">
                <a:solidFill>
                  <a:srgbClr val="181818"/>
                </a:solidFill>
                <a:latin typeface="Arial"/>
              </a:rPr>
              <a:t>Message encrypted using</a:t>
            </a:r>
            <a:br/>
            <a:r>
              <a:rPr lang="en-US" sz="1600">
                <a:solidFill>
                  <a:srgbClr val="181818"/>
                </a:solidFill>
                <a:latin typeface="Arial"/>
              </a:rPr>
              <a:t>the Enigma during WW2</a:t>
            </a:r>
          </a:p>
        </p:txBody>
      </p:sp>
      <p:sp>
        <p:nvSpPr>
          <p:cNvPr id="12" name="Rectangle 11"/>
          <p:cNvSpPr/>
          <p:nvPr/>
        </p:nvSpPr>
        <p:spPr>
          <a:xfrm>
            <a:off x="7449312" y="1895856"/>
            <a:ext cx="1645920" cy="286512"/>
          </a:xfrm>
          <a:prstGeom prst="rect">
            <a:avLst/>
          </a:prstGeom>
        </p:spPr>
        <p:txBody>
          <a:bodyPr wrap="none" lIns="0" tIns="0" rIns="0" bIns="0">
            <a:normAutofit fontScale="97500"/>
          </a:bodyPr>
          <a:lstStyle/>
          <a:p>
            <a:pPr>
              <a:lnSpc>
                <a:spcPts val="1900"/>
              </a:lnSpc>
            </a:pPr>
            <a:r>
              <a:rPr lang="en-US" sz="1700" b="1">
                <a:solidFill>
                  <a:srgbClr val="23476D"/>
                </a:solidFill>
                <a:latin typeface="Arial"/>
              </a:rPr>
              <a:t>Steganography</a:t>
            </a:r>
          </a:p>
        </p:txBody>
      </p:sp>
      <p:sp>
        <p:nvSpPr>
          <p:cNvPr id="13" name="Rectangle 12"/>
          <p:cNvSpPr/>
          <p:nvPr/>
        </p:nvSpPr>
        <p:spPr>
          <a:xfrm>
            <a:off x="7251192" y="4983480"/>
            <a:ext cx="2036064" cy="502920"/>
          </a:xfrm>
          <a:prstGeom prst="rect">
            <a:avLst/>
          </a:prstGeom>
        </p:spPr>
        <p:txBody>
          <a:bodyPr lIns="0" tIns="0" rIns="0" bIns="0">
            <a:normAutofit fontScale="97500"/>
          </a:bodyPr>
          <a:lstStyle/>
          <a:p>
            <a:pPr algn="just">
              <a:lnSpc>
                <a:spcPts val="2016"/>
              </a:lnSpc>
            </a:pPr>
            <a:r>
              <a:rPr lang="en-US" sz="1600">
                <a:solidFill>
                  <a:srgbClr val="181818"/>
                </a:solidFill>
                <a:latin typeface="Arial"/>
              </a:rPr>
              <a:t>Message of 500 bytes</a:t>
            </a:r>
            <a:br/>
            <a:r>
              <a:rPr lang="en-US" sz="1600">
                <a:solidFill>
                  <a:srgbClr val="181818"/>
                </a:solidFill>
                <a:latin typeface="Arial"/>
              </a:rPr>
              <a:t>hidden within image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6D6306C-ED4F-4AAE-B4A5-EEA6AFAD72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0EC5361D-F897-4856-B945-0455A365E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415435"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4508C0C5-2268-42B5-B3C8-4D0899E05F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0"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3" name="Freeform: Shape 12">
            <a:extLst>
              <a:ext uri="{FF2B5EF4-FFF2-40B4-BE49-F238E27FC236}">
                <a16:creationId xmlns:a16="http://schemas.microsoft.com/office/drawing/2014/main" id="{141ACBDB-38F8-4B34-8183-BD95B4E55A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739327"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DE00DB52-3455-4E2F-867B-A6D0516E17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700000">
            <a:off x="10653800"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Isosceles Triangle 16">
            <a:extLst>
              <a:ext uri="{FF2B5EF4-FFF2-40B4-BE49-F238E27FC236}">
                <a16:creationId xmlns:a16="http://schemas.microsoft.com/office/drawing/2014/main" id="{9E914C83-E0D8-4953-92D5-169D28CB43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15423"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Picture 1">
            <a:extLst>
              <a:ext uri="{FF2B5EF4-FFF2-40B4-BE49-F238E27FC236}">
                <a16:creationId xmlns:a16="http://schemas.microsoft.com/office/drawing/2014/main" id="{79D2D565-DEB0-49B1-B4B0-0A0A23888753}"/>
              </a:ext>
            </a:extLst>
          </p:cNvPr>
          <p:cNvPicPr>
            <a:picLocks noChangeAspect="1"/>
          </p:cNvPicPr>
          <p:nvPr/>
        </p:nvPicPr>
        <p:blipFill rotWithShape="1">
          <a:blip r:embed="rId2"/>
          <a:srcRect r="1" b="319"/>
          <a:stretch/>
        </p:blipFill>
        <p:spPr>
          <a:xfrm>
            <a:off x="643467" y="643467"/>
            <a:ext cx="10905066" cy="5571065"/>
          </a:xfrm>
          <a:prstGeom prst="rect">
            <a:avLst/>
          </a:prstGeom>
          <a:ln>
            <a:noFill/>
          </a:ln>
        </p:spPr>
      </p:pic>
      <p:sp>
        <p:nvSpPr>
          <p:cNvPr id="19" name="Isosceles Triangle 18">
            <a:extLst>
              <a:ext uri="{FF2B5EF4-FFF2-40B4-BE49-F238E27FC236}">
                <a16:creationId xmlns:a16="http://schemas.microsoft.com/office/drawing/2014/main" id="{3512E083-F550-46AF-8490-767ECFD00C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167297"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880963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Rectangle 2"/>
          <p:cNvSpPr/>
          <p:nvPr/>
        </p:nvSpPr>
        <p:spPr>
          <a:xfrm>
            <a:off x="1653363" y="365760"/>
            <a:ext cx="9367203" cy="1188720"/>
          </a:xfrm>
          <a:prstGeom prst="rect">
            <a:avLst/>
          </a:prstGeom>
        </p:spPr>
        <p:txBody>
          <a:bodyPr vert="horz" lIns="91440" tIns="45720" rIns="91440" bIns="45720" rtlCol="0" anchor="ctr">
            <a:normAutofit/>
          </a:bodyPr>
          <a:lstStyle/>
          <a:p>
            <a:pPr>
              <a:lnSpc>
                <a:spcPct val="90000"/>
              </a:lnSpc>
              <a:spcBef>
                <a:spcPct val="0"/>
              </a:spcBef>
              <a:spcAft>
                <a:spcPts val="490"/>
              </a:spcAft>
            </a:pPr>
            <a:r>
              <a:rPr lang="en-US" sz="4400" kern="1200">
                <a:solidFill>
                  <a:schemeClr val="tx1"/>
                </a:solidFill>
                <a:latin typeface="+mj-lt"/>
                <a:ea typeface="+mj-ea"/>
                <a:cs typeface="+mj-cs"/>
              </a:rPr>
              <a:t>Things to remember</a:t>
            </a:r>
          </a:p>
        </p:txBody>
      </p:sp>
      <p:sp>
        <p:nvSpPr>
          <p:cNvPr id="9" name="Freeform: Shape 8">
            <a:extLst>
              <a:ext uri="{FF2B5EF4-FFF2-40B4-BE49-F238E27FC236}">
                <a16:creationId xmlns:a16="http://schemas.microsoft.com/office/drawing/2014/main" id="{7CB4857B-ED7C-444D-9F04-2F885114A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764099" cy="1558212"/>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chemeClr val="accent1">
              <a:lumMod val="100000"/>
              <a:lumOff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Shape 10">
            <a:extLst>
              <a:ext uri="{FF2B5EF4-FFF2-40B4-BE49-F238E27FC236}">
                <a16:creationId xmlns:a16="http://schemas.microsoft.com/office/drawing/2014/main" id="{D18046FB-44EA-4FD8-A585-EA09A319B2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691640"/>
            <a:ext cx="12191999" cy="5166360"/>
          </a:xfrm>
          <a:custGeom>
            <a:avLst/>
            <a:gdLst>
              <a:gd name="connsiteX0" fmla="*/ 0 w 12191999"/>
              <a:gd name="connsiteY0" fmla="*/ 0 h 5166360"/>
              <a:gd name="connsiteX1" fmla="*/ 1822388 w 12191999"/>
              <a:gd name="connsiteY1" fmla="*/ 0 h 5166360"/>
              <a:gd name="connsiteX2" fmla="*/ 6468290 w 12191999"/>
              <a:gd name="connsiteY2" fmla="*/ 0 h 5166360"/>
              <a:gd name="connsiteX3" fmla="*/ 7796394 w 12191999"/>
              <a:gd name="connsiteY3" fmla="*/ 0 h 5166360"/>
              <a:gd name="connsiteX4" fmla="*/ 8376834 w 12191999"/>
              <a:gd name="connsiteY4" fmla="*/ 0 h 5166360"/>
              <a:gd name="connsiteX5" fmla="*/ 9704938 w 12191999"/>
              <a:gd name="connsiteY5" fmla="*/ 0 h 5166360"/>
              <a:gd name="connsiteX6" fmla="*/ 9704938 w 12191999"/>
              <a:gd name="connsiteY6" fmla="*/ 2 h 5166360"/>
              <a:gd name="connsiteX7" fmla="*/ 10283456 w 12191999"/>
              <a:gd name="connsiteY7" fmla="*/ 2 h 5166360"/>
              <a:gd name="connsiteX8" fmla="*/ 10863897 w 12191999"/>
              <a:gd name="connsiteY8" fmla="*/ 2 h 5166360"/>
              <a:gd name="connsiteX9" fmla="*/ 12191999 w 12191999"/>
              <a:gd name="connsiteY9" fmla="*/ 2 h 5166360"/>
              <a:gd name="connsiteX10" fmla="*/ 12191999 w 12191999"/>
              <a:gd name="connsiteY10" fmla="*/ 5166360 h 5166360"/>
              <a:gd name="connsiteX11" fmla="*/ 0 w 12191999"/>
              <a:gd name="connsiteY11" fmla="*/ 5166360 h 5166360"/>
              <a:gd name="connsiteX12" fmla="*/ 0 w 12191999"/>
              <a:gd name="connsiteY12" fmla="*/ 2604436 h 5166360"/>
              <a:gd name="connsiteX13" fmla="*/ 862341 w 12191999"/>
              <a:gd name="connsiteY13" fmla="*/ 743371 h 5166360"/>
              <a:gd name="connsiteX14" fmla="*/ 0 w 12191999"/>
              <a:gd name="connsiteY14" fmla="*/ 743371 h 5166360"/>
              <a:gd name="connsiteX15" fmla="*/ 0 w 12191999"/>
              <a:gd name="connsiteY15" fmla="*/ 742508 h 5166360"/>
              <a:gd name="connsiteX16" fmla="*/ 92826 w 12191999"/>
              <a:gd name="connsiteY16" fmla="*/ 742508 h 5166360"/>
              <a:gd name="connsiteX17" fmla="*/ 406486 w 12191999"/>
              <a:gd name="connsiteY17" fmla="*/ 742508 h 5166360"/>
              <a:gd name="connsiteX18" fmla="*/ 406486 w 12191999"/>
              <a:gd name="connsiteY18" fmla="*/ 742507 h 5166360"/>
              <a:gd name="connsiteX19" fmla="*/ 862741 w 12191999"/>
              <a:gd name="connsiteY19" fmla="*/ 742507 h 5166360"/>
              <a:gd name="connsiteX20" fmla="*/ 1206388 w 12191999"/>
              <a:gd name="connsiteY20" fmla="*/ 864 h 5166360"/>
              <a:gd name="connsiteX21" fmla="*/ 748500 w 12191999"/>
              <a:gd name="connsiteY21" fmla="*/ 864 h 5166360"/>
              <a:gd name="connsiteX22" fmla="*/ 0 w 12191999"/>
              <a:gd name="connsiteY22" fmla="*/ 864 h 516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91999" h="516636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Shape 12">
            <a:extLst>
              <a:ext uri="{FF2B5EF4-FFF2-40B4-BE49-F238E27FC236}">
                <a16:creationId xmlns:a16="http://schemas.microsoft.com/office/drawing/2014/main" id="{479F5F2B-8B58-4140-AE6A-51F6C67B18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1641"/>
            <a:ext cx="971654" cy="2096979"/>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Rectangle 3"/>
          <p:cNvSpPr/>
          <p:nvPr/>
        </p:nvSpPr>
        <p:spPr>
          <a:xfrm>
            <a:off x="1653363" y="2176272"/>
            <a:ext cx="9367204" cy="4041648"/>
          </a:xfrm>
          <a:prstGeom prst="rect">
            <a:avLst/>
          </a:prstGeom>
        </p:spPr>
        <p:txBody>
          <a:bodyPr vert="horz" lIns="91440" tIns="45720" rIns="91440" bIns="45720" rtlCol="0" anchor="t">
            <a:normAutofit/>
          </a:bodyPr>
          <a:lstStyle/>
          <a:p>
            <a:pPr>
              <a:lnSpc>
                <a:spcPct val="90000"/>
              </a:lnSpc>
              <a:spcBef>
                <a:spcPts val="490"/>
              </a:spcBef>
            </a:pPr>
            <a:r>
              <a:rPr lang="en-US" sz="2000" b="1" dirty="0"/>
              <a:t>Cryptography is:</a:t>
            </a:r>
          </a:p>
          <a:p>
            <a:pPr marL="152400">
              <a:lnSpc>
                <a:spcPct val="90000"/>
              </a:lnSpc>
            </a:pPr>
            <a:r>
              <a:rPr lang="en-US" sz="2000" b="1" dirty="0"/>
              <a:t>•    A tremendous tool</a:t>
            </a:r>
          </a:p>
          <a:p>
            <a:pPr marL="152400">
              <a:lnSpc>
                <a:spcPct val="90000"/>
              </a:lnSpc>
              <a:spcAft>
                <a:spcPts val="1540"/>
              </a:spcAft>
            </a:pPr>
            <a:r>
              <a:rPr lang="en-US" sz="2000" b="1" dirty="0"/>
              <a:t>•    The basis for many security mechanisms</a:t>
            </a:r>
          </a:p>
          <a:p>
            <a:pPr marL="152400">
              <a:lnSpc>
                <a:spcPct val="90000"/>
              </a:lnSpc>
              <a:spcAft>
                <a:spcPts val="1540"/>
              </a:spcAft>
            </a:pPr>
            <a:endParaRPr lang="en-US" sz="2000" b="1" dirty="0"/>
          </a:p>
          <a:p>
            <a:pPr>
              <a:lnSpc>
                <a:spcPct val="90000"/>
              </a:lnSpc>
              <a:spcAft>
                <a:spcPts val="490"/>
              </a:spcAft>
            </a:pPr>
            <a:r>
              <a:rPr lang="en-US" sz="2000" b="1" dirty="0"/>
              <a:t>Cryptography is not:</a:t>
            </a:r>
          </a:p>
          <a:p>
            <a:pPr marL="152400">
              <a:lnSpc>
                <a:spcPct val="90000"/>
              </a:lnSpc>
            </a:pPr>
            <a:r>
              <a:rPr lang="en-US" sz="2000" b="1" dirty="0"/>
              <a:t>•    The solution to all security problems</a:t>
            </a:r>
          </a:p>
          <a:p>
            <a:pPr marL="635000">
              <a:lnSpc>
                <a:spcPct val="90000"/>
              </a:lnSpc>
            </a:pPr>
            <a:r>
              <a:rPr lang="en-US" sz="2000" dirty="0"/>
              <a:t>•    Software bugs</a:t>
            </a:r>
          </a:p>
          <a:p>
            <a:pPr marL="635000">
              <a:lnSpc>
                <a:spcPct val="90000"/>
              </a:lnSpc>
            </a:pPr>
            <a:r>
              <a:rPr lang="en-US" sz="2000" dirty="0"/>
              <a:t>•    Social engineering attacks</a:t>
            </a:r>
          </a:p>
          <a:p>
            <a:pPr marL="152400">
              <a:lnSpc>
                <a:spcPct val="90000"/>
              </a:lnSpc>
            </a:pP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EDC6EB3-DFE5-462E-810C-A9C8DDCABA43}"/>
              </a:ext>
            </a:extLst>
          </p:cNvPr>
          <p:cNvSpPr txBox="1"/>
          <p:nvPr/>
        </p:nvSpPr>
        <p:spPr>
          <a:xfrm>
            <a:off x="2438400" y="2133601"/>
            <a:ext cx="6705600" cy="1446550"/>
          </a:xfrm>
          <a:prstGeom prst="rect">
            <a:avLst/>
          </a:prstGeom>
          <a:noFill/>
        </p:spPr>
        <p:txBody>
          <a:bodyPr wrap="square">
            <a:spAutoFit/>
          </a:bodyPr>
          <a:lstStyle/>
          <a:p>
            <a:r>
              <a:rPr lang="en-US" sz="2800" dirty="0">
                <a:hlinkClick r:id="rId2"/>
              </a:rPr>
              <a:t>https://www.youtube.com/watch?v=Zbqo7MGVElw&amp;t=9s</a:t>
            </a:r>
            <a:endParaRPr lang="en-US" sz="2800" dirty="0"/>
          </a:p>
          <a:p>
            <a:endParaRPr lang="en-US" sz="3200" dirty="0"/>
          </a:p>
        </p:txBody>
      </p:sp>
    </p:spTree>
    <p:extLst>
      <p:ext uri="{BB962C8B-B14F-4D97-AF65-F5344CB8AC3E}">
        <p14:creationId xmlns:p14="http://schemas.microsoft.com/office/powerpoint/2010/main" val="13559069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59394" name="Rectangle 2">
            <a:extLst>
              <a:ext uri="{FF2B5EF4-FFF2-40B4-BE49-F238E27FC236}">
                <a16:creationId xmlns:a16="http://schemas.microsoft.com/office/drawing/2014/main" id="{F75645E8-D4AE-4465-ADD7-CF6F8FB80739}"/>
              </a:ext>
            </a:extLst>
          </p:cNvPr>
          <p:cNvSpPr>
            <a:spLocks noGrp="1" noChangeArrowheads="1"/>
          </p:cNvSpPr>
          <p:nvPr>
            <p:ph type="title"/>
          </p:nvPr>
        </p:nvSpPr>
        <p:spPr>
          <a:xfrm>
            <a:off x="958506" y="800392"/>
            <a:ext cx="10264697" cy="1212102"/>
          </a:xfrm>
        </p:spPr>
        <p:txBody>
          <a:bodyPr>
            <a:normAutofit/>
          </a:bodyPr>
          <a:lstStyle/>
          <a:p>
            <a:r>
              <a:rPr lang="en-US" altLang="en-US" sz="4000">
                <a:solidFill>
                  <a:srgbClr val="FFFFFF"/>
                </a:solidFill>
              </a:rPr>
              <a:t>Classical Cryptographic Techniques</a:t>
            </a:r>
          </a:p>
        </p:txBody>
      </p:sp>
      <p:sp>
        <p:nvSpPr>
          <p:cNvPr id="59395" name="Rectangle 3">
            <a:extLst>
              <a:ext uri="{FF2B5EF4-FFF2-40B4-BE49-F238E27FC236}">
                <a16:creationId xmlns:a16="http://schemas.microsoft.com/office/drawing/2014/main" id="{09F81155-756F-4496-B316-B0459319ABC2}"/>
              </a:ext>
            </a:extLst>
          </p:cNvPr>
          <p:cNvSpPr>
            <a:spLocks noGrp="1" noChangeArrowheads="1"/>
          </p:cNvSpPr>
          <p:nvPr>
            <p:ph type="body" idx="1"/>
          </p:nvPr>
        </p:nvSpPr>
        <p:spPr>
          <a:xfrm>
            <a:off x="1367624" y="2490436"/>
            <a:ext cx="9708995" cy="3567173"/>
          </a:xfrm>
        </p:spPr>
        <p:txBody>
          <a:bodyPr anchor="ctr">
            <a:normAutofit/>
          </a:bodyPr>
          <a:lstStyle/>
          <a:p>
            <a:r>
              <a:rPr lang="en-US" altLang="en-US" sz="2400"/>
              <a:t>We have two basic components of classical ciphers: substitution and transposition </a:t>
            </a:r>
          </a:p>
          <a:p>
            <a:r>
              <a:rPr lang="en-US" altLang="en-US" sz="2400" b="1"/>
              <a:t>Substitution: </a:t>
            </a:r>
            <a:r>
              <a:rPr lang="en-US" altLang="en-US" sz="2400"/>
              <a:t>In substitution ciphers letters are replaced by other letters </a:t>
            </a:r>
          </a:p>
          <a:p>
            <a:r>
              <a:rPr lang="en-US" altLang="en-US" sz="2400" b="1"/>
              <a:t>Transposition: </a:t>
            </a:r>
            <a:r>
              <a:rPr lang="en-US" altLang="en-US" sz="2400"/>
              <a:t>In transposition ciphers the letters are arranged in a different order </a:t>
            </a:r>
          </a:p>
        </p:txBody>
      </p:sp>
      <p:sp>
        <p:nvSpPr>
          <p:cNvPr id="5" name="Slide Number Placeholder 4">
            <a:extLst>
              <a:ext uri="{FF2B5EF4-FFF2-40B4-BE49-F238E27FC236}">
                <a16:creationId xmlns:a16="http://schemas.microsoft.com/office/drawing/2014/main" id="{1E0FBAD6-2B5D-4AE6-8410-BE5A8C5BA51C}"/>
              </a:ext>
            </a:extLst>
          </p:cNvPr>
          <p:cNvSpPr>
            <a:spLocks noGrp="1"/>
          </p:cNvSpPr>
          <p:nvPr>
            <p:ph type="sldNum" sz="quarter" idx="12"/>
          </p:nvPr>
        </p:nvSpPr>
        <p:spPr>
          <a:xfrm>
            <a:off x="10707624" y="6382512"/>
            <a:ext cx="685800" cy="320040"/>
          </a:xfrm>
        </p:spPr>
        <p:txBody>
          <a:bodyPr>
            <a:normAutofit/>
          </a:bodyPr>
          <a:lstStyle/>
          <a:p>
            <a:pPr>
              <a:spcAft>
                <a:spcPts val="600"/>
              </a:spcAft>
            </a:pPr>
            <a:fld id="{5BF6C0E7-B3C3-4419-9BE4-7278A33D77C8}" type="slidenum">
              <a:rPr lang="en-US" altLang="en-US" sz="1000"/>
              <a:pPr>
                <a:spcAft>
                  <a:spcPts val="600"/>
                </a:spcAft>
              </a:pPr>
              <a:t>25</a:t>
            </a:fld>
            <a:endParaRPr lang="en-US" altLang="en-US" sz="1000"/>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60418" name="Rectangle 2">
            <a:extLst>
              <a:ext uri="{FF2B5EF4-FFF2-40B4-BE49-F238E27FC236}">
                <a16:creationId xmlns:a16="http://schemas.microsoft.com/office/drawing/2014/main" id="{3F3E4DCF-B5AD-4498-A6BB-BB61588982D3}"/>
              </a:ext>
            </a:extLst>
          </p:cNvPr>
          <p:cNvSpPr>
            <a:spLocks noGrp="1" noChangeArrowheads="1"/>
          </p:cNvSpPr>
          <p:nvPr>
            <p:ph type="title"/>
          </p:nvPr>
        </p:nvSpPr>
        <p:spPr>
          <a:xfrm>
            <a:off x="958506" y="800392"/>
            <a:ext cx="10264697" cy="1212102"/>
          </a:xfrm>
        </p:spPr>
        <p:txBody>
          <a:bodyPr>
            <a:normAutofit/>
          </a:bodyPr>
          <a:lstStyle/>
          <a:p>
            <a:r>
              <a:rPr lang="en-US" altLang="en-US" sz="4000">
                <a:solidFill>
                  <a:srgbClr val="FFFFFF"/>
                </a:solidFill>
              </a:rPr>
              <a:t>Monoalphabetic and Polyalphabetic Ciphers</a:t>
            </a:r>
          </a:p>
        </p:txBody>
      </p:sp>
      <p:sp>
        <p:nvSpPr>
          <p:cNvPr id="60419" name="Rectangle 3">
            <a:extLst>
              <a:ext uri="{FF2B5EF4-FFF2-40B4-BE49-F238E27FC236}">
                <a16:creationId xmlns:a16="http://schemas.microsoft.com/office/drawing/2014/main" id="{2EDCF8B0-0B5B-411E-BDC7-E5C9DB79749D}"/>
              </a:ext>
            </a:extLst>
          </p:cNvPr>
          <p:cNvSpPr>
            <a:spLocks noGrp="1" noChangeArrowheads="1"/>
          </p:cNvSpPr>
          <p:nvPr>
            <p:ph type="body" idx="1"/>
          </p:nvPr>
        </p:nvSpPr>
        <p:spPr>
          <a:xfrm>
            <a:off x="1367624" y="2490436"/>
            <a:ext cx="9708995" cy="3567173"/>
          </a:xfrm>
        </p:spPr>
        <p:txBody>
          <a:bodyPr anchor="ctr">
            <a:normAutofit/>
          </a:bodyPr>
          <a:lstStyle/>
          <a:p>
            <a:r>
              <a:rPr lang="en-US" altLang="en-US" sz="2400" b="1" dirty="0"/>
              <a:t>Monoalphabetic</a:t>
            </a:r>
            <a:r>
              <a:rPr lang="en-US" altLang="en-US" sz="2400" dirty="0"/>
              <a:t> - only one substitution/ transposition is used</a:t>
            </a:r>
          </a:p>
          <a:p>
            <a:r>
              <a:rPr lang="en-US" altLang="en-US" sz="2400" b="1" dirty="0"/>
              <a:t>Polyalphabetic</a:t>
            </a:r>
            <a:r>
              <a:rPr lang="en-US" altLang="en-US" sz="2400" dirty="0"/>
              <a:t> - where several substitutions/ transpositions are used </a:t>
            </a:r>
          </a:p>
          <a:p>
            <a:r>
              <a:rPr lang="en-US" altLang="en-US" sz="2400" dirty="0"/>
              <a:t>Several such ciphers may be linked together to form a </a:t>
            </a:r>
            <a:r>
              <a:rPr lang="en-US" altLang="en-US" sz="2400" b="1" dirty="0"/>
              <a:t>Product Cipher</a:t>
            </a:r>
            <a:endParaRPr lang="en-US" altLang="en-US" sz="2400" dirty="0"/>
          </a:p>
        </p:txBody>
      </p:sp>
      <p:sp>
        <p:nvSpPr>
          <p:cNvPr id="5" name="Slide Number Placeholder 4">
            <a:extLst>
              <a:ext uri="{FF2B5EF4-FFF2-40B4-BE49-F238E27FC236}">
                <a16:creationId xmlns:a16="http://schemas.microsoft.com/office/drawing/2014/main" id="{C1FEF8B5-E844-4B52-9B2D-DD04972D6633}"/>
              </a:ext>
            </a:extLst>
          </p:cNvPr>
          <p:cNvSpPr>
            <a:spLocks noGrp="1"/>
          </p:cNvSpPr>
          <p:nvPr>
            <p:ph type="sldNum" sz="quarter" idx="12"/>
          </p:nvPr>
        </p:nvSpPr>
        <p:spPr>
          <a:xfrm>
            <a:off x="10707624" y="6382512"/>
            <a:ext cx="685800" cy="320040"/>
          </a:xfrm>
        </p:spPr>
        <p:txBody>
          <a:bodyPr>
            <a:normAutofit/>
          </a:bodyPr>
          <a:lstStyle/>
          <a:p>
            <a:pPr>
              <a:spcAft>
                <a:spcPts val="600"/>
              </a:spcAft>
            </a:pPr>
            <a:fld id="{66E2E30F-9918-48A2-A93D-F0022E3E7219}" type="slidenum">
              <a:rPr lang="en-US" altLang="en-US" sz="1000"/>
              <a:pPr>
                <a:spcAft>
                  <a:spcPts val="600"/>
                </a:spcAft>
              </a:pPr>
              <a:t>26</a:t>
            </a:fld>
            <a:endParaRPr lang="en-US" altLang="en-US" sz="1000"/>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61442" name="Rectangle 2">
            <a:extLst>
              <a:ext uri="{FF2B5EF4-FFF2-40B4-BE49-F238E27FC236}">
                <a16:creationId xmlns:a16="http://schemas.microsoft.com/office/drawing/2014/main" id="{00565AC0-D348-44B2-BEE5-6FB7A5337EB1}"/>
              </a:ext>
            </a:extLst>
          </p:cNvPr>
          <p:cNvSpPr>
            <a:spLocks noGrp="1" noChangeArrowheads="1"/>
          </p:cNvSpPr>
          <p:nvPr>
            <p:ph type="title"/>
          </p:nvPr>
        </p:nvSpPr>
        <p:spPr>
          <a:xfrm>
            <a:off x="958506" y="800392"/>
            <a:ext cx="10264697" cy="1212102"/>
          </a:xfrm>
        </p:spPr>
        <p:txBody>
          <a:bodyPr>
            <a:normAutofit/>
          </a:bodyPr>
          <a:lstStyle/>
          <a:p>
            <a:r>
              <a:rPr lang="en-US" altLang="en-US" sz="4000">
                <a:solidFill>
                  <a:srgbClr val="FFFFFF"/>
                </a:solidFill>
              </a:rPr>
              <a:t>Caesar Cipher - A Monoalphabetic Substitution Cipher</a:t>
            </a:r>
          </a:p>
        </p:txBody>
      </p:sp>
      <p:sp>
        <p:nvSpPr>
          <p:cNvPr id="61443" name="Rectangle 3">
            <a:extLst>
              <a:ext uri="{FF2B5EF4-FFF2-40B4-BE49-F238E27FC236}">
                <a16:creationId xmlns:a16="http://schemas.microsoft.com/office/drawing/2014/main" id="{B9D33CCD-708F-4213-8B66-51D2CF4BDD7A}"/>
              </a:ext>
            </a:extLst>
          </p:cNvPr>
          <p:cNvSpPr>
            <a:spLocks noGrp="1" noChangeArrowheads="1"/>
          </p:cNvSpPr>
          <p:nvPr>
            <p:ph type="body" idx="1"/>
          </p:nvPr>
        </p:nvSpPr>
        <p:spPr>
          <a:xfrm>
            <a:off x="1367624" y="2490436"/>
            <a:ext cx="9708995" cy="3567173"/>
          </a:xfrm>
        </p:spPr>
        <p:txBody>
          <a:bodyPr anchor="ctr">
            <a:normAutofit/>
          </a:bodyPr>
          <a:lstStyle/>
          <a:p>
            <a:r>
              <a:rPr lang="en-US" altLang="en-US" sz="1900" dirty="0"/>
              <a:t>Replace each letter of message by a letter a fixed distance away e.g. use the 3rd letter on </a:t>
            </a:r>
          </a:p>
          <a:p>
            <a:r>
              <a:rPr lang="en-US" altLang="en-US" sz="1900" dirty="0"/>
              <a:t>Reputedly used by Julius Caesar, e.g. </a:t>
            </a:r>
          </a:p>
          <a:p>
            <a:pPr lvl="1"/>
            <a:r>
              <a:rPr lang="en-US" altLang="en-US" sz="1900" dirty="0"/>
              <a:t>L FDPH L VDZ L FRQTXHUHG</a:t>
            </a:r>
          </a:p>
          <a:p>
            <a:pPr lvl="1"/>
            <a:r>
              <a:rPr lang="en-US" altLang="en-US" sz="1900" dirty="0"/>
              <a:t>I CAME I SAW I CONQUERED</a:t>
            </a:r>
          </a:p>
          <a:p>
            <a:r>
              <a:rPr lang="en-US" altLang="en-US" sz="1900" dirty="0"/>
              <a:t>i.e. mapping is</a:t>
            </a:r>
          </a:p>
          <a:p>
            <a:pPr lvl="1"/>
            <a:r>
              <a:rPr lang="en-US" altLang="en-US" sz="1900" dirty="0"/>
              <a:t>ABCDEFGHIJKLMNOPQRSTUVWXYZ</a:t>
            </a:r>
          </a:p>
          <a:p>
            <a:pPr lvl="1"/>
            <a:r>
              <a:rPr lang="en-US" altLang="en-US" sz="1900" dirty="0"/>
              <a:t>DEFGHIJKLMNOPQRSTUVWXYZABC</a:t>
            </a:r>
          </a:p>
        </p:txBody>
      </p:sp>
      <p:sp>
        <p:nvSpPr>
          <p:cNvPr id="5" name="Slide Number Placeholder 5">
            <a:extLst>
              <a:ext uri="{FF2B5EF4-FFF2-40B4-BE49-F238E27FC236}">
                <a16:creationId xmlns:a16="http://schemas.microsoft.com/office/drawing/2014/main" id="{7DD0C40C-025F-4DF2-874E-0B3C93DB6D4C}"/>
              </a:ext>
            </a:extLst>
          </p:cNvPr>
          <p:cNvSpPr>
            <a:spLocks noGrp="1"/>
          </p:cNvSpPr>
          <p:nvPr>
            <p:ph type="sldNum" sz="quarter" idx="12"/>
          </p:nvPr>
        </p:nvSpPr>
        <p:spPr>
          <a:xfrm>
            <a:off x="10707624" y="6382512"/>
            <a:ext cx="685800" cy="320040"/>
          </a:xfrm>
        </p:spPr>
        <p:txBody>
          <a:bodyPr>
            <a:normAutofit/>
          </a:bodyPr>
          <a:lstStyle/>
          <a:p>
            <a:pPr>
              <a:spcAft>
                <a:spcPts val="600"/>
              </a:spcAft>
            </a:pPr>
            <a:fld id="{4B98C69C-C1EE-4262-8156-368BD6699E59}" type="slidenum">
              <a:rPr lang="en-US" altLang="en-US" sz="1000"/>
              <a:pPr>
                <a:spcAft>
                  <a:spcPts val="600"/>
                </a:spcAft>
              </a:pPr>
              <a:t>27</a:t>
            </a:fld>
            <a:endParaRPr lang="en-US" altLang="en-US" sz="1000"/>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0F078-FC01-43DA-82E7-3747E9F99CCB}"/>
              </a:ext>
            </a:extLst>
          </p:cNvPr>
          <p:cNvSpPr>
            <a:spLocks noGrp="1"/>
          </p:cNvSpPr>
          <p:nvPr>
            <p:ph type="title"/>
          </p:nvPr>
        </p:nvSpPr>
        <p:spPr>
          <a:xfrm>
            <a:off x="705678" y="1796360"/>
            <a:ext cx="10717696" cy="1317901"/>
          </a:xfrm>
        </p:spPr>
        <p:txBody>
          <a:bodyPr>
            <a:normAutofit fontScale="90000"/>
          </a:bodyPr>
          <a:lstStyle/>
          <a:p>
            <a:r>
              <a:rPr lang="en-US" dirty="0">
                <a:hlinkClick r:id="rId2"/>
              </a:rPr>
              <a:t>https://www.youtube.com/watch?v=sMOZf4GN3oc</a:t>
            </a:r>
            <a:br>
              <a:rPr lang="en-US" dirty="0"/>
            </a:br>
            <a:endParaRPr lang="en-US" dirty="0"/>
          </a:p>
        </p:txBody>
      </p:sp>
    </p:spTree>
    <p:extLst>
      <p:ext uri="{BB962C8B-B14F-4D97-AF65-F5344CB8AC3E}">
        <p14:creationId xmlns:p14="http://schemas.microsoft.com/office/powerpoint/2010/main" val="12296394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7C213B7-2896-40C5-90E1-8B16DA51F61B}"/>
              </a:ext>
            </a:extLst>
          </p:cNvPr>
          <p:cNvPicPr>
            <a:picLocks noChangeAspect="1"/>
          </p:cNvPicPr>
          <p:nvPr/>
        </p:nvPicPr>
        <p:blipFill>
          <a:blip r:embed="rId2"/>
          <a:stretch>
            <a:fillRect/>
          </a:stretch>
        </p:blipFill>
        <p:spPr>
          <a:xfrm>
            <a:off x="1510761" y="643467"/>
            <a:ext cx="9170478" cy="5571065"/>
          </a:xfrm>
          <a:prstGeom prst="rect">
            <a:avLst/>
          </a:prstGeom>
          <a:ln>
            <a:noFill/>
          </a:ln>
        </p:spPr>
      </p:pic>
    </p:spTree>
    <p:extLst>
      <p:ext uri="{BB962C8B-B14F-4D97-AF65-F5344CB8AC3E}">
        <p14:creationId xmlns:p14="http://schemas.microsoft.com/office/powerpoint/2010/main" val="419306571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C46F38A-2256-427E-8E3C-05577727325B}"/>
              </a:ext>
            </a:extLst>
          </p:cNvPr>
          <p:cNvPicPr>
            <a:picLocks noChangeAspect="1"/>
          </p:cNvPicPr>
          <p:nvPr/>
        </p:nvPicPr>
        <p:blipFill>
          <a:blip r:embed="rId2"/>
          <a:stretch>
            <a:fillRect/>
          </a:stretch>
        </p:blipFill>
        <p:spPr>
          <a:xfrm>
            <a:off x="1434021" y="643467"/>
            <a:ext cx="9323957" cy="5571065"/>
          </a:xfrm>
          <a:prstGeom prst="rect">
            <a:avLst/>
          </a:prstGeom>
          <a:ln>
            <a:noFill/>
          </a:ln>
        </p:spPr>
      </p:pic>
    </p:spTree>
    <p:extLst>
      <p:ext uri="{BB962C8B-B14F-4D97-AF65-F5344CB8AC3E}">
        <p14:creationId xmlns:p14="http://schemas.microsoft.com/office/powerpoint/2010/main" val="33954110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5D3F4ED-2ED3-4D71-A2EA-EC93825DCEE0}"/>
              </a:ext>
            </a:extLst>
          </p:cNvPr>
          <p:cNvPicPr>
            <a:picLocks noChangeAspect="1"/>
          </p:cNvPicPr>
          <p:nvPr/>
        </p:nvPicPr>
        <p:blipFill>
          <a:blip r:embed="rId2"/>
          <a:stretch>
            <a:fillRect/>
          </a:stretch>
        </p:blipFill>
        <p:spPr>
          <a:xfrm>
            <a:off x="2058996" y="643467"/>
            <a:ext cx="8074007" cy="5571065"/>
          </a:xfrm>
          <a:prstGeom prst="rect">
            <a:avLst/>
          </a:prstGeom>
          <a:ln>
            <a:noFill/>
          </a:ln>
        </p:spPr>
      </p:pic>
    </p:spTree>
    <p:extLst>
      <p:ext uri="{BB962C8B-B14F-4D97-AF65-F5344CB8AC3E}">
        <p14:creationId xmlns:p14="http://schemas.microsoft.com/office/powerpoint/2010/main" val="19362920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3F5A866-4B66-46FE-AB03-BCB2C19DAF65}"/>
              </a:ext>
            </a:extLst>
          </p:cNvPr>
          <p:cNvPicPr>
            <a:picLocks noChangeAspect="1"/>
          </p:cNvPicPr>
          <p:nvPr/>
        </p:nvPicPr>
        <p:blipFill>
          <a:blip r:embed="rId2"/>
          <a:stretch>
            <a:fillRect/>
          </a:stretch>
        </p:blipFill>
        <p:spPr>
          <a:xfrm>
            <a:off x="1922917" y="643467"/>
            <a:ext cx="8346165" cy="5571065"/>
          </a:xfrm>
          <a:prstGeom prst="rect">
            <a:avLst/>
          </a:prstGeom>
          <a:ln>
            <a:noFill/>
          </a:ln>
        </p:spPr>
      </p:pic>
    </p:spTree>
    <p:extLst>
      <p:ext uri="{BB962C8B-B14F-4D97-AF65-F5344CB8AC3E}">
        <p14:creationId xmlns:p14="http://schemas.microsoft.com/office/powerpoint/2010/main" val="5922052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39266" name="Rectangle 1026">
            <a:extLst>
              <a:ext uri="{FF2B5EF4-FFF2-40B4-BE49-F238E27FC236}">
                <a16:creationId xmlns:a16="http://schemas.microsoft.com/office/drawing/2014/main" id="{CEF01168-C6A6-43E6-9F30-AE92FFC032C2}"/>
              </a:ext>
            </a:extLst>
          </p:cNvPr>
          <p:cNvSpPr>
            <a:spLocks noGrp="1" noChangeArrowheads="1"/>
          </p:cNvSpPr>
          <p:nvPr>
            <p:ph type="title"/>
          </p:nvPr>
        </p:nvSpPr>
        <p:spPr>
          <a:xfrm>
            <a:off x="958506" y="800392"/>
            <a:ext cx="10264697" cy="1212102"/>
          </a:xfrm>
        </p:spPr>
        <p:txBody>
          <a:bodyPr>
            <a:normAutofit/>
          </a:bodyPr>
          <a:lstStyle/>
          <a:p>
            <a:r>
              <a:rPr lang="en-US" altLang="en-US" sz="4000">
                <a:solidFill>
                  <a:srgbClr val="FFFFFF"/>
                </a:solidFill>
              </a:rPr>
              <a:t>Frequency-based Cryptanalytic Attacks</a:t>
            </a:r>
          </a:p>
        </p:txBody>
      </p:sp>
      <p:sp>
        <p:nvSpPr>
          <p:cNvPr id="139267" name="Rectangle 1027">
            <a:extLst>
              <a:ext uri="{FF2B5EF4-FFF2-40B4-BE49-F238E27FC236}">
                <a16:creationId xmlns:a16="http://schemas.microsoft.com/office/drawing/2014/main" id="{4D567F87-BAD0-49E9-9C7C-80E3BBE0B3FA}"/>
              </a:ext>
            </a:extLst>
          </p:cNvPr>
          <p:cNvSpPr>
            <a:spLocks noGrp="1" noChangeArrowheads="1"/>
          </p:cNvSpPr>
          <p:nvPr>
            <p:ph type="body" idx="1"/>
          </p:nvPr>
        </p:nvSpPr>
        <p:spPr>
          <a:xfrm>
            <a:off x="1367624" y="2490436"/>
            <a:ext cx="9708995" cy="3567173"/>
          </a:xfrm>
        </p:spPr>
        <p:txBody>
          <a:bodyPr anchor="ctr">
            <a:normAutofit/>
          </a:bodyPr>
          <a:lstStyle/>
          <a:p>
            <a:r>
              <a:rPr lang="en-US" altLang="en-US" sz="2400" dirty="0"/>
              <a:t>Cryptanalyst knows the letter-frequency distribution of the language</a:t>
            </a:r>
          </a:p>
          <a:p>
            <a:r>
              <a:rPr lang="en-US" altLang="en-US" sz="2400" dirty="0"/>
              <a:t>Cryptanalyst constructs the letter frequency table of the cipher-text</a:t>
            </a:r>
          </a:p>
          <a:p>
            <a:r>
              <a:rPr lang="en-US" altLang="en-US" sz="2400" dirty="0"/>
              <a:t>Cryptanalyst tries to find letter pairs with the same frequency distribution in the plain text and cipher text</a:t>
            </a:r>
          </a:p>
          <a:p>
            <a:r>
              <a:rPr lang="en-US" altLang="en-US" sz="2400" dirty="0"/>
              <a:t>Also uses the frequencies of di-grams and tri-grams</a:t>
            </a:r>
          </a:p>
          <a:p>
            <a:pPr marL="0" indent="0">
              <a:buNone/>
            </a:pPr>
            <a:endParaRPr lang="en-US" altLang="en-US" sz="2400" dirty="0"/>
          </a:p>
        </p:txBody>
      </p:sp>
      <p:sp>
        <p:nvSpPr>
          <p:cNvPr id="5" name="Slide Number Placeholder 4">
            <a:extLst>
              <a:ext uri="{FF2B5EF4-FFF2-40B4-BE49-F238E27FC236}">
                <a16:creationId xmlns:a16="http://schemas.microsoft.com/office/drawing/2014/main" id="{380B2319-78C0-4801-9584-98EE67A2649E}"/>
              </a:ext>
            </a:extLst>
          </p:cNvPr>
          <p:cNvSpPr>
            <a:spLocks noGrp="1"/>
          </p:cNvSpPr>
          <p:nvPr>
            <p:ph type="sldNum" sz="quarter" idx="12"/>
          </p:nvPr>
        </p:nvSpPr>
        <p:spPr>
          <a:xfrm>
            <a:off x="10707624" y="6382512"/>
            <a:ext cx="685800" cy="320040"/>
          </a:xfrm>
        </p:spPr>
        <p:txBody>
          <a:bodyPr>
            <a:normAutofit/>
          </a:bodyPr>
          <a:lstStyle/>
          <a:p>
            <a:pPr marL="0" marR="0" lvl="0" indent="0" defTabSz="914400" rtl="0" eaLnBrk="1" fontAlgn="auto" latinLnBrk="0" hangingPunct="1">
              <a:spcBef>
                <a:spcPts val="0"/>
              </a:spcBef>
              <a:spcAft>
                <a:spcPts val="600"/>
              </a:spcAft>
              <a:buClrTx/>
              <a:buSzTx/>
              <a:buFontTx/>
              <a:buNone/>
              <a:tabLst/>
              <a:defRPr/>
            </a:pPr>
            <a:fld id="{9B810057-FC2B-472C-8D10-9120E3052DE5}" type="slidenum">
              <a:rPr kumimoji="0" lang="en-US" altLang="en-US" sz="1000" b="0" i="0" u="none" strike="noStrike" kern="1200" cap="none" spc="0" normalizeH="0" baseline="0" noProof="0">
                <a:ln>
                  <a:noFill/>
                </a:ln>
                <a:effectLst/>
                <a:uLnTx/>
                <a:uFillTx/>
                <a:latin typeface="Calibri" panose="020F0502020204030204"/>
                <a:ea typeface="+mn-ea"/>
                <a:cs typeface="+mn-cs"/>
              </a:rPr>
              <a:pPr marL="0" marR="0" lvl="0" indent="0" defTabSz="914400" rtl="0" eaLnBrk="1" fontAlgn="auto" latinLnBrk="0" hangingPunct="1">
                <a:spcBef>
                  <a:spcPts val="0"/>
                </a:spcBef>
                <a:spcAft>
                  <a:spcPts val="600"/>
                </a:spcAft>
                <a:buClrTx/>
                <a:buSzTx/>
                <a:buFontTx/>
                <a:buNone/>
                <a:tabLst/>
                <a:defRPr/>
              </a:pPr>
              <a:t>33</a:t>
            </a:fld>
            <a:endParaRPr kumimoji="0" lang="en-US" altLang="en-US" sz="1000" b="0" i="0" u="none" strike="noStrike" kern="1200" cap="none" spc="0" normalizeH="0" baseline="0" noProof="0">
              <a:ln>
                <a:noFill/>
              </a:ln>
              <a:effectLst/>
              <a:uLnTx/>
              <a:uFillTx/>
              <a:latin typeface="Calibri" panose="020F0502020204030204"/>
              <a:ea typeface="+mn-ea"/>
              <a:cs typeface="+mn-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20801086-96BD-4185-A8C9-C0EC03F940FA}"/>
              </a:ext>
            </a:extLst>
          </p:cNvPr>
          <p:cNvSpPr>
            <a:spLocks noGrp="1"/>
          </p:cNvSpPr>
          <p:nvPr>
            <p:ph type="sldNum" sz="quarter" idx="12"/>
          </p:nvPr>
        </p:nvSpPr>
        <p:spPr/>
        <p:txBody>
          <a:bodyPr/>
          <a:lstStyle/>
          <a:p>
            <a:fld id="{D4D6D755-AF92-444F-B172-613C7D68FD08}" type="slidenum">
              <a:rPr lang="en-US" altLang="en-US"/>
              <a:pPr/>
              <a:t>34</a:t>
            </a:fld>
            <a:endParaRPr lang="en-US" altLang="en-US"/>
          </a:p>
        </p:txBody>
      </p:sp>
      <p:sp>
        <p:nvSpPr>
          <p:cNvPr id="68610" name="Rectangle 2">
            <a:extLst>
              <a:ext uri="{FF2B5EF4-FFF2-40B4-BE49-F238E27FC236}">
                <a16:creationId xmlns:a16="http://schemas.microsoft.com/office/drawing/2014/main" id="{787CB7BD-F2F2-4034-8E4B-7C8E21F50113}"/>
              </a:ext>
            </a:extLst>
          </p:cNvPr>
          <p:cNvSpPr>
            <a:spLocks noGrp="1" noChangeArrowheads="1"/>
          </p:cNvSpPr>
          <p:nvPr>
            <p:ph type="title"/>
          </p:nvPr>
        </p:nvSpPr>
        <p:spPr/>
        <p:txBody>
          <a:bodyPr/>
          <a:lstStyle/>
          <a:p>
            <a:r>
              <a:rPr lang="en-US" altLang="en-US"/>
              <a:t>Frequency Distribution of Letters</a:t>
            </a:r>
          </a:p>
        </p:txBody>
      </p:sp>
      <p:graphicFrame>
        <p:nvGraphicFramePr>
          <p:cNvPr id="68611" name="Object 3">
            <a:extLst>
              <a:ext uri="{FF2B5EF4-FFF2-40B4-BE49-F238E27FC236}">
                <a16:creationId xmlns:a16="http://schemas.microsoft.com/office/drawing/2014/main" id="{E92659DD-2F43-41A8-8AB4-1592B2822FD6}"/>
              </a:ext>
            </a:extLst>
          </p:cNvPr>
          <p:cNvGraphicFramePr>
            <a:graphicFrameLocks noGrp="1" noChangeAspect="1"/>
          </p:cNvGraphicFramePr>
          <p:nvPr>
            <p:ph idx="1"/>
          </p:nvPr>
        </p:nvGraphicFramePr>
        <p:xfrm>
          <a:off x="1981200" y="1885951"/>
          <a:ext cx="8382000" cy="4151313"/>
        </p:xfrm>
        <a:graphic>
          <a:graphicData uri="http://schemas.openxmlformats.org/presentationml/2006/ole">
            <mc:AlternateContent xmlns:mc="http://schemas.openxmlformats.org/markup-compatibility/2006">
              <mc:Choice xmlns:v="urn:schemas-microsoft-com:vml" Requires="v">
                <p:oleObj name="Photo Editor Photo" r:id="rId2" imgW="3208298" imgH="1653333" progId="MSPhotoEd.3">
                  <p:embed/>
                </p:oleObj>
              </mc:Choice>
              <mc:Fallback>
                <p:oleObj name="Photo Editor Photo" r:id="rId2" imgW="3208298" imgH="1653333" progId="MSPhotoEd.3">
                  <p:embed/>
                  <p:pic>
                    <p:nvPicPr>
                      <p:cNvPr id="68611" name="Object 3">
                        <a:extLst>
                          <a:ext uri="{FF2B5EF4-FFF2-40B4-BE49-F238E27FC236}">
                            <a16:creationId xmlns:a16="http://schemas.microsoft.com/office/drawing/2014/main" id="{E92659DD-2F43-41A8-8AB4-1592B2822F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885951"/>
                        <a:ext cx="8382000" cy="4151313"/>
                      </a:xfrm>
                      <a:prstGeom prst="rect">
                        <a:avLst/>
                      </a:prstGeom>
                    </p:spPr>
                  </p:pic>
                </p:oleObj>
              </mc:Fallback>
            </mc:AlternateContent>
          </a:graphicData>
        </a:graphic>
      </p:graphicFrame>
    </p:spTree>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Content Placeholder 5">
            <a:extLst>
              <a:ext uri="{FF2B5EF4-FFF2-40B4-BE49-F238E27FC236}">
                <a16:creationId xmlns:a16="http://schemas.microsoft.com/office/drawing/2014/main" id="{C2C4540F-B35D-489E-A5D7-3EC654D5E0B9}"/>
              </a:ext>
            </a:extLst>
          </p:cNvPr>
          <p:cNvPicPr>
            <a:picLocks noGrp="1" noChangeAspect="1"/>
          </p:cNvPicPr>
          <p:nvPr>
            <p:ph idx="1"/>
          </p:nvPr>
        </p:nvPicPr>
        <p:blipFill rotWithShape="1">
          <a:blip r:embed="rId2"/>
          <a:srcRect t="448" b="3416"/>
          <a:stretch/>
        </p:blipFill>
        <p:spPr>
          <a:xfrm>
            <a:off x="20" y="1282"/>
            <a:ext cx="12191980" cy="6856718"/>
          </a:xfrm>
          <a:prstGeom prst="rect">
            <a:avLst/>
          </a:prstGeom>
        </p:spPr>
      </p:pic>
    </p:spTree>
    <p:extLst>
      <p:ext uri="{BB962C8B-B14F-4D97-AF65-F5344CB8AC3E}">
        <p14:creationId xmlns:p14="http://schemas.microsoft.com/office/powerpoint/2010/main" val="47655144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6">
            <a:extLst>
              <a:ext uri="{FF2B5EF4-FFF2-40B4-BE49-F238E27FC236}">
                <a16:creationId xmlns:a16="http://schemas.microsoft.com/office/drawing/2014/main" id="{69D184B2-2226-4E31-BCCB-444330767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8533" y="918266"/>
            <a:ext cx="706127" cy="5863534"/>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7">
            <a:extLst>
              <a:ext uri="{FF2B5EF4-FFF2-40B4-BE49-F238E27FC236}">
                <a16:creationId xmlns:a16="http://schemas.microsoft.com/office/drawing/2014/main" id="{1AC4D4E3-486A-464A-8EC8-D448810972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7879" y="643467"/>
            <a:ext cx="420307" cy="5668919"/>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Rectangle 12">
            <a:extLst>
              <a:ext uri="{FF2B5EF4-FFF2-40B4-BE49-F238E27FC236}">
                <a16:creationId xmlns:a16="http://schemas.microsoft.com/office/drawing/2014/main" id="{864DE13E-58EB-4475-B79C-0D4FC6512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38387" y="643467"/>
            <a:ext cx="10933503" cy="5391944"/>
          </a:xfrm>
          <a:prstGeom prst="rect">
            <a:avLst/>
          </a:prstGeom>
          <a:solidFill>
            <a:srgbClr val="FFFFFF"/>
          </a:solidFill>
          <a:ln w="12700">
            <a:solidFill>
              <a:schemeClr val="accent1"/>
            </a:solidFill>
            <a:miter lim="800000"/>
          </a:ln>
        </p:spPr>
        <p:txBody>
          <a:bodyPr vert="horz" wrap="square" lIns="91440" tIns="45720" rIns="91440" bIns="45720" numCol="1" anchor="t" anchorCtr="0" compatLnSpc="1">
            <a:prstTxWarp prst="textNoShape">
              <a:avLst/>
            </a:prstTxWarp>
          </a:bodyPr>
          <a:lstStyle/>
          <a:p>
            <a:endParaRPr lang="en-US"/>
          </a:p>
        </p:txBody>
      </p:sp>
      <p:pic>
        <p:nvPicPr>
          <p:cNvPr id="4" name="Picture 3">
            <a:extLst>
              <a:ext uri="{FF2B5EF4-FFF2-40B4-BE49-F238E27FC236}">
                <a16:creationId xmlns:a16="http://schemas.microsoft.com/office/drawing/2014/main" id="{D5ED6EE4-A06D-4176-8622-B9FE50CC5538}"/>
              </a:ext>
            </a:extLst>
          </p:cNvPr>
          <p:cNvPicPr>
            <a:picLocks noChangeAspect="1"/>
          </p:cNvPicPr>
          <p:nvPr/>
        </p:nvPicPr>
        <p:blipFill>
          <a:blip r:embed="rId2"/>
          <a:stretch>
            <a:fillRect/>
          </a:stretch>
        </p:blipFill>
        <p:spPr>
          <a:xfrm>
            <a:off x="1045710" y="1114900"/>
            <a:ext cx="9664846" cy="2488697"/>
          </a:xfrm>
          <a:prstGeom prst="rect">
            <a:avLst/>
          </a:prstGeom>
        </p:spPr>
      </p:pic>
    </p:spTree>
    <p:extLst>
      <p:ext uri="{BB962C8B-B14F-4D97-AF65-F5344CB8AC3E}">
        <p14:creationId xmlns:p14="http://schemas.microsoft.com/office/powerpoint/2010/main" val="36656535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Freeform 6">
            <a:extLst>
              <a:ext uri="{FF2B5EF4-FFF2-40B4-BE49-F238E27FC236}">
                <a16:creationId xmlns:a16="http://schemas.microsoft.com/office/drawing/2014/main" id="{69D184B2-2226-4E31-BCCB-4443307674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8533" y="918266"/>
            <a:ext cx="706127" cy="5863534"/>
          </a:xfrm>
          <a:custGeom>
            <a:avLst/>
            <a:gdLst>
              <a:gd name="T0" fmla="*/ 414 w 414"/>
              <a:gd name="T1" fmla="*/ 2447 h 2447"/>
              <a:gd name="T2" fmla="*/ 0 w 414"/>
              <a:gd name="T3" fmla="*/ 2247 h 2447"/>
              <a:gd name="T4" fmla="*/ 0 w 414"/>
              <a:gd name="T5" fmla="*/ 0 h 2447"/>
              <a:gd name="T6" fmla="*/ 414 w 414"/>
              <a:gd name="T7" fmla="*/ 200 h 2447"/>
              <a:gd name="T8" fmla="*/ 414 w 414"/>
              <a:gd name="T9" fmla="*/ 2447 h 2447"/>
            </a:gdLst>
            <a:ahLst/>
            <a:cxnLst>
              <a:cxn ang="0">
                <a:pos x="T0" y="T1"/>
              </a:cxn>
              <a:cxn ang="0">
                <a:pos x="T2" y="T3"/>
              </a:cxn>
              <a:cxn ang="0">
                <a:pos x="T4" y="T5"/>
              </a:cxn>
              <a:cxn ang="0">
                <a:pos x="T6" y="T7"/>
              </a:cxn>
              <a:cxn ang="0">
                <a:pos x="T8" y="T9"/>
              </a:cxn>
            </a:cxnLst>
            <a:rect l="0" t="0" r="r" b="b"/>
            <a:pathLst>
              <a:path w="414" h="2447">
                <a:moveTo>
                  <a:pt x="414" y="2447"/>
                </a:moveTo>
                <a:lnTo>
                  <a:pt x="0" y="2247"/>
                </a:lnTo>
                <a:lnTo>
                  <a:pt x="0" y="0"/>
                </a:lnTo>
                <a:lnTo>
                  <a:pt x="414" y="200"/>
                </a:lnTo>
                <a:lnTo>
                  <a:pt x="414" y="244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7">
            <a:extLst>
              <a:ext uri="{FF2B5EF4-FFF2-40B4-BE49-F238E27FC236}">
                <a16:creationId xmlns:a16="http://schemas.microsoft.com/office/drawing/2014/main" id="{1AC4D4E3-486A-464A-8EC8-D448810972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117879" y="643467"/>
            <a:ext cx="420307" cy="5668919"/>
          </a:xfrm>
          <a:custGeom>
            <a:avLst/>
            <a:gdLst>
              <a:gd name="T0" fmla="*/ 209 w 209"/>
              <a:gd name="T1" fmla="*/ 2246 h 2358"/>
              <a:gd name="T2" fmla="*/ 0 w 209"/>
              <a:gd name="T3" fmla="*/ 2358 h 2358"/>
              <a:gd name="T4" fmla="*/ 0 w 209"/>
              <a:gd name="T5" fmla="*/ 111 h 2358"/>
              <a:gd name="T6" fmla="*/ 209 w 209"/>
              <a:gd name="T7" fmla="*/ 0 h 2358"/>
              <a:gd name="T8" fmla="*/ 209 w 209"/>
              <a:gd name="T9" fmla="*/ 2246 h 2358"/>
            </a:gdLst>
            <a:ahLst/>
            <a:cxnLst>
              <a:cxn ang="0">
                <a:pos x="T0" y="T1"/>
              </a:cxn>
              <a:cxn ang="0">
                <a:pos x="T2" y="T3"/>
              </a:cxn>
              <a:cxn ang="0">
                <a:pos x="T4" y="T5"/>
              </a:cxn>
              <a:cxn ang="0">
                <a:pos x="T6" y="T7"/>
              </a:cxn>
              <a:cxn ang="0">
                <a:pos x="T8" y="T9"/>
              </a:cxn>
            </a:cxnLst>
            <a:rect l="0" t="0" r="r" b="b"/>
            <a:pathLst>
              <a:path w="209" h="2358">
                <a:moveTo>
                  <a:pt x="209" y="2246"/>
                </a:moveTo>
                <a:lnTo>
                  <a:pt x="0" y="2358"/>
                </a:lnTo>
                <a:lnTo>
                  <a:pt x="0" y="111"/>
                </a:lnTo>
                <a:lnTo>
                  <a:pt x="209" y="0"/>
                </a:lnTo>
                <a:lnTo>
                  <a:pt x="209" y="2246"/>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3" name="Rectangle 12">
            <a:extLst>
              <a:ext uri="{FF2B5EF4-FFF2-40B4-BE49-F238E27FC236}">
                <a16:creationId xmlns:a16="http://schemas.microsoft.com/office/drawing/2014/main" id="{864DE13E-58EB-4475-B79C-0D4FC65123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38387" y="643467"/>
            <a:ext cx="10933503" cy="5391944"/>
          </a:xfrm>
          <a:prstGeom prst="rect">
            <a:avLst/>
          </a:prstGeom>
          <a:solidFill>
            <a:srgbClr val="FFFFFF"/>
          </a:solidFill>
          <a:ln w="12700">
            <a:solidFill>
              <a:schemeClr val="accent1"/>
            </a:solidFill>
            <a:miter lim="800000"/>
          </a:ln>
        </p:spPr>
        <p:txBody>
          <a:bodyPr vert="horz" wrap="square" lIns="91440" tIns="45720" rIns="91440" bIns="45720" numCol="1" anchor="t" anchorCtr="0" compatLnSpc="1">
            <a:prstTxWarp prst="textNoShape">
              <a:avLst/>
            </a:prstTxWarp>
          </a:bodyPr>
          <a:lstStyle/>
          <a:p>
            <a:endParaRPr lang="en-US"/>
          </a:p>
        </p:txBody>
      </p:sp>
      <p:pic>
        <p:nvPicPr>
          <p:cNvPr id="4" name="Picture 3">
            <a:extLst>
              <a:ext uri="{FF2B5EF4-FFF2-40B4-BE49-F238E27FC236}">
                <a16:creationId xmlns:a16="http://schemas.microsoft.com/office/drawing/2014/main" id="{B9ECA4B9-CABB-4DA3-B2D7-EDC4575E41D3}"/>
              </a:ext>
            </a:extLst>
          </p:cNvPr>
          <p:cNvPicPr>
            <a:picLocks noChangeAspect="1"/>
          </p:cNvPicPr>
          <p:nvPr/>
        </p:nvPicPr>
        <p:blipFill>
          <a:blip r:embed="rId2"/>
          <a:stretch>
            <a:fillRect/>
          </a:stretch>
        </p:blipFill>
        <p:spPr>
          <a:xfrm>
            <a:off x="1200263" y="1255310"/>
            <a:ext cx="9664846" cy="3745127"/>
          </a:xfrm>
          <a:prstGeom prst="rect">
            <a:avLst/>
          </a:prstGeom>
        </p:spPr>
      </p:pic>
    </p:spTree>
    <p:extLst>
      <p:ext uri="{BB962C8B-B14F-4D97-AF65-F5344CB8AC3E}">
        <p14:creationId xmlns:p14="http://schemas.microsoft.com/office/powerpoint/2010/main" val="25152831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38242" name="Rectangle 2">
            <a:extLst>
              <a:ext uri="{FF2B5EF4-FFF2-40B4-BE49-F238E27FC236}">
                <a16:creationId xmlns:a16="http://schemas.microsoft.com/office/drawing/2014/main" id="{D451ED16-6E00-4C4E-8A34-39919D41386E}"/>
              </a:ext>
            </a:extLst>
          </p:cNvPr>
          <p:cNvSpPr>
            <a:spLocks noGrp="1" noChangeArrowheads="1"/>
          </p:cNvSpPr>
          <p:nvPr>
            <p:ph type="title"/>
          </p:nvPr>
        </p:nvSpPr>
        <p:spPr>
          <a:xfrm>
            <a:off x="958506" y="800392"/>
            <a:ext cx="10264697" cy="1212102"/>
          </a:xfrm>
        </p:spPr>
        <p:txBody>
          <a:bodyPr>
            <a:normAutofit/>
          </a:bodyPr>
          <a:lstStyle/>
          <a:p>
            <a:r>
              <a:rPr lang="en-US" altLang="en-US" sz="4000">
                <a:solidFill>
                  <a:srgbClr val="FFFFFF"/>
                </a:solidFill>
              </a:rPr>
              <a:t>Polyalphabetic Substitution Cipher</a:t>
            </a:r>
          </a:p>
        </p:txBody>
      </p:sp>
      <p:sp>
        <p:nvSpPr>
          <p:cNvPr id="138243" name="Rectangle 3">
            <a:extLst>
              <a:ext uri="{FF2B5EF4-FFF2-40B4-BE49-F238E27FC236}">
                <a16:creationId xmlns:a16="http://schemas.microsoft.com/office/drawing/2014/main" id="{174CEB64-8CAF-428F-BF8A-7488640625C7}"/>
              </a:ext>
            </a:extLst>
          </p:cNvPr>
          <p:cNvSpPr>
            <a:spLocks noGrp="1" noChangeArrowheads="1"/>
          </p:cNvSpPr>
          <p:nvPr>
            <p:ph type="body" idx="1"/>
          </p:nvPr>
        </p:nvSpPr>
        <p:spPr>
          <a:xfrm>
            <a:off x="1367624" y="2490436"/>
            <a:ext cx="9708995" cy="3567173"/>
          </a:xfrm>
        </p:spPr>
        <p:txBody>
          <a:bodyPr anchor="ctr">
            <a:normAutofit/>
          </a:bodyPr>
          <a:lstStyle/>
          <a:p>
            <a:r>
              <a:rPr lang="en-US" altLang="en-US" sz="2400" b="1"/>
              <a:t>Polyalphabetic</a:t>
            </a:r>
            <a:r>
              <a:rPr lang="en-US" altLang="en-US" sz="2400"/>
              <a:t> Substitution - several substitutions are used.</a:t>
            </a:r>
          </a:p>
          <a:p>
            <a:r>
              <a:rPr lang="en-US" altLang="en-US" sz="2400"/>
              <a:t>Used to hide the statistics of the plain-text.</a:t>
            </a:r>
          </a:p>
        </p:txBody>
      </p:sp>
      <p:sp>
        <p:nvSpPr>
          <p:cNvPr id="5" name="Slide Number Placeholder 4">
            <a:extLst>
              <a:ext uri="{FF2B5EF4-FFF2-40B4-BE49-F238E27FC236}">
                <a16:creationId xmlns:a16="http://schemas.microsoft.com/office/drawing/2014/main" id="{2A121BAC-B1E2-44A6-AFFC-BB3691978372}"/>
              </a:ext>
            </a:extLst>
          </p:cNvPr>
          <p:cNvSpPr>
            <a:spLocks noGrp="1"/>
          </p:cNvSpPr>
          <p:nvPr>
            <p:ph type="sldNum" sz="quarter" idx="12"/>
          </p:nvPr>
        </p:nvSpPr>
        <p:spPr>
          <a:xfrm>
            <a:off x="10707624" y="6382512"/>
            <a:ext cx="685800" cy="320040"/>
          </a:xfrm>
        </p:spPr>
        <p:txBody>
          <a:bodyPr>
            <a:normAutofit/>
          </a:bodyPr>
          <a:lstStyle/>
          <a:p>
            <a:pPr>
              <a:spcAft>
                <a:spcPts val="600"/>
              </a:spcAft>
            </a:pPr>
            <a:fld id="{150BEED7-CE3A-4433-BA9A-A1951D41703E}" type="slidenum">
              <a:rPr lang="en-US" altLang="en-US" sz="1000"/>
              <a:pPr>
                <a:spcAft>
                  <a:spcPts val="600"/>
                </a:spcAft>
              </a:pPr>
              <a:t>38</a:t>
            </a:fld>
            <a:endParaRPr lang="en-US" altLang="en-US" sz="10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F0A86A34-1503-444B-B81C-F47A95A53809}"/>
              </a:ext>
            </a:extLst>
          </p:cNvPr>
          <p:cNvSpPr>
            <a:spLocks noGrp="1"/>
          </p:cNvSpPr>
          <p:nvPr>
            <p:ph type="sldNum" sz="quarter" idx="12"/>
          </p:nvPr>
        </p:nvSpPr>
        <p:spPr/>
        <p:txBody>
          <a:bodyPr/>
          <a:lstStyle/>
          <a:p>
            <a:fld id="{694AF92B-47E2-46F0-846D-9B74C6C33D19}" type="slidenum">
              <a:rPr lang="en-US" altLang="en-US"/>
              <a:pPr/>
              <a:t>39</a:t>
            </a:fld>
            <a:endParaRPr lang="en-US" altLang="en-US"/>
          </a:p>
        </p:txBody>
      </p:sp>
      <p:graphicFrame>
        <p:nvGraphicFramePr>
          <p:cNvPr id="137218" name="Object 1026">
            <a:extLst>
              <a:ext uri="{FF2B5EF4-FFF2-40B4-BE49-F238E27FC236}">
                <a16:creationId xmlns:a16="http://schemas.microsoft.com/office/drawing/2014/main" id="{537D1B95-10FD-4CF1-9BD7-C5FA373B899E}"/>
              </a:ext>
            </a:extLst>
          </p:cNvPr>
          <p:cNvGraphicFramePr>
            <a:graphicFrameLocks noGrp="1" noChangeAspect="1"/>
          </p:cNvGraphicFramePr>
          <p:nvPr>
            <p:ph idx="4294967295"/>
          </p:nvPr>
        </p:nvGraphicFramePr>
        <p:xfrm>
          <a:off x="3200400" y="304800"/>
          <a:ext cx="7315200" cy="6332538"/>
        </p:xfrm>
        <a:graphic>
          <a:graphicData uri="http://schemas.openxmlformats.org/presentationml/2006/ole">
            <mc:AlternateContent xmlns:mc="http://schemas.openxmlformats.org/markup-compatibility/2006">
              <mc:Choice xmlns:v="urn:schemas-microsoft-com:vml" Requires="v">
                <p:oleObj name="Photo Editor Photo" r:id="rId2" imgW="3520745" imgH="3048264" progId="MSPhotoEd.3">
                  <p:embed/>
                </p:oleObj>
              </mc:Choice>
              <mc:Fallback>
                <p:oleObj name="Photo Editor Photo" r:id="rId2" imgW="3520745" imgH="3048264" progId="MSPhotoEd.3">
                  <p:embed/>
                  <p:pic>
                    <p:nvPicPr>
                      <p:cNvPr id="137218" name="Object 1026">
                        <a:extLst>
                          <a:ext uri="{FF2B5EF4-FFF2-40B4-BE49-F238E27FC236}">
                            <a16:creationId xmlns:a16="http://schemas.microsoft.com/office/drawing/2014/main" id="{537D1B95-10FD-4CF1-9BD7-C5FA373B89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0" y="304800"/>
                        <a:ext cx="7315200" cy="6332538"/>
                      </a:xfrm>
                      <a:prstGeom prst="rect">
                        <a:avLst/>
                      </a:prstGeom>
                    </p:spPr>
                  </p:pic>
                </p:oleObj>
              </mc:Fallback>
            </mc:AlternateContent>
          </a:graphicData>
        </a:graphic>
      </p:graphicFrame>
      <p:sp>
        <p:nvSpPr>
          <p:cNvPr id="137220" name="WordArt 1028">
            <a:extLst>
              <a:ext uri="{FF2B5EF4-FFF2-40B4-BE49-F238E27FC236}">
                <a16:creationId xmlns:a16="http://schemas.microsoft.com/office/drawing/2014/main" id="{B24D74DC-2346-46D5-BF53-E2038EDAEC69}"/>
              </a:ext>
            </a:extLst>
          </p:cNvPr>
          <p:cNvSpPr>
            <a:spLocks noChangeArrowheads="1" noChangeShapeType="1" noTextEdit="1"/>
          </p:cNvSpPr>
          <p:nvPr/>
        </p:nvSpPr>
        <p:spPr bwMode="auto">
          <a:xfrm rot="5400000">
            <a:off x="-762000" y="2743200"/>
            <a:ext cx="6400800" cy="1371600"/>
          </a:xfrm>
          <a:prstGeom prst="rect">
            <a:avLst/>
          </a:prstGeom>
          <a:extLst>
            <a:ext uri="{AF507438-7753-43E0-B8FC-AC1667EBCBE1}">
              <a14:hiddenEffects xmlns:a14="http://schemas.microsoft.com/office/drawing/2010/main">
                <a:effectLst/>
              </a14:hiddenEffects>
            </a:ext>
          </a:extLst>
        </p:spPr>
        <p:txBody>
          <a:bodyPr vert="wordArtVert" wrap="none" fromWordArt="1">
            <a:prstTxWarp prst="textPlain">
              <a:avLst>
                <a:gd name="adj" fmla="val 49972"/>
              </a:avLst>
            </a:prstTxWarp>
          </a:bodyPr>
          <a:lstStyle/>
          <a:p>
            <a:pPr algn="ctr" fontAlgn="auto"/>
            <a:r>
              <a:rPr lang="en-US" sz="3600" b="1" kern="10">
                <a:ln w="9525">
                  <a:solidFill>
                    <a:srgbClr val="000000"/>
                  </a:solidFill>
                  <a:round/>
                  <a:headEnd/>
                  <a:tailEnd/>
                </a:ln>
                <a:solidFill>
                  <a:srgbClr val="000000"/>
                </a:solidFill>
                <a:latin typeface="Arial" panose="020B0604020202020204" pitchFamily="34" charset="0"/>
                <a:cs typeface="Arial" panose="020B0604020202020204" pitchFamily="34" charset="0"/>
              </a:rPr>
              <a:t>Polyalphabetic</a:t>
            </a:r>
          </a:p>
          <a:p>
            <a:pPr algn="ctr" fontAlgn="auto"/>
            <a:r>
              <a:rPr lang="en-US" sz="3600" b="1" kern="10">
                <a:ln w="9525">
                  <a:solidFill>
                    <a:srgbClr val="000000"/>
                  </a:solidFill>
                  <a:round/>
                  <a:headEnd/>
                  <a:tailEnd/>
                </a:ln>
                <a:solidFill>
                  <a:srgbClr val="000000"/>
                </a:solidFill>
                <a:latin typeface="Arial" panose="020B0604020202020204" pitchFamily="34" charset="0"/>
                <a:cs typeface="Arial" panose="020B0604020202020204" pitchFamily="34" charset="0"/>
              </a:rPr>
              <a:t>Substituion Example</a:t>
            </a:r>
          </a:p>
        </p:txBody>
      </p:sp>
    </p:spTree>
  </p:cSld>
  <p:clrMapOvr>
    <a:masterClrMapping/>
  </p:clrMapOvr>
  <p:transition spd="slow"/>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69634" name="Rectangle 2">
            <a:extLst>
              <a:ext uri="{FF2B5EF4-FFF2-40B4-BE49-F238E27FC236}">
                <a16:creationId xmlns:a16="http://schemas.microsoft.com/office/drawing/2014/main" id="{C4F0F864-219B-4E05-B50C-E3DF8A004908}"/>
              </a:ext>
            </a:extLst>
          </p:cNvPr>
          <p:cNvSpPr>
            <a:spLocks noGrp="1" noChangeArrowheads="1"/>
          </p:cNvSpPr>
          <p:nvPr>
            <p:ph type="title"/>
          </p:nvPr>
        </p:nvSpPr>
        <p:spPr>
          <a:xfrm>
            <a:off x="958506" y="800392"/>
            <a:ext cx="10264697" cy="1212102"/>
          </a:xfrm>
        </p:spPr>
        <p:txBody>
          <a:bodyPr>
            <a:normAutofit/>
          </a:bodyPr>
          <a:lstStyle/>
          <a:p>
            <a:r>
              <a:rPr lang="en-US" altLang="en-US" sz="4000" dirty="0">
                <a:solidFill>
                  <a:srgbClr val="FFFFFF"/>
                </a:solidFill>
              </a:rPr>
              <a:t>Transposition Ciphers</a:t>
            </a:r>
          </a:p>
        </p:txBody>
      </p:sp>
      <p:sp>
        <p:nvSpPr>
          <p:cNvPr id="69635" name="Rectangle 3">
            <a:extLst>
              <a:ext uri="{FF2B5EF4-FFF2-40B4-BE49-F238E27FC236}">
                <a16:creationId xmlns:a16="http://schemas.microsoft.com/office/drawing/2014/main" id="{FA446D1B-9ADC-4A70-BB7F-925C12336D45}"/>
              </a:ext>
            </a:extLst>
          </p:cNvPr>
          <p:cNvSpPr>
            <a:spLocks noGrp="1" noChangeArrowheads="1"/>
          </p:cNvSpPr>
          <p:nvPr>
            <p:ph type="body" idx="1"/>
          </p:nvPr>
        </p:nvSpPr>
        <p:spPr>
          <a:xfrm>
            <a:off x="1367624" y="2490436"/>
            <a:ext cx="9708995" cy="3567173"/>
          </a:xfrm>
        </p:spPr>
        <p:txBody>
          <a:bodyPr anchor="ctr">
            <a:normAutofit/>
          </a:bodyPr>
          <a:lstStyle/>
          <a:p>
            <a:r>
              <a:rPr lang="en-US" altLang="en-US" sz="2400" dirty="0"/>
              <a:t>Transposition or permutation ciphers hide the message contents by rearranging the order of the letters </a:t>
            </a:r>
          </a:p>
          <a:p>
            <a:r>
              <a:rPr lang="en-US" altLang="en-US" sz="2400" dirty="0"/>
              <a:t>Scytale Cipher is an example of a transposition cipher</a:t>
            </a:r>
          </a:p>
        </p:txBody>
      </p:sp>
      <p:sp>
        <p:nvSpPr>
          <p:cNvPr id="5" name="Slide Number Placeholder 4">
            <a:extLst>
              <a:ext uri="{FF2B5EF4-FFF2-40B4-BE49-F238E27FC236}">
                <a16:creationId xmlns:a16="http://schemas.microsoft.com/office/drawing/2014/main" id="{4FE8D656-E065-4A2B-BBEC-D0BCED4CDA10}"/>
              </a:ext>
            </a:extLst>
          </p:cNvPr>
          <p:cNvSpPr>
            <a:spLocks noGrp="1"/>
          </p:cNvSpPr>
          <p:nvPr>
            <p:ph type="sldNum" sz="quarter" idx="12"/>
          </p:nvPr>
        </p:nvSpPr>
        <p:spPr>
          <a:xfrm>
            <a:off x="10707624" y="6382512"/>
            <a:ext cx="685800" cy="320040"/>
          </a:xfrm>
        </p:spPr>
        <p:txBody>
          <a:bodyPr>
            <a:normAutofit/>
          </a:bodyPr>
          <a:lstStyle/>
          <a:p>
            <a:pPr>
              <a:spcAft>
                <a:spcPts val="600"/>
              </a:spcAft>
            </a:pPr>
            <a:fld id="{7D2E32A0-C855-45B4-8B47-B8F3F71E6C67}" type="slidenum">
              <a:rPr lang="en-US" altLang="en-US" sz="1000"/>
              <a:pPr>
                <a:spcAft>
                  <a:spcPts val="600"/>
                </a:spcAft>
              </a:pPr>
              <a:t>40</a:t>
            </a:fld>
            <a:endParaRPr lang="en-US" altLang="en-US" sz="1000"/>
          </a:p>
        </p:txBody>
      </p:sp>
    </p:spTree>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0BBACA38-3515-4580-AD86-7EF3B18639F0}"/>
              </a:ext>
            </a:extLst>
          </p:cNvPr>
          <p:cNvSpPr>
            <a:spLocks noGrp="1"/>
          </p:cNvSpPr>
          <p:nvPr>
            <p:ph type="sldNum" sz="quarter" idx="12"/>
          </p:nvPr>
        </p:nvSpPr>
        <p:spPr/>
        <p:txBody>
          <a:bodyPr/>
          <a:lstStyle/>
          <a:p>
            <a:fld id="{EB32880D-70AC-41DA-9133-E10B3B6DEAAB}" type="slidenum">
              <a:rPr lang="en-US" altLang="en-US"/>
              <a:pPr/>
              <a:t>41</a:t>
            </a:fld>
            <a:endParaRPr lang="en-US" altLang="en-US"/>
          </a:p>
        </p:txBody>
      </p:sp>
      <p:sp>
        <p:nvSpPr>
          <p:cNvPr id="70658" name="Rectangle 2">
            <a:extLst>
              <a:ext uri="{FF2B5EF4-FFF2-40B4-BE49-F238E27FC236}">
                <a16:creationId xmlns:a16="http://schemas.microsoft.com/office/drawing/2014/main" id="{EE97A66F-3621-4F87-98A5-F1A40F91E3DC}"/>
              </a:ext>
            </a:extLst>
          </p:cNvPr>
          <p:cNvSpPr>
            <a:spLocks noGrp="1" noChangeArrowheads="1"/>
          </p:cNvSpPr>
          <p:nvPr>
            <p:ph type="title"/>
          </p:nvPr>
        </p:nvSpPr>
        <p:spPr/>
        <p:txBody>
          <a:bodyPr/>
          <a:lstStyle/>
          <a:p>
            <a:r>
              <a:rPr lang="en-US" altLang="en-US" dirty="0">
                <a:solidFill>
                  <a:schemeClr val="tx1"/>
                </a:solidFill>
              </a:rPr>
              <a:t>Transposition Cipher Example</a:t>
            </a:r>
          </a:p>
        </p:txBody>
      </p:sp>
      <p:graphicFrame>
        <p:nvGraphicFramePr>
          <p:cNvPr id="70659" name="Object 3">
            <a:extLst>
              <a:ext uri="{FF2B5EF4-FFF2-40B4-BE49-F238E27FC236}">
                <a16:creationId xmlns:a16="http://schemas.microsoft.com/office/drawing/2014/main" id="{4268F027-6E10-44EE-BEF5-4A811BD90949}"/>
              </a:ext>
            </a:extLst>
          </p:cNvPr>
          <p:cNvGraphicFramePr>
            <a:graphicFrameLocks noGrp="1" noChangeAspect="1"/>
          </p:cNvGraphicFramePr>
          <p:nvPr>
            <p:ph idx="1"/>
          </p:nvPr>
        </p:nvGraphicFramePr>
        <p:xfrm>
          <a:off x="1981200" y="1749425"/>
          <a:ext cx="8382000" cy="4425950"/>
        </p:xfrm>
        <a:graphic>
          <a:graphicData uri="http://schemas.openxmlformats.org/presentationml/2006/ole">
            <mc:AlternateContent xmlns:mc="http://schemas.openxmlformats.org/markup-compatibility/2006">
              <mc:Choice xmlns:v="urn:schemas-microsoft-com:vml" Requires="v">
                <p:oleObj name="Photo Editor Photo" r:id="rId2" imgW="3231160" imgH="1775614" progId="MSPhotoEd.3">
                  <p:embed/>
                </p:oleObj>
              </mc:Choice>
              <mc:Fallback>
                <p:oleObj name="Photo Editor Photo" r:id="rId2" imgW="3231160" imgH="1775614" progId="MSPhotoEd.3">
                  <p:embed/>
                  <p:pic>
                    <p:nvPicPr>
                      <p:cNvPr id="70659" name="Object 3">
                        <a:extLst>
                          <a:ext uri="{FF2B5EF4-FFF2-40B4-BE49-F238E27FC236}">
                            <a16:creationId xmlns:a16="http://schemas.microsoft.com/office/drawing/2014/main" id="{4268F027-6E10-44EE-BEF5-4A811BD909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81200" y="1749425"/>
                        <a:ext cx="8382000" cy="4425950"/>
                      </a:xfrm>
                      <a:prstGeom prst="rect">
                        <a:avLst/>
                      </a:prstGeom>
                    </p:spPr>
                  </p:pic>
                </p:oleObj>
              </mc:Fallback>
            </mc:AlternateContent>
          </a:graphicData>
        </a:graphic>
      </p:graphicFrame>
    </p:spTree>
  </p:cSld>
  <p:clrMapOvr>
    <a:masterClrMapping/>
  </p:clrMapOvr>
  <p:transition spd="slow"/>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634" name="Rectangle 2">
            <a:extLst>
              <a:ext uri="{FF2B5EF4-FFF2-40B4-BE49-F238E27FC236}">
                <a16:creationId xmlns:a16="http://schemas.microsoft.com/office/drawing/2014/main" id="{C4F0F864-219B-4E05-B50C-E3DF8A004908}"/>
              </a:ext>
            </a:extLst>
          </p:cNvPr>
          <p:cNvSpPr>
            <a:spLocks noGrp="1" noChangeArrowheads="1"/>
          </p:cNvSpPr>
          <p:nvPr>
            <p:ph type="title"/>
          </p:nvPr>
        </p:nvSpPr>
        <p:spPr>
          <a:xfrm>
            <a:off x="812935" y="965071"/>
            <a:ext cx="10264697" cy="1212102"/>
          </a:xfrm>
        </p:spPr>
        <p:txBody>
          <a:bodyPr>
            <a:normAutofit/>
          </a:bodyPr>
          <a:lstStyle/>
          <a:p>
            <a:r>
              <a:rPr lang="en-US" altLang="en-US" sz="4000" dirty="0">
                <a:solidFill>
                  <a:srgbClr val="FFFFFF"/>
                </a:solidFill>
              </a:rPr>
              <a:t>Playfair Cipher</a:t>
            </a:r>
            <a:br>
              <a:rPr lang="en-US" altLang="en-US" sz="4000" dirty="0">
                <a:solidFill>
                  <a:srgbClr val="FFFFFF"/>
                </a:solidFill>
              </a:rPr>
            </a:br>
            <a:endParaRPr lang="en-US" altLang="en-US" sz="4000" dirty="0">
              <a:solidFill>
                <a:srgbClr val="FFFFFF"/>
              </a:solidFill>
            </a:endParaRPr>
          </a:p>
        </p:txBody>
      </p:sp>
      <p:sp>
        <p:nvSpPr>
          <p:cNvPr id="69635" name="Rectangle 3">
            <a:extLst>
              <a:ext uri="{FF2B5EF4-FFF2-40B4-BE49-F238E27FC236}">
                <a16:creationId xmlns:a16="http://schemas.microsoft.com/office/drawing/2014/main" id="{FA446D1B-9ADC-4A70-BB7F-925C12336D45}"/>
              </a:ext>
            </a:extLst>
          </p:cNvPr>
          <p:cNvSpPr>
            <a:spLocks noGrp="1" noChangeArrowheads="1"/>
          </p:cNvSpPr>
          <p:nvPr>
            <p:ph type="body" idx="1"/>
          </p:nvPr>
        </p:nvSpPr>
        <p:spPr>
          <a:xfrm>
            <a:off x="1367624" y="2490436"/>
            <a:ext cx="9708995" cy="3567173"/>
          </a:xfrm>
        </p:spPr>
        <p:txBody>
          <a:bodyPr anchor="ctr">
            <a:normAutofit lnSpcReduction="10000"/>
          </a:bodyPr>
          <a:lstStyle/>
          <a:p>
            <a:r>
              <a:rPr lang="en-US" sz="2400" dirty="0"/>
              <a:t>The best-known multiple-letter encryption cipher is the Playfair, which treats </a:t>
            </a:r>
            <a:r>
              <a:rPr lang="en-US" sz="2400" dirty="0" err="1"/>
              <a:t>digrams</a:t>
            </a:r>
            <a:r>
              <a:rPr lang="en-US" sz="2400" dirty="0"/>
              <a:t> in the plaintext as single units and translates these units into ciphertext </a:t>
            </a:r>
            <a:r>
              <a:rPr lang="en-US" sz="2400" dirty="0" err="1"/>
              <a:t>digrams</a:t>
            </a:r>
            <a:r>
              <a:rPr lang="en-US" sz="2400" dirty="0"/>
              <a:t>. The Playfair algorithm is based on the use of a       5 * 5 matrix of letters constructed using a keyword.</a:t>
            </a:r>
            <a:br>
              <a:rPr lang="en-US" sz="2400" dirty="0"/>
            </a:br>
            <a:br>
              <a:rPr lang="en-US" sz="2400" dirty="0"/>
            </a:br>
            <a:endParaRPr lang="en-US" sz="2400" dirty="0"/>
          </a:p>
          <a:p>
            <a:r>
              <a:rPr lang="en-US" sz="2400" dirty="0"/>
              <a:t>Playfair cipher was for a long time considered unbreakable. It was used as the standard field system by the British Army in World War I and still enjoyed considerable use by the U.S. Army and other Allied forces during World War II.</a:t>
            </a:r>
            <a:br>
              <a:rPr lang="en-US" sz="2400" dirty="0"/>
            </a:br>
            <a:endParaRPr lang="en-US" altLang="en-US" sz="2400" dirty="0"/>
          </a:p>
        </p:txBody>
      </p:sp>
      <p:sp>
        <p:nvSpPr>
          <p:cNvPr id="5" name="Slide Number Placeholder 4">
            <a:extLst>
              <a:ext uri="{FF2B5EF4-FFF2-40B4-BE49-F238E27FC236}">
                <a16:creationId xmlns:a16="http://schemas.microsoft.com/office/drawing/2014/main" id="{4FE8D656-E065-4A2B-BBEC-D0BCED4CDA10}"/>
              </a:ext>
            </a:extLst>
          </p:cNvPr>
          <p:cNvSpPr>
            <a:spLocks noGrp="1"/>
          </p:cNvSpPr>
          <p:nvPr>
            <p:ph type="sldNum" sz="quarter" idx="12"/>
          </p:nvPr>
        </p:nvSpPr>
        <p:spPr>
          <a:xfrm>
            <a:off x="10707624" y="6382512"/>
            <a:ext cx="685800" cy="320040"/>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7D2E32A0-C855-45B4-8B47-B8F3F71E6C67}" type="slidenum">
              <a:rPr kumimoji="0" lang="en-US" altLang="en-US" sz="10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42</a:t>
            </a:fld>
            <a:endParaRPr kumimoji="0" lang="en-US" altLang="en-US" sz="1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8503846"/>
      </p:ext>
    </p:extLst>
  </p:cSld>
  <p:clrMapOvr>
    <a:masterClrMapping/>
  </p:clrMapOvr>
  <p:transition spd="slow"/>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634" name="Rectangle 2">
            <a:extLst>
              <a:ext uri="{FF2B5EF4-FFF2-40B4-BE49-F238E27FC236}">
                <a16:creationId xmlns:a16="http://schemas.microsoft.com/office/drawing/2014/main" id="{C4F0F864-219B-4E05-B50C-E3DF8A004908}"/>
              </a:ext>
            </a:extLst>
          </p:cNvPr>
          <p:cNvSpPr>
            <a:spLocks noGrp="1" noChangeArrowheads="1"/>
          </p:cNvSpPr>
          <p:nvPr>
            <p:ph type="title"/>
          </p:nvPr>
        </p:nvSpPr>
        <p:spPr>
          <a:xfrm>
            <a:off x="958506" y="800392"/>
            <a:ext cx="10264697" cy="1212102"/>
          </a:xfrm>
        </p:spPr>
        <p:txBody>
          <a:bodyPr>
            <a:normAutofit/>
          </a:bodyPr>
          <a:lstStyle/>
          <a:p>
            <a:r>
              <a:rPr lang="en-US" altLang="en-US" sz="4000" dirty="0">
                <a:solidFill>
                  <a:srgbClr val="FFFFFF"/>
                </a:solidFill>
              </a:rPr>
              <a:t>Hill Ciphers</a:t>
            </a:r>
          </a:p>
        </p:txBody>
      </p:sp>
      <p:sp>
        <p:nvSpPr>
          <p:cNvPr id="69635" name="Rectangle 3">
            <a:extLst>
              <a:ext uri="{FF2B5EF4-FFF2-40B4-BE49-F238E27FC236}">
                <a16:creationId xmlns:a16="http://schemas.microsoft.com/office/drawing/2014/main" id="{FA446D1B-9ADC-4A70-BB7F-925C12336D45}"/>
              </a:ext>
            </a:extLst>
          </p:cNvPr>
          <p:cNvSpPr>
            <a:spLocks noGrp="1" noChangeArrowheads="1"/>
          </p:cNvSpPr>
          <p:nvPr>
            <p:ph type="body" idx="1"/>
          </p:nvPr>
        </p:nvSpPr>
        <p:spPr>
          <a:xfrm>
            <a:off x="1367624" y="2490436"/>
            <a:ext cx="9708995" cy="3567173"/>
          </a:xfrm>
        </p:spPr>
        <p:txBody>
          <a:bodyPr anchor="ctr">
            <a:normAutofit/>
          </a:bodyPr>
          <a:lstStyle/>
          <a:p>
            <a:r>
              <a:rPr lang="en-US" sz="2400" dirty="0"/>
              <a:t>Another interesting </a:t>
            </a:r>
            <a:r>
              <a:rPr lang="en-US" sz="2400" dirty="0" err="1"/>
              <a:t>multiletter</a:t>
            </a:r>
            <a:r>
              <a:rPr lang="en-US" sz="2400" dirty="0"/>
              <a:t> cipher is the Hill cipher, developed by</a:t>
            </a:r>
            <a:br>
              <a:rPr lang="en-US" sz="2400" dirty="0"/>
            </a:br>
            <a:r>
              <a:rPr lang="en-US" sz="2400" dirty="0"/>
              <a:t>the mathematician Lester Hill in 1929.</a:t>
            </a:r>
            <a:endParaRPr lang="en-US" altLang="en-US" sz="2400" dirty="0"/>
          </a:p>
        </p:txBody>
      </p:sp>
      <p:sp>
        <p:nvSpPr>
          <p:cNvPr id="5" name="Slide Number Placeholder 4">
            <a:extLst>
              <a:ext uri="{FF2B5EF4-FFF2-40B4-BE49-F238E27FC236}">
                <a16:creationId xmlns:a16="http://schemas.microsoft.com/office/drawing/2014/main" id="{4FE8D656-E065-4A2B-BBEC-D0BCED4CDA10}"/>
              </a:ext>
            </a:extLst>
          </p:cNvPr>
          <p:cNvSpPr>
            <a:spLocks noGrp="1"/>
          </p:cNvSpPr>
          <p:nvPr>
            <p:ph type="sldNum" sz="quarter" idx="12"/>
          </p:nvPr>
        </p:nvSpPr>
        <p:spPr>
          <a:xfrm>
            <a:off x="10707624" y="6382512"/>
            <a:ext cx="685800" cy="320040"/>
          </a:xfrm>
        </p:spPr>
        <p:txBody>
          <a:bodyPr>
            <a:normAutofit/>
          </a:bodyPr>
          <a:lstStyle/>
          <a:p>
            <a:pPr marL="0" marR="0" lvl="0" indent="0" algn="r" defTabSz="914400" rtl="0" eaLnBrk="1" fontAlgn="auto" latinLnBrk="0" hangingPunct="1">
              <a:lnSpc>
                <a:spcPct val="100000"/>
              </a:lnSpc>
              <a:spcBef>
                <a:spcPts val="0"/>
              </a:spcBef>
              <a:spcAft>
                <a:spcPts val="600"/>
              </a:spcAft>
              <a:buClrTx/>
              <a:buSzTx/>
              <a:buFontTx/>
              <a:buNone/>
              <a:tabLst/>
              <a:defRPr/>
            </a:pPr>
            <a:fld id="{7D2E32A0-C855-45B4-8B47-B8F3F71E6C67}" type="slidenum">
              <a:rPr kumimoji="0" lang="en-US" altLang="en-US" sz="1000" b="0" i="0" u="none" strike="noStrike" kern="1200" cap="none" spc="0" normalizeH="0" baseline="0" noProof="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600"/>
                </a:spcAft>
                <a:buClrTx/>
                <a:buSzTx/>
                <a:buFontTx/>
                <a:buNone/>
                <a:tabLst/>
                <a:defRPr/>
              </a:pPr>
              <a:t>43</a:t>
            </a:fld>
            <a:endParaRPr kumimoji="0" lang="en-US" altLang="en-US" sz="1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33759761"/>
      </p:ext>
    </p:extLst>
  </p:cSld>
  <p:clrMapOvr>
    <a:masterClrMapping/>
  </p:clrMapOvr>
  <p:transition spd="slow"/>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6805" name="Rectangle 71">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806" name="Freeform: Shape 73">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802" name="Rectangle 2">
            <a:extLst>
              <a:ext uri="{FF2B5EF4-FFF2-40B4-BE49-F238E27FC236}">
                <a16:creationId xmlns:a16="http://schemas.microsoft.com/office/drawing/2014/main" id="{FE79A2A3-FC29-4A17-A507-0D18D1FBFAF8}"/>
              </a:ext>
            </a:extLst>
          </p:cNvPr>
          <p:cNvSpPr>
            <a:spLocks noGrp="1" noChangeArrowheads="1"/>
          </p:cNvSpPr>
          <p:nvPr>
            <p:ph type="title"/>
          </p:nvPr>
        </p:nvSpPr>
        <p:spPr>
          <a:xfrm>
            <a:off x="686834" y="1153572"/>
            <a:ext cx="3200400" cy="4461163"/>
          </a:xfrm>
        </p:spPr>
        <p:txBody>
          <a:bodyPr>
            <a:normAutofit/>
          </a:bodyPr>
          <a:lstStyle/>
          <a:p>
            <a:r>
              <a:rPr lang="en-US" altLang="en-US">
                <a:solidFill>
                  <a:srgbClr val="FFFFFF"/>
                </a:solidFill>
              </a:rPr>
              <a:t>One Time Pad</a:t>
            </a:r>
          </a:p>
        </p:txBody>
      </p:sp>
      <p:sp>
        <p:nvSpPr>
          <p:cNvPr id="76807" name="Arc 7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76803" name="Rectangle 3">
            <a:extLst>
              <a:ext uri="{FF2B5EF4-FFF2-40B4-BE49-F238E27FC236}">
                <a16:creationId xmlns:a16="http://schemas.microsoft.com/office/drawing/2014/main" id="{D6F08295-5AFA-442D-A286-2F272DB643C9}"/>
              </a:ext>
            </a:extLst>
          </p:cNvPr>
          <p:cNvSpPr>
            <a:spLocks noGrp="1" noChangeArrowheads="1"/>
          </p:cNvSpPr>
          <p:nvPr>
            <p:ph type="body" idx="1"/>
          </p:nvPr>
        </p:nvSpPr>
        <p:spPr>
          <a:xfrm>
            <a:off x="4447308" y="591344"/>
            <a:ext cx="6906491" cy="5585619"/>
          </a:xfrm>
        </p:spPr>
        <p:txBody>
          <a:bodyPr anchor="ctr">
            <a:normAutofit/>
          </a:bodyPr>
          <a:lstStyle/>
          <a:p>
            <a:r>
              <a:rPr lang="en-US" altLang="en-US" dirty="0"/>
              <a:t>A one-time pad is a very simple yet completely unbreakable symmetric cipher. </a:t>
            </a:r>
          </a:p>
          <a:p>
            <a:r>
              <a:rPr lang="en-US" altLang="en-US" dirty="0"/>
              <a:t>A one-time pad involves sheets of paper with random numbers on them: These numbers are used to transform the message; each number or sequence of numbers is used only once.</a:t>
            </a:r>
          </a:p>
          <a:p>
            <a:r>
              <a:rPr lang="en-US" altLang="en-US" dirty="0"/>
              <a:t>The recipient of the message has an identical pad to use to decrypt the message. One-time pads have been proven to be foolproof-without having a copy of the pad. </a:t>
            </a:r>
          </a:p>
        </p:txBody>
      </p:sp>
      <p:sp>
        <p:nvSpPr>
          <p:cNvPr id="5" name="Slide Number Placeholder 4">
            <a:extLst>
              <a:ext uri="{FF2B5EF4-FFF2-40B4-BE49-F238E27FC236}">
                <a16:creationId xmlns:a16="http://schemas.microsoft.com/office/drawing/2014/main" id="{95AA2F66-C813-4E42-9474-E5AF22A24009}"/>
              </a:ext>
            </a:extLst>
          </p:cNvPr>
          <p:cNvSpPr>
            <a:spLocks noGrp="1"/>
          </p:cNvSpPr>
          <p:nvPr>
            <p:ph type="sldNum" sz="quarter" idx="12"/>
          </p:nvPr>
        </p:nvSpPr>
        <p:spPr>
          <a:xfrm>
            <a:off x="9541564" y="6356350"/>
            <a:ext cx="1812235" cy="365125"/>
          </a:xfrm>
        </p:spPr>
        <p:txBody>
          <a:bodyPr>
            <a:normAutofit/>
          </a:bodyPr>
          <a:lstStyle/>
          <a:p>
            <a:pPr>
              <a:spcAft>
                <a:spcPts val="600"/>
              </a:spcAft>
            </a:pPr>
            <a:fld id="{A5D08F2A-6C9A-4C3F-A1E1-1F2A4FECCFCC}" type="slidenum">
              <a:rPr lang="en-US" altLang="en-US" smtClean="0"/>
              <a:pPr>
                <a:spcAft>
                  <a:spcPts val="600"/>
                </a:spcAft>
              </a:pPr>
              <a:t>44</a:t>
            </a:fld>
            <a:endParaRPr lang="en-US" altLang="en-US"/>
          </a:p>
        </p:txBody>
      </p:sp>
    </p:spTree>
  </p:cSld>
  <p:clrMapOvr>
    <a:masterClrMapping/>
  </p:clrMapOvr>
  <p:transition spd="slow"/>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Shape 75">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852" name="Rectangle 4">
            <a:extLst>
              <a:ext uri="{FF2B5EF4-FFF2-40B4-BE49-F238E27FC236}">
                <a16:creationId xmlns:a16="http://schemas.microsoft.com/office/drawing/2014/main" id="{7E2D1761-3F84-497F-83EE-F61DB2F93F91}"/>
              </a:ext>
            </a:extLst>
          </p:cNvPr>
          <p:cNvSpPr>
            <a:spLocks noGrp="1" noChangeArrowheads="1"/>
          </p:cNvSpPr>
          <p:nvPr>
            <p:ph type="title"/>
          </p:nvPr>
        </p:nvSpPr>
        <p:spPr>
          <a:xfrm>
            <a:off x="686834" y="1153572"/>
            <a:ext cx="3200400" cy="4461163"/>
          </a:xfrm>
        </p:spPr>
        <p:txBody>
          <a:bodyPr>
            <a:normAutofit/>
          </a:bodyPr>
          <a:lstStyle/>
          <a:p>
            <a:r>
              <a:rPr lang="en-US" altLang="en-US">
                <a:solidFill>
                  <a:srgbClr val="FFFFFF"/>
                </a:solidFill>
              </a:rPr>
              <a:t>What is a One-Time Pad?</a:t>
            </a:r>
          </a:p>
        </p:txBody>
      </p:sp>
      <p:sp>
        <p:nvSpPr>
          <p:cNvPr id="78" name="Arc 77">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78853" name="Rectangle 5">
            <a:extLst>
              <a:ext uri="{FF2B5EF4-FFF2-40B4-BE49-F238E27FC236}">
                <a16:creationId xmlns:a16="http://schemas.microsoft.com/office/drawing/2014/main" id="{AF873835-39A5-4B9D-B871-0259AB67F7EF}"/>
              </a:ext>
            </a:extLst>
          </p:cNvPr>
          <p:cNvSpPr>
            <a:spLocks noGrp="1" noChangeArrowheads="1"/>
          </p:cNvSpPr>
          <p:nvPr>
            <p:ph type="body" idx="1"/>
          </p:nvPr>
        </p:nvSpPr>
        <p:spPr>
          <a:xfrm>
            <a:off x="4447308" y="591344"/>
            <a:ext cx="6906491" cy="5585619"/>
          </a:xfrm>
        </p:spPr>
        <p:txBody>
          <a:bodyPr anchor="ctr">
            <a:normAutofit/>
          </a:bodyPr>
          <a:lstStyle/>
          <a:p>
            <a:r>
              <a:rPr lang="en-US" altLang="en-US"/>
              <a:t>With a one-time pad, there are as many bits in the key as in the plaintext. This is the primary drawback of a one-time pad, but it is also the source of its perfect security.</a:t>
            </a:r>
          </a:p>
          <a:p>
            <a:r>
              <a:rPr lang="en-US" altLang="en-US"/>
              <a:t>It is essential that no portion of the key ever be reused for another encryption (hence the name "one-time pad"), otherwise cryptanalysis can break the cipher.</a:t>
            </a:r>
          </a:p>
        </p:txBody>
      </p:sp>
      <p:sp>
        <p:nvSpPr>
          <p:cNvPr id="5" name="Slide Number Placeholder 4">
            <a:extLst>
              <a:ext uri="{FF2B5EF4-FFF2-40B4-BE49-F238E27FC236}">
                <a16:creationId xmlns:a16="http://schemas.microsoft.com/office/drawing/2014/main" id="{1427831E-0745-4955-80F8-E4B41DE90ABA}"/>
              </a:ext>
            </a:extLst>
          </p:cNvPr>
          <p:cNvSpPr>
            <a:spLocks noGrp="1"/>
          </p:cNvSpPr>
          <p:nvPr>
            <p:ph type="sldNum" sz="quarter" idx="12"/>
          </p:nvPr>
        </p:nvSpPr>
        <p:spPr>
          <a:xfrm>
            <a:off x="9541564" y="6356350"/>
            <a:ext cx="1812235" cy="365125"/>
          </a:xfrm>
        </p:spPr>
        <p:txBody>
          <a:bodyPr>
            <a:normAutofit/>
          </a:bodyPr>
          <a:lstStyle/>
          <a:p>
            <a:pPr>
              <a:spcAft>
                <a:spcPts val="600"/>
              </a:spcAft>
            </a:pPr>
            <a:fld id="{A2BF3413-8557-4DC4-B65F-43D1EB7F4AEC}" type="slidenum">
              <a:rPr lang="en-US" altLang="en-US"/>
              <a:pPr>
                <a:spcAft>
                  <a:spcPts val="600"/>
                </a:spcAft>
              </a:pPr>
              <a:t>45</a:t>
            </a:fld>
            <a:endParaRPr lang="en-US" altLang="en-US"/>
          </a:p>
        </p:txBody>
      </p:sp>
    </p:spTree>
  </p:cSld>
  <p:clrMapOvr>
    <a:masterClrMapping/>
  </p:clrMapOvr>
  <p:transition spd="slow"/>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Shape 73">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898" name="Rectangle 2">
            <a:extLst>
              <a:ext uri="{FF2B5EF4-FFF2-40B4-BE49-F238E27FC236}">
                <a16:creationId xmlns:a16="http://schemas.microsoft.com/office/drawing/2014/main" id="{099C55D4-4F35-4B36-8FB7-C58005C4D3B0}"/>
              </a:ext>
            </a:extLst>
          </p:cNvPr>
          <p:cNvSpPr>
            <a:spLocks noGrp="1" noChangeArrowheads="1"/>
          </p:cNvSpPr>
          <p:nvPr>
            <p:ph type="title"/>
          </p:nvPr>
        </p:nvSpPr>
        <p:spPr>
          <a:xfrm>
            <a:off x="686834" y="1153572"/>
            <a:ext cx="3200400" cy="4461163"/>
          </a:xfrm>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lIns="92075" tIns="46038" rIns="92075" bIns="46038" rtlCol="0">
            <a:normAutofit/>
          </a:bodyPr>
          <a:lstStyle/>
          <a:p>
            <a:r>
              <a:rPr lang="en-US" altLang="en-US">
                <a:solidFill>
                  <a:srgbClr val="FFFFFF"/>
                </a:solidFill>
              </a:rPr>
              <a:t>Why are One-Time Pads Perfectly Secure?</a:t>
            </a:r>
          </a:p>
        </p:txBody>
      </p:sp>
      <p:sp>
        <p:nvSpPr>
          <p:cNvPr id="76" name="Arc 75">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80899" name="Rectangle 3">
            <a:extLst>
              <a:ext uri="{FF2B5EF4-FFF2-40B4-BE49-F238E27FC236}">
                <a16:creationId xmlns:a16="http://schemas.microsoft.com/office/drawing/2014/main" id="{B02CCE51-0B43-4AEA-9AAD-6C2E232E30D1}"/>
              </a:ext>
            </a:extLst>
          </p:cNvPr>
          <p:cNvSpPr>
            <a:spLocks noGrp="1" noChangeArrowheads="1"/>
          </p:cNvSpPr>
          <p:nvPr>
            <p:ph type="body" idx="1"/>
          </p:nvPr>
        </p:nvSpPr>
        <p:spPr>
          <a:xfrm>
            <a:off x="4447308" y="591344"/>
            <a:ext cx="6906491" cy="5585619"/>
          </a:xfrm>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lIns="92075" tIns="46038" rIns="92075" bIns="46038" rtlCol="0" anchor="ctr">
            <a:normAutofit/>
          </a:bodyPr>
          <a:lstStyle/>
          <a:p>
            <a:pPr>
              <a:spcBef>
                <a:spcPts val="500"/>
              </a:spcBef>
              <a:spcAft>
                <a:spcPts val="500"/>
              </a:spcAft>
            </a:pPr>
            <a:r>
              <a:rPr lang="en-US" altLang="en-US" dirty="0"/>
              <a:t>An attacker can't compute the plaintext from the ciphertext without knowledge of the key, </a:t>
            </a:r>
            <a:r>
              <a:rPr lang="en-US" altLang="en-US" i="1" dirty="0"/>
              <a:t>even via a brute force search of the space of all keys!</a:t>
            </a:r>
            <a:r>
              <a:rPr lang="en-US" altLang="en-US" dirty="0"/>
              <a:t> </a:t>
            </a:r>
          </a:p>
          <a:p>
            <a:pPr>
              <a:spcBef>
                <a:spcPts val="500"/>
              </a:spcBef>
              <a:spcAft>
                <a:spcPts val="500"/>
              </a:spcAft>
            </a:pPr>
            <a:r>
              <a:rPr lang="en-US" altLang="en-US" dirty="0"/>
              <a:t>Trying all possible keys doesn't help you at all, because all possible plaintexts are equally likely decryptions of the ciphertext.</a:t>
            </a:r>
          </a:p>
        </p:txBody>
      </p:sp>
      <p:sp>
        <p:nvSpPr>
          <p:cNvPr id="5" name="Slide Number Placeholder 4">
            <a:extLst>
              <a:ext uri="{FF2B5EF4-FFF2-40B4-BE49-F238E27FC236}">
                <a16:creationId xmlns:a16="http://schemas.microsoft.com/office/drawing/2014/main" id="{4572A86D-7B05-4007-9849-17D8DCA56BB1}"/>
              </a:ext>
            </a:extLst>
          </p:cNvPr>
          <p:cNvSpPr>
            <a:spLocks noGrp="1"/>
          </p:cNvSpPr>
          <p:nvPr>
            <p:ph type="sldNum" sz="quarter" idx="12"/>
          </p:nvPr>
        </p:nvSpPr>
        <p:spPr>
          <a:xfrm>
            <a:off x="9541564" y="6356350"/>
            <a:ext cx="1812235" cy="365125"/>
          </a:xfrm>
        </p:spPr>
        <p:txBody>
          <a:bodyPr>
            <a:normAutofit/>
          </a:bodyPr>
          <a:lstStyle/>
          <a:p>
            <a:pPr>
              <a:spcAft>
                <a:spcPts val="600"/>
              </a:spcAft>
            </a:pPr>
            <a:fld id="{42F6C509-1FCD-4494-AD14-08C0C284A675}" type="slidenum">
              <a:rPr lang="en-US" altLang="en-US"/>
              <a:pPr>
                <a:spcAft>
                  <a:spcPts val="600"/>
                </a:spcAft>
              </a:pPr>
              <a:t>46</a:t>
            </a:fld>
            <a:endParaRPr lang="en-US" altLang="en-US"/>
          </a:p>
        </p:txBody>
      </p:sp>
    </p:spTree>
  </p:cSld>
  <p:clrMapOvr>
    <a:masterClrMapping/>
  </p:clrMapOvr>
  <p:transition spd="slow"/>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E6E51D-0518-419F-A6AA-6DBE4233036F}"/>
              </a:ext>
            </a:extLst>
          </p:cNvPr>
          <p:cNvSpPr>
            <a:spLocks noGrp="1"/>
          </p:cNvSpPr>
          <p:nvPr>
            <p:ph type="title"/>
          </p:nvPr>
        </p:nvSpPr>
        <p:spPr>
          <a:xfrm>
            <a:off x="838200" y="1730099"/>
            <a:ext cx="10515600" cy="1325563"/>
          </a:xfrm>
        </p:spPr>
        <p:txBody>
          <a:bodyPr>
            <a:normAutofit fontScale="90000"/>
          </a:bodyPr>
          <a:lstStyle/>
          <a:p>
            <a:r>
              <a:rPr lang="en-US" dirty="0">
                <a:hlinkClick r:id="rId2"/>
              </a:rPr>
              <a:t>https://www.youtube.com/watch?v=FlIG3TvQCBQ</a:t>
            </a:r>
            <a:br>
              <a:rPr lang="en-US" dirty="0"/>
            </a:br>
            <a:endParaRPr lang="en-US" dirty="0"/>
          </a:p>
        </p:txBody>
      </p:sp>
    </p:spTree>
    <p:extLst>
      <p:ext uri="{BB962C8B-B14F-4D97-AF65-F5344CB8AC3E}">
        <p14:creationId xmlns:p14="http://schemas.microsoft.com/office/powerpoint/2010/main" val="23831761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129026" name="Rectangle 1026">
            <a:extLst>
              <a:ext uri="{FF2B5EF4-FFF2-40B4-BE49-F238E27FC236}">
                <a16:creationId xmlns:a16="http://schemas.microsoft.com/office/drawing/2014/main" id="{BC2DBC6D-22A8-4BE1-901A-4019403CF475}"/>
              </a:ext>
            </a:extLst>
          </p:cNvPr>
          <p:cNvSpPr>
            <a:spLocks noGrp="1" noChangeArrowheads="1"/>
          </p:cNvSpPr>
          <p:nvPr>
            <p:ph type="title"/>
          </p:nvPr>
        </p:nvSpPr>
        <p:spPr>
          <a:xfrm>
            <a:off x="958506" y="800392"/>
            <a:ext cx="10264697" cy="1212102"/>
          </a:xfrm>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lIns="92075" tIns="46038" rIns="92075" bIns="46038" rtlCol="0">
            <a:normAutofit/>
          </a:bodyPr>
          <a:lstStyle/>
          <a:p>
            <a:r>
              <a:rPr lang="en-US" altLang="en-US" sz="4000">
                <a:solidFill>
                  <a:srgbClr val="FFFFFF"/>
                </a:solidFill>
              </a:rPr>
              <a:t>Example Symmetric Encryption Algorithm - DES</a:t>
            </a:r>
          </a:p>
        </p:txBody>
      </p:sp>
      <p:sp>
        <p:nvSpPr>
          <p:cNvPr id="129027" name="Rectangle 1027">
            <a:extLst>
              <a:ext uri="{FF2B5EF4-FFF2-40B4-BE49-F238E27FC236}">
                <a16:creationId xmlns:a16="http://schemas.microsoft.com/office/drawing/2014/main" id="{17C52662-2902-4F6B-9DA1-B595F763D4A4}"/>
              </a:ext>
            </a:extLst>
          </p:cNvPr>
          <p:cNvSpPr>
            <a:spLocks noGrp="1" noChangeArrowheads="1"/>
          </p:cNvSpPr>
          <p:nvPr>
            <p:ph type="body" idx="1"/>
          </p:nvPr>
        </p:nvSpPr>
        <p:spPr>
          <a:xfrm>
            <a:off x="1367624" y="2490436"/>
            <a:ext cx="9708995" cy="3567173"/>
          </a:xfrm>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lIns="92075" tIns="46038" rIns="92075" bIns="46038" rtlCol="0" anchor="ctr">
            <a:normAutofit/>
          </a:bodyPr>
          <a:lstStyle/>
          <a:p>
            <a:r>
              <a:rPr lang="en-US" altLang="en-US" sz="2400"/>
              <a:t>The most well known symmetric system is the Data Encryption Standard (DES).</a:t>
            </a:r>
          </a:p>
          <a:p>
            <a:r>
              <a:rPr lang="en-US" altLang="en-US" sz="2400"/>
              <a:t>Data Encrypt Standard (DES) is a private key system adopted by the U.S. government as a standard “very secure” method of encryption.  </a:t>
            </a:r>
          </a:p>
        </p:txBody>
      </p:sp>
      <p:sp>
        <p:nvSpPr>
          <p:cNvPr id="5" name="Slide Number Placeholder 5">
            <a:extLst>
              <a:ext uri="{FF2B5EF4-FFF2-40B4-BE49-F238E27FC236}">
                <a16:creationId xmlns:a16="http://schemas.microsoft.com/office/drawing/2014/main" id="{341CB617-348A-4940-A498-0393A4668715}"/>
              </a:ext>
            </a:extLst>
          </p:cNvPr>
          <p:cNvSpPr>
            <a:spLocks noGrp="1"/>
          </p:cNvSpPr>
          <p:nvPr>
            <p:ph type="sldNum" sz="quarter" idx="12"/>
          </p:nvPr>
        </p:nvSpPr>
        <p:spPr>
          <a:xfrm>
            <a:off x="10707624" y="6382512"/>
            <a:ext cx="685800" cy="320040"/>
          </a:xfrm>
        </p:spPr>
        <p:txBody>
          <a:bodyPr>
            <a:normAutofit/>
          </a:bodyPr>
          <a:lstStyle/>
          <a:p>
            <a:pPr>
              <a:spcAft>
                <a:spcPts val="600"/>
              </a:spcAft>
            </a:pPr>
            <a:fld id="{0D586D5C-075B-4BC7-A7D1-B283DE1217CC}" type="slidenum">
              <a:rPr lang="en-US" altLang="en-US" sz="1000"/>
              <a:pPr>
                <a:spcAft>
                  <a:spcPts val="600"/>
                </a:spcAft>
              </a:pPr>
              <a:t>48</a:t>
            </a:fld>
            <a:endParaRPr lang="en-US" altLang="en-US" sz="1000"/>
          </a:p>
        </p:txBody>
      </p:sp>
    </p:spTree>
  </p:cSld>
  <p:clrMapOvr>
    <a:masterClrMapping/>
  </p:clrMapOvr>
  <p:transition spd="slow"/>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4" name="Rectangle 83">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83972" name="Rectangle 4">
            <a:extLst>
              <a:ext uri="{FF2B5EF4-FFF2-40B4-BE49-F238E27FC236}">
                <a16:creationId xmlns:a16="http://schemas.microsoft.com/office/drawing/2014/main" id="{1CA77D5F-3DDE-4895-97F5-E325A3FB86D4}"/>
              </a:ext>
            </a:extLst>
          </p:cNvPr>
          <p:cNvSpPr>
            <a:spLocks noGrp="1" noChangeArrowheads="1"/>
          </p:cNvSpPr>
          <p:nvPr>
            <p:ph type="title"/>
          </p:nvPr>
        </p:nvSpPr>
        <p:spPr>
          <a:xfrm>
            <a:off x="958506" y="800392"/>
            <a:ext cx="10264697" cy="1212102"/>
          </a:xfrm>
        </p:spPr>
        <p:txBody>
          <a:bodyPr>
            <a:normAutofit/>
          </a:bodyPr>
          <a:lstStyle/>
          <a:p>
            <a:r>
              <a:rPr lang="en-US" altLang="en-US" sz="4000">
                <a:solidFill>
                  <a:srgbClr val="FFFFFF"/>
                </a:solidFill>
              </a:rPr>
              <a:t>Private Key Problems</a:t>
            </a:r>
          </a:p>
        </p:txBody>
      </p:sp>
      <p:sp>
        <p:nvSpPr>
          <p:cNvPr id="83973" name="Rectangle 5">
            <a:extLst>
              <a:ext uri="{FF2B5EF4-FFF2-40B4-BE49-F238E27FC236}">
                <a16:creationId xmlns:a16="http://schemas.microsoft.com/office/drawing/2014/main" id="{01CE915D-32F4-487A-8FD1-A98355295D58}"/>
              </a:ext>
            </a:extLst>
          </p:cNvPr>
          <p:cNvSpPr>
            <a:spLocks noGrp="1" noChangeArrowheads="1"/>
          </p:cNvSpPr>
          <p:nvPr>
            <p:ph type="body" idx="1"/>
          </p:nvPr>
        </p:nvSpPr>
        <p:spPr>
          <a:xfrm>
            <a:off x="1367624" y="2490436"/>
            <a:ext cx="9708995" cy="3567173"/>
          </a:xfrm>
        </p:spPr>
        <p:txBody>
          <a:bodyPr anchor="ctr">
            <a:normAutofit/>
          </a:bodyPr>
          <a:lstStyle/>
          <a:p>
            <a:r>
              <a:rPr lang="en-US" altLang="en-US" sz="2400"/>
              <a:t>Keys must be exchanged before transmission with any recipient or potential recipient of your message. So, to exchange keys you need a secure method of transmission, but essentially what you've done is create a need for another secure method of transmission</a:t>
            </a:r>
          </a:p>
          <a:p>
            <a:r>
              <a:rPr lang="en-US" altLang="en-US" sz="2400"/>
              <a:t>Secondly the parties are not protected against each other, if one of the parties leaks the keys it could easily blame the other party for the compromise</a:t>
            </a:r>
          </a:p>
        </p:txBody>
      </p:sp>
      <p:sp>
        <p:nvSpPr>
          <p:cNvPr id="5" name="Slide Number Placeholder 5">
            <a:extLst>
              <a:ext uri="{FF2B5EF4-FFF2-40B4-BE49-F238E27FC236}">
                <a16:creationId xmlns:a16="http://schemas.microsoft.com/office/drawing/2014/main" id="{956CA31C-127D-490D-8456-55735F7311F6}"/>
              </a:ext>
            </a:extLst>
          </p:cNvPr>
          <p:cNvSpPr>
            <a:spLocks noGrp="1"/>
          </p:cNvSpPr>
          <p:nvPr>
            <p:ph type="sldNum" sz="quarter" idx="12"/>
          </p:nvPr>
        </p:nvSpPr>
        <p:spPr>
          <a:xfrm>
            <a:off x="10707624" y="6382512"/>
            <a:ext cx="685800" cy="320040"/>
          </a:xfrm>
        </p:spPr>
        <p:txBody>
          <a:bodyPr>
            <a:normAutofit/>
          </a:bodyPr>
          <a:lstStyle/>
          <a:p>
            <a:pPr>
              <a:spcAft>
                <a:spcPts val="600"/>
              </a:spcAft>
            </a:pPr>
            <a:fld id="{4602EEFB-EF9B-4628-8B3E-EEC57780AD3E}" type="slidenum">
              <a:rPr lang="en-US" altLang="en-US" sz="1000"/>
              <a:pPr>
                <a:spcAft>
                  <a:spcPts val="600"/>
                </a:spcAft>
              </a:pPr>
              <a:t>49</a:t>
            </a:fld>
            <a:endParaRPr lang="en-US" altLang="en-US" sz="1000"/>
          </a:p>
        </p:txBody>
      </p:sp>
    </p:spTree>
  </p:cSld>
  <p:clrMapOvr>
    <a:masterClrMapping/>
  </p:clrMapOvr>
  <p:transition spd="slow"/>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4" name="Rectangle 83">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86020" name="Rectangle 4">
            <a:extLst>
              <a:ext uri="{FF2B5EF4-FFF2-40B4-BE49-F238E27FC236}">
                <a16:creationId xmlns:a16="http://schemas.microsoft.com/office/drawing/2014/main" id="{EF9FE2E7-F8C0-47D5-9BE8-D1FE26B10B98}"/>
              </a:ext>
            </a:extLst>
          </p:cNvPr>
          <p:cNvSpPr>
            <a:spLocks noGrp="1" noChangeArrowheads="1"/>
          </p:cNvSpPr>
          <p:nvPr>
            <p:ph type="title"/>
          </p:nvPr>
        </p:nvSpPr>
        <p:spPr>
          <a:xfrm>
            <a:off x="958506" y="800392"/>
            <a:ext cx="10264697" cy="1212102"/>
          </a:xfrm>
        </p:spPr>
        <p:txBody>
          <a:bodyPr>
            <a:normAutofit/>
          </a:bodyPr>
          <a:lstStyle/>
          <a:p>
            <a:r>
              <a:rPr lang="en-US" altLang="en-US" sz="4000">
                <a:solidFill>
                  <a:srgbClr val="FFFFFF"/>
                </a:solidFill>
              </a:rPr>
              <a:t>Public Key Encryption</a:t>
            </a:r>
          </a:p>
        </p:txBody>
      </p:sp>
      <p:sp>
        <p:nvSpPr>
          <p:cNvPr id="86021" name="Rectangle 5">
            <a:extLst>
              <a:ext uri="{FF2B5EF4-FFF2-40B4-BE49-F238E27FC236}">
                <a16:creationId xmlns:a16="http://schemas.microsoft.com/office/drawing/2014/main" id="{7BF8EDFF-C58D-49BC-AB64-556F96D15F6B}"/>
              </a:ext>
            </a:extLst>
          </p:cNvPr>
          <p:cNvSpPr>
            <a:spLocks noGrp="1" noChangeArrowheads="1"/>
          </p:cNvSpPr>
          <p:nvPr>
            <p:ph type="body" idx="1"/>
          </p:nvPr>
        </p:nvSpPr>
        <p:spPr>
          <a:xfrm>
            <a:off x="1367624" y="2490436"/>
            <a:ext cx="9708995" cy="3567173"/>
          </a:xfrm>
        </p:spPr>
        <p:txBody>
          <a:bodyPr anchor="ctr">
            <a:normAutofit/>
          </a:bodyPr>
          <a:lstStyle/>
          <a:p>
            <a:r>
              <a:rPr lang="en-US" altLang="en-US" sz="2400" dirty="0"/>
              <a:t>To overcome the drawbacks of private key systems, a number of mathematicians have invented public key systems.</a:t>
            </a:r>
          </a:p>
          <a:p>
            <a:r>
              <a:rPr lang="en-US" altLang="en-US" sz="2400" dirty="0"/>
              <a:t>Public key means that anyone can publish his or her method of encryption, publish a key for his or her messages, and only the recipient can read the messages. This works because of what is known in math as a trapdoor problem.</a:t>
            </a:r>
          </a:p>
        </p:txBody>
      </p:sp>
      <p:sp>
        <p:nvSpPr>
          <p:cNvPr id="5" name="Slide Number Placeholder 5">
            <a:extLst>
              <a:ext uri="{FF2B5EF4-FFF2-40B4-BE49-F238E27FC236}">
                <a16:creationId xmlns:a16="http://schemas.microsoft.com/office/drawing/2014/main" id="{1892CCD9-A5AE-4873-B788-22F7308B4B04}"/>
              </a:ext>
            </a:extLst>
          </p:cNvPr>
          <p:cNvSpPr>
            <a:spLocks noGrp="1"/>
          </p:cNvSpPr>
          <p:nvPr>
            <p:ph type="sldNum" sz="quarter" idx="12"/>
          </p:nvPr>
        </p:nvSpPr>
        <p:spPr>
          <a:xfrm>
            <a:off x="10707624" y="6382512"/>
            <a:ext cx="685800" cy="320040"/>
          </a:xfrm>
        </p:spPr>
        <p:txBody>
          <a:bodyPr>
            <a:normAutofit/>
          </a:bodyPr>
          <a:lstStyle/>
          <a:p>
            <a:pPr>
              <a:spcAft>
                <a:spcPts val="600"/>
              </a:spcAft>
            </a:pPr>
            <a:fld id="{E04FC299-1F4F-485F-9F94-62B105097CE7}" type="slidenum">
              <a:rPr lang="en-US" altLang="en-US" sz="1000"/>
              <a:pPr>
                <a:spcAft>
                  <a:spcPts val="600"/>
                </a:spcAft>
              </a:pPr>
              <a:t>50</a:t>
            </a:fld>
            <a:endParaRPr lang="en-US" altLang="en-US" sz="1000"/>
          </a:p>
        </p:txBody>
      </p:sp>
    </p:spTree>
  </p:cSld>
  <p:clrMapOvr>
    <a:masterClrMapping/>
  </p:clrMapOvr>
  <p:transition spd="slow"/>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88066" name="Rectangle 2">
            <a:extLst>
              <a:ext uri="{FF2B5EF4-FFF2-40B4-BE49-F238E27FC236}">
                <a16:creationId xmlns:a16="http://schemas.microsoft.com/office/drawing/2014/main" id="{9EABE80C-6887-42E3-8304-50AD2780C96B}"/>
              </a:ext>
            </a:extLst>
          </p:cNvPr>
          <p:cNvSpPr>
            <a:spLocks noGrp="1" noChangeArrowheads="1"/>
          </p:cNvSpPr>
          <p:nvPr>
            <p:ph type="title"/>
          </p:nvPr>
        </p:nvSpPr>
        <p:spPr>
          <a:xfrm>
            <a:off x="958506" y="800392"/>
            <a:ext cx="10264697" cy="1212102"/>
          </a:xfrm>
        </p:spPr>
        <p:txBody>
          <a:bodyPr>
            <a:normAutofit/>
          </a:bodyPr>
          <a:lstStyle/>
          <a:p>
            <a:r>
              <a:rPr lang="en-US" altLang="en-US" sz="4000">
                <a:solidFill>
                  <a:srgbClr val="FFFFFF"/>
                </a:solidFill>
              </a:rPr>
              <a:t>Trapdoor problem</a:t>
            </a:r>
          </a:p>
        </p:txBody>
      </p:sp>
      <p:sp>
        <p:nvSpPr>
          <p:cNvPr id="88067" name="Rectangle 3">
            <a:extLst>
              <a:ext uri="{FF2B5EF4-FFF2-40B4-BE49-F238E27FC236}">
                <a16:creationId xmlns:a16="http://schemas.microsoft.com/office/drawing/2014/main" id="{EDB4AB94-8016-4B83-AD36-7BCC57B30FF8}"/>
              </a:ext>
            </a:extLst>
          </p:cNvPr>
          <p:cNvSpPr>
            <a:spLocks noGrp="1" noChangeArrowheads="1"/>
          </p:cNvSpPr>
          <p:nvPr>
            <p:ph type="body" idx="1"/>
          </p:nvPr>
        </p:nvSpPr>
        <p:spPr>
          <a:xfrm>
            <a:off x="1367624" y="2490436"/>
            <a:ext cx="9708995" cy="3567173"/>
          </a:xfrm>
        </p:spPr>
        <p:txBody>
          <a:bodyPr anchor="ctr">
            <a:normAutofit/>
          </a:bodyPr>
          <a:lstStyle/>
          <a:p>
            <a:pPr>
              <a:spcAft>
                <a:spcPts val="600"/>
              </a:spcAft>
            </a:pPr>
            <a:r>
              <a:rPr lang="en-US" altLang="en-US" sz="2400" dirty="0"/>
              <a:t>A trapdoor is a mathematical formula that is easy to work forward but very hard to work backward. In general it is easy to multiply two very large numbers together, but it is very difficult to take a very large number and find its two prime factors. </a:t>
            </a:r>
          </a:p>
        </p:txBody>
      </p:sp>
      <p:sp>
        <p:nvSpPr>
          <p:cNvPr id="5" name="Slide Number Placeholder 5">
            <a:extLst>
              <a:ext uri="{FF2B5EF4-FFF2-40B4-BE49-F238E27FC236}">
                <a16:creationId xmlns:a16="http://schemas.microsoft.com/office/drawing/2014/main" id="{A554F9BA-7DB1-4833-B83B-527299643E81}"/>
              </a:ext>
            </a:extLst>
          </p:cNvPr>
          <p:cNvSpPr>
            <a:spLocks noGrp="1"/>
          </p:cNvSpPr>
          <p:nvPr>
            <p:ph type="sldNum" sz="quarter" idx="12"/>
          </p:nvPr>
        </p:nvSpPr>
        <p:spPr>
          <a:xfrm>
            <a:off x="10707624" y="6382512"/>
            <a:ext cx="685800" cy="320040"/>
          </a:xfrm>
        </p:spPr>
        <p:txBody>
          <a:bodyPr>
            <a:normAutofit/>
          </a:bodyPr>
          <a:lstStyle/>
          <a:p>
            <a:pPr>
              <a:spcAft>
                <a:spcPts val="600"/>
              </a:spcAft>
            </a:pPr>
            <a:fld id="{8E12FE46-556A-4AAF-9E36-14AD53713C24}" type="slidenum">
              <a:rPr lang="en-US" altLang="en-US" sz="1000"/>
              <a:pPr>
                <a:spcAft>
                  <a:spcPts val="600"/>
                </a:spcAft>
              </a:pPr>
              <a:t>51</a:t>
            </a:fld>
            <a:endParaRPr lang="en-US" altLang="en-US" sz="1000"/>
          </a:p>
        </p:txBody>
      </p:sp>
    </p:spTree>
  </p:cSld>
  <p:clrMapOvr>
    <a:masterClrMapping/>
  </p:clrMapOvr>
  <p:transition spd="slow"/>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4" name="Rectangle 73">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4" name="Rectangle 83">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90116" name="Rectangle 4">
            <a:extLst>
              <a:ext uri="{FF2B5EF4-FFF2-40B4-BE49-F238E27FC236}">
                <a16:creationId xmlns:a16="http://schemas.microsoft.com/office/drawing/2014/main" id="{4FF02377-9752-4E85-8FE5-3573D64784D2}"/>
              </a:ext>
            </a:extLst>
          </p:cNvPr>
          <p:cNvSpPr>
            <a:spLocks noGrp="1" noChangeArrowheads="1"/>
          </p:cNvSpPr>
          <p:nvPr>
            <p:ph type="title"/>
          </p:nvPr>
        </p:nvSpPr>
        <p:spPr>
          <a:xfrm>
            <a:off x="958506" y="800392"/>
            <a:ext cx="10264697" cy="1212102"/>
          </a:xfrm>
        </p:spPr>
        <p:txBody>
          <a:bodyPr>
            <a:normAutofit/>
          </a:bodyPr>
          <a:lstStyle/>
          <a:p>
            <a:r>
              <a:rPr lang="en-US" altLang="en-US" sz="4000">
                <a:solidFill>
                  <a:srgbClr val="FFFFFF"/>
                </a:solidFill>
              </a:rPr>
              <a:t>RSA</a:t>
            </a:r>
          </a:p>
        </p:txBody>
      </p:sp>
      <p:sp>
        <p:nvSpPr>
          <p:cNvPr id="90117" name="Rectangle 5">
            <a:extLst>
              <a:ext uri="{FF2B5EF4-FFF2-40B4-BE49-F238E27FC236}">
                <a16:creationId xmlns:a16="http://schemas.microsoft.com/office/drawing/2014/main" id="{A5C5A2C3-691D-4C3B-9CAA-4E61CD28002A}"/>
              </a:ext>
            </a:extLst>
          </p:cNvPr>
          <p:cNvSpPr>
            <a:spLocks noGrp="1" noChangeArrowheads="1"/>
          </p:cNvSpPr>
          <p:nvPr>
            <p:ph type="body" idx="1"/>
          </p:nvPr>
        </p:nvSpPr>
        <p:spPr>
          <a:xfrm>
            <a:off x="1243488" y="2543175"/>
            <a:ext cx="9708995" cy="2227731"/>
          </a:xfrm>
        </p:spPr>
        <p:txBody>
          <a:bodyPr anchor="ctr">
            <a:normAutofit/>
          </a:bodyPr>
          <a:lstStyle/>
          <a:p>
            <a:r>
              <a:rPr lang="en-US" altLang="en-US" sz="2400" dirty="0"/>
              <a:t>The best known public key system is RSA, named after its authors, </a:t>
            </a:r>
            <a:r>
              <a:rPr lang="en-US" altLang="en-US" sz="2400" dirty="0" err="1"/>
              <a:t>Rivest</a:t>
            </a:r>
            <a:r>
              <a:rPr lang="en-US" altLang="en-US" sz="2400" dirty="0"/>
              <a:t>, Shamir and Adelman.</a:t>
            </a:r>
          </a:p>
        </p:txBody>
      </p:sp>
      <p:sp>
        <p:nvSpPr>
          <p:cNvPr id="5" name="Slide Number Placeholder 5">
            <a:extLst>
              <a:ext uri="{FF2B5EF4-FFF2-40B4-BE49-F238E27FC236}">
                <a16:creationId xmlns:a16="http://schemas.microsoft.com/office/drawing/2014/main" id="{E9236953-42FF-4312-B0C6-E22027CC010C}"/>
              </a:ext>
            </a:extLst>
          </p:cNvPr>
          <p:cNvSpPr>
            <a:spLocks noGrp="1"/>
          </p:cNvSpPr>
          <p:nvPr>
            <p:ph type="sldNum" sz="quarter" idx="12"/>
          </p:nvPr>
        </p:nvSpPr>
        <p:spPr>
          <a:xfrm>
            <a:off x="10707624" y="6382512"/>
            <a:ext cx="685800" cy="320040"/>
          </a:xfrm>
        </p:spPr>
        <p:txBody>
          <a:bodyPr>
            <a:normAutofit/>
          </a:bodyPr>
          <a:lstStyle/>
          <a:p>
            <a:pPr>
              <a:spcAft>
                <a:spcPts val="600"/>
              </a:spcAft>
            </a:pPr>
            <a:fld id="{A78FE99E-3655-43CC-844C-804198F231DE}" type="slidenum">
              <a:rPr lang="en-US" altLang="en-US" sz="1000"/>
              <a:pPr>
                <a:spcAft>
                  <a:spcPts val="600"/>
                </a:spcAft>
              </a:pPr>
              <a:t>52</a:t>
            </a:fld>
            <a:endParaRPr lang="en-US" altLang="en-US" sz="1000"/>
          </a:p>
        </p:txBody>
      </p:sp>
    </p:spTree>
  </p:cSld>
  <p:clrMapOvr>
    <a:masterClrMapping/>
  </p:clrMapOvr>
  <p:transition spd="slow"/>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2" name="Rectangle 71">
            <a:extLst>
              <a:ext uri="{FF2B5EF4-FFF2-40B4-BE49-F238E27FC236}">
                <a16:creationId xmlns:a16="http://schemas.microsoft.com/office/drawing/2014/main" id="{827B839B-9ADE-406B-8590-F1CAEDED45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Freeform 45">
            <a:extLst>
              <a:ext uri="{FF2B5EF4-FFF2-40B4-BE49-F238E27FC236}">
                <a16:creationId xmlns:a16="http://schemas.microsoft.com/office/drawing/2014/main" id="{CFE45BF0-46DB-408C-B5F7-7B11716805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1022350"/>
            <a:ext cx="709612" cy="2095501"/>
          </a:xfrm>
          <a:custGeom>
            <a:avLst/>
            <a:gdLst>
              <a:gd name="T0" fmla="*/ 447 w 447"/>
              <a:gd name="T1" fmla="*/ 1363 h 1363"/>
              <a:gd name="T2" fmla="*/ 0 w 447"/>
              <a:gd name="T3" fmla="*/ 987 h 1363"/>
              <a:gd name="T4" fmla="*/ 0 w 447"/>
              <a:gd name="T5" fmla="*/ 0 h 1363"/>
              <a:gd name="T6" fmla="*/ 447 w 447"/>
              <a:gd name="T7" fmla="*/ 376 h 1363"/>
              <a:gd name="T8" fmla="*/ 447 w 447"/>
              <a:gd name="T9" fmla="*/ 1363 h 1363"/>
            </a:gdLst>
            <a:ahLst/>
            <a:cxnLst>
              <a:cxn ang="0">
                <a:pos x="T0" y="T1"/>
              </a:cxn>
              <a:cxn ang="0">
                <a:pos x="T2" y="T3"/>
              </a:cxn>
              <a:cxn ang="0">
                <a:pos x="T4" y="T5"/>
              </a:cxn>
              <a:cxn ang="0">
                <a:pos x="T6" y="T7"/>
              </a:cxn>
              <a:cxn ang="0">
                <a:pos x="T8" y="T9"/>
              </a:cxn>
            </a:cxnLst>
            <a:rect l="0" t="0" r="r" b="b"/>
            <a:pathLst>
              <a:path w="447" h="1363">
                <a:moveTo>
                  <a:pt x="447" y="1363"/>
                </a:moveTo>
                <a:lnTo>
                  <a:pt x="0" y="987"/>
                </a:lnTo>
                <a:lnTo>
                  <a:pt x="0" y="0"/>
                </a:lnTo>
                <a:lnTo>
                  <a:pt x="447" y="376"/>
                </a:lnTo>
                <a:lnTo>
                  <a:pt x="447" y="1363"/>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6" name="Freeform 46">
            <a:extLst>
              <a:ext uri="{FF2B5EF4-FFF2-40B4-BE49-F238E27FC236}">
                <a16:creationId xmlns:a16="http://schemas.microsoft.com/office/drawing/2014/main" id="{2AEBC8F2-97B1-41B4-93F1-2D289E197F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409710" y="837744"/>
            <a:ext cx="403225" cy="1705431"/>
          </a:xfrm>
          <a:custGeom>
            <a:avLst/>
            <a:gdLst>
              <a:gd name="T0" fmla="*/ 254 w 254"/>
              <a:gd name="T1" fmla="*/ 987 h 1109"/>
              <a:gd name="T2" fmla="*/ 0 w 254"/>
              <a:gd name="T3" fmla="*/ 1109 h 1109"/>
              <a:gd name="T4" fmla="*/ 0 w 254"/>
              <a:gd name="T5" fmla="*/ 119 h 1109"/>
              <a:gd name="T6" fmla="*/ 254 w 254"/>
              <a:gd name="T7" fmla="*/ 0 h 1109"/>
              <a:gd name="T8" fmla="*/ 254 w 254"/>
              <a:gd name="T9" fmla="*/ 987 h 1109"/>
            </a:gdLst>
            <a:ahLst/>
            <a:cxnLst>
              <a:cxn ang="0">
                <a:pos x="T0" y="T1"/>
              </a:cxn>
              <a:cxn ang="0">
                <a:pos x="T2" y="T3"/>
              </a:cxn>
              <a:cxn ang="0">
                <a:pos x="T4" y="T5"/>
              </a:cxn>
              <a:cxn ang="0">
                <a:pos x="T6" y="T7"/>
              </a:cxn>
              <a:cxn ang="0">
                <a:pos x="T8" y="T9"/>
              </a:cxn>
            </a:cxnLst>
            <a:rect l="0" t="0" r="r" b="b"/>
            <a:pathLst>
              <a:path w="254" h="1109">
                <a:moveTo>
                  <a:pt x="254" y="987"/>
                </a:moveTo>
                <a:lnTo>
                  <a:pt x="0" y="1109"/>
                </a:lnTo>
                <a:lnTo>
                  <a:pt x="0" y="119"/>
                </a:lnTo>
                <a:lnTo>
                  <a:pt x="254" y="0"/>
                </a:lnTo>
                <a:lnTo>
                  <a:pt x="254" y="987"/>
                </a:lnTo>
                <a:close/>
              </a:path>
            </a:pathLst>
          </a:cu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78" name="Freeform 47">
            <a:extLst>
              <a:ext uri="{FF2B5EF4-FFF2-40B4-BE49-F238E27FC236}">
                <a16:creationId xmlns:a16="http://schemas.microsoft.com/office/drawing/2014/main" id="{472E3A19-F5D5-48FC-BB9C-48C2F68F5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660" y="640894"/>
            <a:ext cx="168275" cy="1713195"/>
          </a:xfrm>
          <a:custGeom>
            <a:avLst/>
            <a:gdLst>
              <a:gd name="T0" fmla="*/ 106 w 106"/>
              <a:gd name="T1" fmla="*/ 1114 h 1114"/>
              <a:gd name="T2" fmla="*/ 0 w 106"/>
              <a:gd name="T3" fmla="*/ 1005 h 1114"/>
              <a:gd name="T4" fmla="*/ 0 w 106"/>
              <a:gd name="T5" fmla="*/ 0 h 1114"/>
              <a:gd name="T6" fmla="*/ 106 w 106"/>
              <a:gd name="T7" fmla="*/ 110 h 1114"/>
              <a:gd name="T8" fmla="*/ 106 w 106"/>
              <a:gd name="T9" fmla="*/ 1114 h 1114"/>
            </a:gdLst>
            <a:ahLst/>
            <a:cxnLst>
              <a:cxn ang="0">
                <a:pos x="T0" y="T1"/>
              </a:cxn>
              <a:cxn ang="0">
                <a:pos x="T2" y="T3"/>
              </a:cxn>
              <a:cxn ang="0">
                <a:pos x="T4" y="T5"/>
              </a:cxn>
              <a:cxn ang="0">
                <a:pos x="T6" y="T7"/>
              </a:cxn>
              <a:cxn ang="0">
                <a:pos x="T8" y="T9"/>
              </a:cxn>
            </a:cxnLst>
            <a:rect l="0" t="0" r="r" b="b"/>
            <a:pathLst>
              <a:path w="106" h="1114">
                <a:moveTo>
                  <a:pt x="106" y="1114"/>
                </a:moveTo>
                <a:lnTo>
                  <a:pt x="0" y="1005"/>
                </a:lnTo>
                <a:lnTo>
                  <a:pt x="0" y="0"/>
                </a:lnTo>
                <a:lnTo>
                  <a:pt x="106" y="110"/>
                </a:lnTo>
                <a:lnTo>
                  <a:pt x="106" y="1114"/>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0" name="Freeform 44">
            <a:extLst>
              <a:ext uri="{FF2B5EF4-FFF2-40B4-BE49-F238E27FC236}">
                <a16:creationId xmlns:a16="http://schemas.microsoft.com/office/drawing/2014/main" id="{7A62E32F-BB65-43A8-8EB5-92346890E5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23203" y="635716"/>
            <a:ext cx="328612" cy="1742360"/>
          </a:xfrm>
          <a:custGeom>
            <a:avLst/>
            <a:gdLst>
              <a:gd name="T0" fmla="*/ 207 w 207"/>
              <a:gd name="T1" fmla="*/ 987 h 1114"/>
              <a:gd name="T2" fmla="*/ 0 w 207"/>
              <a:gd name="T3" fmla="*/ 1114 h 1114"/>
              <a:gd name="T4" fmla="*/ 0 w 207"/>
              <a:gd name="T5" fmla="*/ 127 h 1114"/>
              <a:gd name="T6" fmla="*/ 207 w 207"/>
              <a:gd name="T7" fmla="*/ 0 h 1114"/>
              <a:gd name="T8" fmla="*/ 207 w 207"/>
              <a:gd name="T9" fmla="*/ 987 h 1114"/>
            </a:gdLst>
            <a:ahLst/>
            <a:cxnLst>
              <a:cxn ang="0">
                <a:pos x="T0" y="T1"/>
              </a:cxn>
              <a:cxn ang="0">
                <a:pos x="T2" y="T3"/>
              </a:cxn>
              <a:cxn ang="0">
                <a:pos x="T4" y="T5"/>
              </a:cxn>
              <a:cxn ang="0">
                <a:pos x="T6" y="T7"/>
              </a:cxn>
              <a:cxn ang="0">
                <a:pos x="T8" y="T9"/>
              </a:cxn>
            </a:cxnLst>
            <a:rect l="0" t="0" r="r" b="b"/>
            <a:pathLst>
              <a:path w="207" h="1114">
                <a:moveTo>
                  <a:pt x="207" y="987"/>
                </a:moveTo>
                <a:lnTo>
                  <a:pt x="0" y="1114"/>
                </a:lnTo>
                <a:lnTo>
                  <a:pt x="0" y="127"/>
                </a:lnTo>
                <a:lnTo>
                  <a:pt x="207" y="0"/>
                </a:lnTo>
                <a:lnTo>
                  <a:pt x="207" y="987"/>
                </a:lnTo>
                <a:close/>
              </a:path>
            </a:pathLst>
          </a:custGeom>
          <a:solidFill>
            <a:schemeClr val="accent1">
              <a:lumMod val="5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2" name="Rectangle 81">
            <a:extLst>
              <a:ext uri="{FF2B5EF4-FFF2-40B4-BE49-F238E27FC236}">
                <a16:creationId xmlns:a16="http://schemas.microsoft.com/office/drawing/2014/main" id="{14E91B64-9FCC-451E-AFB4-A827D63293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44055" y="635715"/>
            <a:ext cx="10907863" cy="1541457"/>
          </a:xfrm>
          <a:prstGeom prst="rect">
            <a:avLst/>
          </a:prstGeom>
          <a:solidFill>
            <a:schemeClr val="accent1"/>
          </a:solidFill>
          <a:ln>
            <a:noFill/>
          </a:ln>
        </p:spPr>
        <p:txBody>
          <a:bodyPr vert="horz" wrap="square" lIns="91440" tIns="45720" rIns="91440" bIns="45720" numCol="1" anchor="t" anchorCtr="0" compatLnSpc="1">
            <a:prstTxWarp prst="textNoShape">
              <a:avLst/>
            </a:prstTxWarp>
          </a:bodyPr>
          <a:lstStyle/>
          <a:p>
            <a:endParaRPr lang="en-US"/>
          </a:p>
        </p:txBody>
      </p:sp>
      <p:sp>
        <p:nvSpPr>
          <p:cNvPr id="95234" name="Rectangle 2">
            <a:extLst>
              <a:ext uri="{FF2B5EF4-FFF2-40B4-BE49-F238E27FC236}">
                <a16:creationId xmlns:a16="http://schemas.microsoft.com/office/drawing/2014/main" id="{BF335474-E739-44E2-A1F5-F92EA6A851E6}"/>
              </a:ext>
            </a:extLst>
          </p:cNvPr>
          <p:cNvSpPr>
            <a:spLocks noGrp="1" noChangeArrowheads="1"/>
          </p:cNvSpPr>
          <p:nvPr>
            <p:ph type="title"/>
          </p:nvPr>
        </p:nvSpPr>
        <p:spPr>
          <a:xfrm>
            <a:off x="958506" y="800392"/>
            <a:ext cx="10264697" cy="1212102"/>
          </a:xfrm>
        </p:spPr>
        <p:txBody>
          <a:bodyPr>
            <a:normAutofit/>
          </a:bodyPr>
          <a:lstStyle/>
          <a:p>
            <a:r>
              <a:rPr lang="en-US" altLang="en-US" sz="4000">
                <a:solidFill>
                  <a:srgbClr val="FFFFFF"/>
                </a:solidFill>
              </a:rPr>
              <a:t>Uses of Encryption</a:t>
            </a:r>
          </a:p>
        </p:txBody>
      </p:sp>
      <p:sp>
        <p:nvSpPr>
          <p:cNvPr id="95235" name="Rectangle 3">
            <a:extLst>
              <a:ext uri="{FF2B5EF4-FFF2-40B4-BE49-F238E27FC236}">
                <a16:creationId xmlns:a16="http://schemas.microsoft.com/office/drawing/2014/main" id="{D070FC5F-8F4B-4CF0-8066-C9AEB6E51DE3}"/>
              </a:ext>
            </a:extLst>
          </p:cNvPr>
          <p:cNvSpPr>
            <a:spLocks noGrp="1" noChangeArrowheads="1"/>
          </p:cNvSpPr>
          <p:nvPr>
            <p:ph type="body" idx="1"/>
          </p:nvPr>
        </p:nvSpPr>
        <p:spPr>
          <a:xfrm>
            <a:off x="1367624" y="2490436"/>
            <a:ext cx="9708995" cy="3567173"/>
          </a:xfrm>
        </p:spPr>
        <p:txBody>
          <a:bodyPr anchor="ctr">
            <a:normAutofit/>
          </a:bodyPr>
          <a:lstStyle/>
          <a:p>
            <a:r>
              <a:rPr lang="en-US" altLang="en-US" sz="2400" dirty="0"/>
              <a:t>Protecting data from prying eyes is not the only security issue in networking. One can imagine at least four security services: </a:t>
            </a:r>
          </a:p>
          <a:p>
            <a:pPr lvl="1"/>
            <a:r>
              <a:rPr lang="en-US" altLang="en-US" dirty="0"/>
              <a:t>Protecting data from being read by unauthorized persons</a:t>
            </a:r>
          </a:p>
          <a:p>
            <a:pPr lvl="1"/>
            <a:r>
              <a:rPr lang="en-US" altLang="en-US" dirty="0"/>
              <a:t>Verifying the sender of each message (authentication) </a:t>
            </a:r>
          </a:p>
          <a:p>
            <a:pPr lvl="1"/>
            <a:r>
              <a:rPr lang="en-US" altLang="en-US" dirty="0"/>
              <a:t>Preventing unauthorized persons from inserting or deleting messages</a:t>
            </a:r>
          </a:p>
          <a:p>
            <a:pPr lvl="1"/>
            <a:r>
              <a:rPr lang="en-US" altLang="en-US" dirty="0"/>
              <a:t>Making it possible for users to send signed documents electronically</a:t>
            </a:r>
          </a:p>
          <a:p>
            <a:r>
              <a:rPr lang="en-US" altLang="en-US" sz="2400" dirty="0"/>
              <a:t>Encryption can be used to achieve all these goals. </a:t>
            </a:r>
          </a:p>
        </p:txBody>
      </p:sp>
      <p:sp>
        <p:nvSpPr>
          <p:cNvPr id="5" name="Slide Number Placeholder 5">
            <a:extLst>
              <a:ext uri="{FF2B5EF4-FFF2-40B4-BE49-F238E27FC236}">
                <a16:creationId xmlns:a16="http://schemas.microsoft.com/office/drawing/2014/main" id="{5905FE19-9A56-4382-A83F-368EDCA76C77}"/>
              </a:ext>
            </a:extLst>
          </p:cNvPr>
          <p:cNvSpPr>
            <a:spLocks noGrp="1"/>
          </p:cNvSpPr>
          <p:nvPr>
            <p:ph type="sldNum" sz="quarter" idx="12"/>
          </p:nvPr>
        </p:nvSpPr>
        <p:spPr>
          <a:xfrm>
            <a:off x="10707624" y="6382512"/>
            <a:ext cx="685800" cy="320040"/>
          </a:xfrm>
        </p:spPr>
        <p:txBody>
          <a:bodyPr>
            <a:normAutofit/>
          </a:bodyPr>
          <a:lstStyle/>
          <a:p>
            <a:pPr>
              <a:spcAft>
                <a:spcPts val="600"/>
              </a:spcAft>
            </a:pPr>
            <a:fld id="{393F880B-A266-4128-8C6F-353E82BE4E60}" type="slidenum">
              <a:rPr lang="en-US" altLang="en-US" sz="1000"/>
              <a:pPr>
                <a:spcAft>
                  <a:spcPts val="600"/>
                </a:spcAft>
              </a:pPr>
              <a:t>53</a:t>
            </a:fld>
            <a:endParaRPr lang="en-US" altLang="en-US" sz="1000"/>
          </a:p>
        </p:txBody>
      </p:sp>
    </p:spTree>
  </p:cSld>
  <p:clrMapOvr>
    <a:masterClrMapping/>
  </p:clrMapOvr>
  <p:transition spd="slow"/>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48B12885D91BB40A0BB99E2A50A1EE3" ma:contentTypeVersion="0" ma:contentTypeDescription="Create a new document." ma:contentTypeScope="" ma:versionID="7a24ff69d682fc178d78579960974b93">
  <xsd:schema xmlns:xsd="http://www.w3.org/2001/XMLSchema" xmlns:xs="http://www.w3.org/2001/XMLSchema" xmlns:p="http://schemas.microsoft.com/office/2006/metadata/properties" targetNamespace="http://schemas.microsoft.com/office/2006/metadata/properties" ma:root="true" ma:fieldsID="500c6692915ba10984c0aabd49f31b22">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CE36764-E07B-4E7B-A6F9-67D63CBD9921}"/>
</file>

<file path=customXml/itemProps2.xml><?xml version="1.0" encoding="utf-8"?>
<ds:datastoreItem xmlns:ds="http://schemas.openxmlformats.org/officeDocument/2006/customXml" ds:itemID="{5A0103B4-2F2E-4FDD-845A-2F599E365FB1}"/>
</file>

<file path=customXml/itemProps3.xml><?xml version="1.0" encoding="utf-8"?>
<ds:datastoreItem xmlns:ds="http://schemas.openxmlformats.org/officeDocument/2006/customXml" ds:itemID="{F7A88C00-F59E-4E70-8FD9-FD480AA9E88F}"/>
</file>

<file path=docProps/app.xml><?xml version="1.0" encoding="utf-8"?>
<Properties xmlns="http://schemas.openxmlformats.org/officeDocument/2006/extended-properties" xmlns:vt="http://schemas.openxmlformats.org/officeDocument/2006/docPropsVTypes">
  <TotalTime>21301</TotalTime>
  <Words>2083</Words>
  <Application>Microsoft Office PowerPoint</Application>
  <PresentationFormat>Widescreen</PresentationFormat>
  <Paragraphs>245</Paragraphs>
  <Slides>53</Slides>
  <Notes>6</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2</vt:i4>
      </vt:variant>
      <vt:variant>
        <vt:lpstr>Slide Titles</vt:lpstr>
      </vt:variant>
      <vt:variant>
        <vt:i4>53</vt:i4>
      </vt:variant>
    </vt:vector>
  </HeadingPairs>
  <TitlesOfParts>
    <vt:vector size="61" baseType="lpstr">
      <vt:lpstr>Arial</vt:lpstr>
      <vt:lpstr>Calibri</vt:lpstr>
      <vt:lpstr>Calibri Light</vt:lpstr>
      <vt:lpstr>Droid Serif Bold</vt:lpstr>
      <vt:lpstr>Times New Roman</vt:lpstr>
      <vt:lpstr>Office Theme</vt:lpstr>
      <vt:lpstr>Clip</vt:lpstr>
      <vt:lpstr>Photo Editor Photo</vt:lpstr>
      <vt:lpstr>PowerPoint Presentation</vt:lpstr>
      <vt:lpstr>PowerPoint Presentation</vt:lpstr>
      <vt:lpstr>PowerPoint Presentation</vt:lpstr>
      <vt:lpstr>PowerPoint Presentation</vt:lpstr>
      <vt:lpstr>Definition</vt:lpstr>
      <vt:lpstr>Definitions - Crypto-speak</vt:lpstr>
      <vt:lpstr>Why Cryptography?</vt:lpstr>
      <vt:lpstr>Definitions</vt:lpstr>
      <vt:lpstr>PowerPoint Presentation</vt:lpstr>
      <vt:lpstr>Encryption is a form of Coding</vt:lpstr>
      <vt:lpstr>Cryptanalaysis</vt:lpstr>
      <vt:lpstr>Cryptology</vt:lpstr>
      <vt:lpstr>The Key</vt:lpstr>
      <vt:lpstr>Encryption Algorithm Types</vt:lpstr>
      <vt:lpstr>Symmetric Algorithms</vt:lpstr>
      <vt:lpstr>Asymmetric Algorithms</vt:lpstr>
      <vt:lpstr>Comparison of SE and AE</vt:lpstr>
      <vt:lpstr> https://www.youtube.com/watch?v=6-JjHa-qLPk&amp;t=155s https://www.youtube.com/watch?v=r4HQ8Bp-pfw    </vt:lpstr>
      <vt:lpstr>https://www.youtube.com/watch?v=AQDCe585Lnc</vt:lpstr>
      <vt:lpstr>Cryptography vs Steganography</vt:lpstr>
      <vt:lpstr>PowerPoint Presentation</vt:lpstr>
      <vt:lpstr>PowerPoint Presentation</vt:lpstr>
      <vt:lpstr>PowerPoint Presentation</vt:lpstr>
      <vt:lpstr>PowerPoint Presentation</vt:lpstr>
      <vt:lpstr>Classical Cryptographic Techniques</vt:lpstr>
      <vt:lpstr>Monoalphabetic and Polyalphabetic Ciphers</vt:lpstr>
      <vt:lpstr>Caesar Cipher - A Monoalphabetic Substitution Cipher</vt:lpstr>
      <vt:lpstr>https://www.youtube.com/watch?v=sMOZf4GN3oc </vt:lpstr>
      <vt:lpstr>PowerPoint Presentation</vt:lpstr>
      <vt:lpstr>PowerPoint Presentation</vt:lpstr>
      <vt:lpstr>PowerPoint Presentation</vt:lpstr>
      <vt:lpstr>PowerPoint Presentation</vt:lpstr>
      <vt:lpstr>Frequency-based Cryptanalytic Attacks</vt:lpstr>
      <vt:lpstr>Frequency Distribution of Letters</vt:lpstr>
      <vt:lpstr>PowerPoint Presentation</vt:lpstr>
      <vt:lpstr>PowerPoint Presentation</vt:lpstr>
      <vt:lpstr>PowerPoint Presentation</vt:lpstr>
      <vt:lpstr>Polyalphabetic Substitution Cipher</vt:lpstr>
      <vt:lpstr>PowerPoint Presentation</vt:lpstr>
      <vt:lpstr>Transposition Ciphers</vt:lpstr>
      <vt:lpstr>Transposition Cipher Example</vt:lpstr>
      <vt:lpstr>Playfair Cipher </vt:lpstr>
      <vt:lpstr>Hill Ciphers</vt:lpstr>
      <vt:lpstr>One Time Pad</vt:lpstr>
      <vt:lpstr>What is a One-Time Pad?</vt:lpstr>
      <vt:lpstr>Why are One-Time Pads Perfectly Secure?</vt:lpstr>
      <vt:lpstr>https://www.youtube.com/watch?v=FlIG3TvQCBQ </vt:lpstr>
      <vt:lpstr>Example Symmetric Encryption Algorithm - DES</vt:lpstr>
      <vt:lpstr>Private Key Problems</vt:lpstr>
      <vt:lpstr>Public Key Encryption</vt:lpstr>
      <vt:lpstr>Trapdoor problem</vt:lpstr>
      <vt:lpstr>RSA</vt:lpstr>
      <vt:lpstr>Uses of Encryption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 Usman</dc:creator>
  <cp:lastModifiedBy>Hafiz Muhammad Attaullah</cp:lastModifiedBy>
  <cp:revision>11</cp:revision>
  <dcterms:created xsi:type="dcterms:W3CDTF">2020-10-26T06:07:28Z</dcterms:created>
  <dcterms:modified xsi:type="dcterms:W3CDTF">2025-03-15T07:05:28Z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0x010100C48B12885D91BB40A0BB99E2A50A1EE3</vt:lpwstr>
  </property>
  <property fmtid="{D5CDD505-2E9C-101B-9397-08002B2CF9AE}" pid="3" name="Order">
    <vt:r8>800</vt:r8>
  </property>
  <property fmtid="{D5CDD505-2E9C-101B-9397-08002B2CF9AE}" pid="4" name="xd_Signature">
    <vt:bool>false</vt:bool>
  </property>
  <property fmtid="{D5CDD505-2E9C-101B-9397-08002B2CF9AE}" pid="5" name="_ExtendedDescription">
    <vt:lpwstr/>
  </property>
  <property fmtid="{D5CDD505-2E9C-101B-9397-08002B2CF9AE}" pid="6" name="xd_ProgID">
    <vt:lpwstr/>
  </property>
  <property fmtid="{D5CDD505-2E9C-101B-9397-08002B2CF9AE}" pid="7" name="TriggerFlowInfo">
    <vt:lpwstr/>
  </property>
  <property fmtid="{D5CDD505-2E9C-101B-9397-08002B2CF9AE}" pid="8" name="_SourceUrl">
    <vt:lpwstr/>
  </property>
  <property fmtid="{D5CDD505-2E9C-101B-9397-08002B2CF9AE}" pid="9" name="_SharedFileIndex">
    <vt:lpwstr/>
  </property>
  <property fmtid="{D5CDD505-2E9C-101B-9397-08002B2CF9AE}" pid="10" name="ComplianceAssetId">
    <vt:lpwstr/>
  </property>
  <property fmtid="{D5CDD505-2E9C-101B-9397-08002B2CF9AE}" pid="11" name="TemplateUrl">
    <vt:lpwstr/>
  </property>
</Properties>
</file>