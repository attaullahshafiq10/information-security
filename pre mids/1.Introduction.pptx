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63" r:id="rId3"/>
  </p:sldMasterIdLst>
  <p:notesMasterIdLst>
    <p:notesMasterId r:id="rId55"/>
  </p:notesMasterIdLst>
  <p:sldIdLst>
    <p:sldId id="257" r:id="rId4"/>
    <p:sldId id="596" r:id="rId5"/>
    <p:sldId id="286" r:id="rId6"/>
    <p:sldId id="287" r:id="rId7"/>
    <p:sldId id="288" r:id="rId8"/>
    <p:sldId id="366" r:id="rId9"/>
    <p:sldId id="289" r:id="rId10"/>
    <p:sldId id="368" r:id="rId11"/>
    <p:sldId id="370" r:id="rId12"/>
    <p:sldId id="369" r:id="rId13"/>
    <p:sldId id="260" r:id="rId14"/>
    <p:sldId id="261" r:id="rId15"/>
    <p:sldId id="367" r:id="rId16"/>
    <p:sldId id="361" r:id="rId17"/>
    <p:sldId id="262" r:id="rId18"/>
    <p:sldId id="269" r:id="rId19"/>
    <p:sldId id="270" r:id="rId20"/>
    <p:sldId id="271" r:id="rId21"/>
    <p:sldId id="273" r:id="rId22"/>
    <p:sldId id="274" r:id="rId23"/>
    <p:sldId id="275" r:id="rId24"/>
    <p:sldId id="310" r:id="rId25"/>
    <p:sldId id="311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312" r:id="rId35"/>
    <p:sldId id="313" r:id="rId36"/>
    <p:sldId id="314" r:id="rId37"/>
    <p:sldId id="315" r:id="rId38"/>
    <p:sldId id="306" r:id="rId39"/>
    <p:sldId id="317" r:id="rId40"/>
    <p:sldId id="319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355" r:id="rId49"/>
    <p:sldId id="358" r:id="rId50"/>
    <p:sldId id="301" r:id="rId51"/>
    <p:sldId id="364" r:id="rId52"/>
    <p:sldId id="373" r:id="rId53"/>
    <p:sldId id="372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94660"/>
  </p:normalViewPr>
  <p:slideViewPr>
    <p:cSldViewPr snapToGrid="0">
      <p:cViewPr varScale="1">
        <p:scale>
          <a:sx n="69" d="100"/>
          <a:sy n="69" d="100"/>
        </p:scale>
        <p:origin x="13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customXml" Target="../customXml/item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viewProps" Target="view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customXml" Target="../customXml/item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FDAEF2-8F53-402F-96BC-F03B66B0B6E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D33C10D-1157-4CD4-ACA4-1BB870A011B2}">
      <dgm:prSet/>
      <dgm:spPr/>
      <dgm:t>
        <a:bodyPr/>
        <a:lstStyle/>
        <a:p>
          <a:r>
            <a:rPr kumimoji="1" lang="en-US"/>
            <a:t>Secrecy</a:t>
          </a:r>
          <a:endParaRPr lang="en-US"/>
        </a:p>
      </dgm:t>
    </dgm:pt>
    <dgm:pt modelId="{17DC4F27-0336-43C0-9F6C-6C3002EA54C6}" type="parTrans" cxnId="{4CD9B2CE-D910-4F82-9351-9BEF077B1BED}">
      <dgm:prSet/>
      <dgm:spPr/>
      <dgm:t>
        <a:bodyPr/>
        <a:lstStyle/>
        <a:p>
          <a:endParaRPr lang="en-US"/>
        </a:p>
      </dgm:t>
    </dgm:pt>
    <dgm:pt modelId="{B619826B-75E5-407D-81DE-F3763A0C2B58}" type="sibTrans" cxnId="{4CD9B2CE-D910-4F82-9351-9BEF077B1BED}">
      <dgm:prSet/>
      <dgm:spPr/>
      <dgm:t>
        <a:bodyPr/>
        <a:lstStyle/>
        <a:p>
          <a:endParaRPr lang="en-US"/>
        </a:p>
      </dgm:t>
    </dgm:pt>
    <dgm:pt modelId="{251939AE-906F-4ECB-8921-3EFB3B6EAD10}">
      <dgm:prSet/>
      <dgm:spPr/>
      <dgm:t>
        <a:bodyPr/>
        <a:lstStyle/>
        <a:p>
          <a:r>
            <a:rPr kumimoji="1" lang="en-US"/>
            <a:t>Integrity</a:t>
          </a:r>
          <a:endParaRPr lang="en-US"/>
        </a:p>
      </dgm:t>
    </dgm:pt>
    <dgm:pt modelId="{A6D68FE1-0A87-4EDD-BC70-60D23E4B37CC}" type="parTrans" cxnId="{853E3C36-288F-4CC1-BAB9-474C7F6E11DF}">
      <dgm:prSet/>
      <dgm:spPr/>
      <dgm:t>
        <a:bodyPr/>
        <a:lstStyle/>
        <a:p>
          <a:endParaRPr lang="en-US"/>
        </a:p>
      </dgm:t>
    </dgm:pt>
    <dgm:pt modelId="{BF07BE9A-0D29-47B0-B508-4229476F9035}" type="sibTrans" cxnId="{853E3C36-288F-4CC1-BAB9-474C7F6E11DF}">
      <dgm:prSet/>
      <dgm:spPr/>
      <dgm:t>
        <a:bodyPr/>
        <a:lstStyle/>
        <a:p>
          <a:endParaRPr lang="en-US"/>
        </a:p>
      </dgm:t>
    </dgm:pt>
    <dgm:pt modelId="{0F991576-D3DF-48A9-9D5C-184A0622815D}">
      <dgm:prSet/>
      <dgm:spPr/>
      <dgm:t>
        <a:bodyPr/>
        <a:lstStyle/>
        <a:p>
          <a:r>
            <a:rPr kumimoji="1" lang="en-US"/>
            <a:t>Availability</a:t>
          </a:r>
          <a:endParaRPr lang="en-US"/>
        </a:p>
      </dgm:t>
    </dgm:pt>
    <dgm:pt modelId="{2DB76120-63D3-4ABA-A4F2-5C540A449D49}" type="parTrans" cxnId="{6693E880-311E-4A79-B74D-CA1F86FFE5C1}">
      <dgm:prSet/>
      <dgm:spPr/>
      <dgm:t>
        <a:bodyPr/>
        <a:lstStyle/>
        <a:p>
          <a:endParaRPr lang="en-US"/>
        </a:p>
      </dgm:t>
    </dgm:pt>
    <dgm:pt modelId="{54096B4E-F766-49F9-A641-2CB4D75985C8}" type="sibTrans" cxnId="{6693E880-311E-4A79-B74D-CA1F86FFE5C1}">
      <dgm:prSet/>
      <dgm:spPr/>
      <dgm:t>
        <a:bodyPr/>
        <a:lstStyle/>
        <a:p>
          <a:endParaRPr lang="en-US"/>
        </a:p>
      </dgm:t>
    </dgm:pt>
    <dgm:pt modelId="{7E068B66-1669-48FD-8622-C05604CC3EFE}">
      <dgm:prSet/>
      <dgm:spPr/>
      <dgm:t>
        <a:bodyPr/>
        <a:lstStyle/>
        <a:p>
          <a:r>
            <a:rPr kumimoji="1" lang="en-US"/>
            <a:t>Authenticity</a:t>
          </a:r>
          <a:endParaRPr lang="en-US"/>
        </a:p>
      </dgm:t>
    </dgm:pt>
    <dgm:pt modelId="{28E1C13C-DB7A-4261-93CB-4CB48E2532A8}" type="parTrans" cxnId="{33CCAC6F-09E7-49F2-B5D1-4F08285FA450}">
      <dgm:prSet/>
      <dgm:spPr/>
      <dgm:t>
        <a:bodyPr/>
        <a:lstStyle/>
        <a:p>
          <a:endParaRPr lang="en-US"/>
        </a:p>
      </dgm:t>
    </dgm:pt>
    <dgm:pt modelId="{DD7790E5-1C4A-4BFA-BE18-8C88C4B06950}" type="sibTrans" cxnId="{33CCAC6F-09E7-49F2-B5D1-4F08285FA450}">
      <dgm:prSet/>
      <dgm:spPr/>
      <dgm:t>
        <a:bodyPr/>
        <a:lstStyle/>
        <a:p>
          <a:endParaRPr lang="en-US"/>
        </a:p>
      </dgm:t>
    </dgm:pt>
    <dgm:pt modelId="{EA49A547-D551-4673-9220-6B7CF004416C}">
      <dgm:prSet/>
      <dgm:spPr/>
      <dgm:t>
        <a:bodyPr/>
        <a:lstStyle/>
        <a:p>
          <a:r>
            <a:rPr kumimoji="1" lang="en-US"/>
            <a:t>Non-repudiation</a:t>
          </a:r>
          <a:endParaRPr lang="en-US"/>
        </a:p>
      </dgm:t>
    </dgm:pt>
    <dgm:pt modelId="{A7272240-D018-4725-B917-AB70FEFD8B3E}" type="parTrans" cxnId="{18E17CC2-C47B-4CE6-9864-BDF271CF625A}">
      <dgm:prSet/>
      <dgm:spPr/>
      <dgm:t>
        <a:bodyPr/>
        <a:lstStyle/>
        <a:p>
          <a:endParaRPr lang="en-US"/>
        </a:p>
      </dgm:t>
    </dgm:pt>
    <dgm:pt modelId="{4CE34B67-C0A3-4896-9154-A374B5463E7B}" type="sibTrans" cxnId="{18E17CC2-C47B-4CE6-9864-BDF271CF625A}">
      <dgm:prSet/>
      <dgm:spPr/>
      <dgm:t>
        <a:bodyPr/>
        <a:lstStyle/>
        <a:p>
          <a:endParaRPr lang="en-US"/>
        </a:p>
      </dgm:t>
    </dgm:pt>
    <dgm:pt modelId="{5D79E5DD-5E75-480E-9CE0-B6393CE7E72C}">
      <dgm:prSet/>
      <dgm:spPr/>
      <dgm:t>
        <a:bodyPr/>
        <a:lstStyle/>
        <a:p>
          <a:r>
            <a:rPr kumimoji="1" lang="en-US"/>
            <a:t>Access control</a:t>
          </a:r>
          <a:endParaRPr lang="en-US"/>
        </a:p>
      </dgm:t>
    </dgm:pt>
    <dgm:pt modelId="{C2B9A9C4-4DE6-4DB9-BCD6-B74DAEE8BB02}" type="parTrans" cxnId="{EC5ADACB-3969-429C-BD52-08A6759339A7}">
      <dgm:prSet/>
      <dgm:spPr/>
      <dgm:t>
        <a:bodyPr/>
        <a:lstStyle/>
        <a:p>
          <a:endParaRPr lang="en-US"/>
        </a:p>
      </dgm:t>
    </dgm:pt>
    <dgm:pt modelId="{D4F198D5-63B1-485E-8A1F-8736CBB7FE4E}" type="sibTrans" cxnId="{EC5ADACB-3969-429C-BD52-08A6759339A7}">
      <dgm:prSet/>
      <dgm:spPr/>
      <dgm:t>
        <a:bodyPr/>
        <a:lstStyle/>
        <a:p>
          <a:endParaRPr lang="en-US"/>
        </a:p>
      </dgm:t>
    </dgm:pt>
    <dgm:pt modelId="{3A718B44-5C66-481A-9CB6-E78D5DE8F4A9}" type="pres">
      <dgm:prSet presAssocID="{81FDAEF2-8F53-402F-96BC-F03B66B0B6E3}" presName="vert0" presStyleCnt="0">
        <dgm:presLayoutVars>
          <dgm:dir/>
          <dgm:animOne val="branch"/>
          <dgm:animLvl val="lvl"/>
        </dgm:presLayoutVars>
      </dgm:prSet>
      <dgm:spPr/>
    </dgm:pt>
    <dgm:pt modelId="{830CF4F1-56F1-4D09-9933-E22AD98BDD60}" type="pres">
      <dgm:prSet presAssocID="{8D33C10D-1157-4CD4-ACA4-1BB870A011B2}" presName="thickLine" presStyleLbl="alignNode1" presStyleIdx="0" presStyleCnt="6"/>
      <dgm:spPr/>
    </dgm:pt>
    <dgm:pt modelId="{9F3BBF56-71C2-4D8C-8508-F81A9CCA533D}" type="pres">
      <dgm:prSet presAssocID="{8D33C10D-1157-4CD4-ACA4-1BB870A011B2}" presName="horz1" presStyleCnt="0"/>
      <dgm:spPr/>
    </dgm:pt>
    <dgm:pt modelId="{3BEA4A86-2472-4A04-8054-6718D847A76E}" type="pres">
      <dgm:prSet presAssocID="{8D33C10D-1157-4CD4-ACA4-1BB870A011B2}" presName="tx1" presStyleLbl="revTx" presStyleIdx="0" presStyleCnt="6"/>
      <dgm:spPr/>
    </dgm:pt>
    <dgm:pt modelId="{00A3174D-7F1E-474A-9461-5C1858CE6A1C}" type="pres">
      <dgm:prSet presAssocID="{8D33C10D-1157-4CD4-ACA4-1BB870A011B2}" presName="vert1" presStyleCnt="0"/>
      <dgm:spPr/>
    </dgm:pt>
    <dgm:pt modelId="{049D9B65-7566-4484-BA29-3261BBC41599}" type="pres">
      <dgm:prSet presAssocID="{251939AE-906F-4ECB-8921-3EFB3B6EAD10}" presName="thickLine" presStyleLbl="alignNode1" presStyleIdx="1" presStyleCnt="6"/>
      <dgm:spPr/>
    </dgm:pt>
    <dgm:pt modelId="{87818D96-C4BD-4926-B284-CDBEEFD341D6}" type="pres">
      <dgm:prSet presAssocID="{251939AE-906F-4ECB-8921-3EFB3B6EAD10}" presName="horz1" presStyleCnt="0"/>
      <dgm:spPr/>
    </dgm:pt>
    <dgm:pt modelId="{EDCF2E48-46A6-4A3D-AB66-B6DB171905BB}" type="pres">
      <dgm:prSet presAssocID="{251939AE-906F-4ECB-8921-3EFB3B6EAD10}" presName="tx1" presStyleLbl="revTx" presStyleIdx="1" presStyleCnt="6"/>
      <dgm:spPr/>
    </dgm:pt>
    <dgm:pt modelId="{C7681FBD-875B-4A0C-84B7-0B343CFE0764}" type="pres">
      <dgm:prSet presAssocID="{251939AE-906F-4ECB-8921-3EFB3B6EAD10}" presName="vert1" presStyleCnt="0"/>
      <dgm:spPr/>
    </dgm:pt>
    <dgm:pt modelId="{A8ED6155-FD2D-4D41-AD28-407E6A60B560}" type="pres">
      <dgm:prSet presAssocID="{0F991576-D3DF-48A9-9D5C-184A0622815D}" presName="thickLine" presStyleLbl="alignNode1" presStyleIdx="2" presStyleCnt="6"/>
      <dgm:spPr/>
    </dgm:pt>
    <dgm:pt modelId="{79841BAB-A0DF-4986-835B-6407897A28E3}" type="pres">
      <dgm:prSet presAssocID="{0F991576-D3DF-48A9-9D5C-184A0622815D}" presName="horz1" presStyleCnt="0"/>
      <dgm:spPr/>
    </dgm:pt>
    <dgm:pt modelId="{CD5BEC96-6E75-4792-BF3F-53C529594C04}" type="pres">
      <dgm:prSet presAssocID="{0F991576-D3DF-48A9-9D5C-184A0622815D}" presName="tx1" presStyleLbl="revTx" presStyleIdx="2" presStyleCnt="6"/>
      <dgm:spPr/>
    </dgm:pt>
    <dgm:pt modelId="{1B8DAB5C-D5F4-47EE-A0CC-43AE37489461}" type="pres">
      <dgm:prSet presAssocID="{0F991576-D3DF-48A9-9D5C-184A0622815D}" presName="vert1" presStyleCnt="0"/>
      <dgm:spPr/>
    </dgm:pt>
    <dgm:pt modelId="{B475521E-1F9D-468B-B13A-28D413A45937}" type="pres">
      <dgm:prSet presAssocID="{7E068B66-1669-48FD-8622-C05604CC3EFE}" presName="thickLine" presStyleLbl="alignNode1" presStyleIdx="3" presStyleCnt="6"/>
      <dgm:spPr/>
    </dgm:pt>
    <dgm:pt modelId="{5C313B62-CDE7-4578-826B-19707EC5FBDC}" type="pres">
      <dgm:prSet presAssocID="{7E068B66-1669-48FD-8622-C05604CC3EFE}" presName="horz1" presStyleCnt="0"/>
      <dgm:spPr/>
    </dgm:pt>
    <dgm:pt modelId="{C9925AE6-4808-4721-8734-0A897908EF30}" type="pres">
      <dgm:prSet presAssocID="{7E068B66-1669-48FD-8622-C05604CC3EFE}" presName="tx1" presStyleLbl="revTx" presStyleIdx="3" presStyleCnt="6"/>
      <dgm:spPr/>
    </dgm:pt>
    <dgm:pt modelId="{BAD09F4D-223C-4900-ADBA-AAAD0281B226}" type="pres">
      <dgm:prSet presAssocID="{7E068B66-1669-48FD-8622-C05604CC3EFE}" presName="vert1" presStyleCnt="0"/>
      <dgm:spPr/>
    </dgm:pt>
    <dgm:pt modelId="{EEBA3927-DDBC-469C-9CC3-4638F84FE5FA}" type="pres">
      <dgm:prSet presAssocID="{EA49A547-D551-4673-9220-6B7CF004416C}" presName="thickLine" presStyleLbl="alignNode1" presStyleIdx="4" presStyleCnt="6"/>
      <dgm:spPr/>
    </dgm:pt>
    <dgm:pt modelId="{F19626F1-5D49-4176-A2DE-81EF5999F110}" type="pres">
      <dgm:prSet presAssocID="{EA49A547-D551-4673-9220-6B7CF004416C}" presName="horz1" presStyleCnt="0"/>
      <dgm:spPr/>
    </dgm:pt>
    <dgm:pt modelId="{103CB33D-CC22-4C34-AABD-66E4C701EF6A}" type="pres">
      <dgm:prSet presAssocID="{EA49A547-D551-4673-9220-6B7CF004416C}" presName="tx1" presStyleLbl="revTx" presStyleIdx="4" presStyleCnt="6"/>
      <dgm:spPr/>
    </dgm:pt>
    <dgm:pt modelId="{46CA3B61-C16B-49F6-9967-CD230D03BD32}" type="pres">
      <dgm:prSet presAssocID="{EA49A547-D551-4673-9220-6B7CF004416C}" presName="vert1" presStyleCnt="0"/>
      <dgm:spPr/>
    </dgm:pt>
    <dgm:pt modelId="{3E471528-3A2C-40FE-82A1-F05D66063E60}" type="pres">
      <dgm:prSet presAssocID="{5D79E5DD-5E75-480E-9CE0-B6393CE7E72C}" presName="thickLine" presStyleLbl="alignNode1" presStyleIdx="5" presStyleCnt="6"/>
      <dgm:spPr/>
    </dgm:pt>
    <dgm:pt modelId="{1004AE64-6386-41E4-8A7E-8B30D413D692}" type="pres">
      <dgm:prSet presAssocID="{5D79E5DD-5E75-480E-9CE0-B6393CE7E72C}" presName="horz1" presStyleCnt="0"/>
      <dgm:spPr/>
    </dgm:pt>
    <dgm:pt modelId="{1181AA0E-88C4-4399-860B-266923AB83E1}" type="pres">
      <dgm:prSet presAssocID="{5D79E5DD-5E75-480E-9CE0-B6393CE7E72C}" presName="tx1" presStyleLbl="revTx" presStyleIdx="5" presStyleCnt="6"/>
      <dgm:spPr/>
    </dgm:pt>
    <dgm:pt modelId="{CC68B4AD-AC32-41E9-BF2E-E8EF2727CBEE}" type="pres">
      <dgm:prSet presAssocID="{5D79E5DD-5E75-480E-9CE0-B6393CE7E72C}" presName="vert1" presStyleCnt="0"/>
      <dgm:spPr/>
    </dgm:pt>
  </dgm:ptLst>
  <dgm:cxnLst>
    <dgm:cxn modelId="{693E3007-5E9F-4583-9BD2-6DD6FAD6568F}" type="presOf" srcId="{0F991576-D3DF-48A9-9D5C-184A0622815D}" destId="{CD5BEC96-6E75-4792-BF3F-53C529594C04}" srcOrd="0" destOrd="0" presId="urn:microsoft.com/office/officeart/2008/layout/LinedList"/>
    <dgm:cxn modelId="{888EFA34-3C44-4998-893D-0813D74D4B17}" type="presOf" srcId="{5D79E5DD-5E75-480E-9CE0-B6393CE7E72C}" destId="{1181AA0E-88C4-4399-860B-266923AB83E1}" srcOrd="0" destOrd="0" presId="urn:microsoft.com/office/officeart/2008/layout/LinedList"/>
    <dgm:cxn modelId="{853E3C36-288F-4CC1-BAB9-474C7F6E11DF}" srcId="{81FDAEF2-8F53-402F-96BC-F03B66B0B6E3}" destId="{251939AE-906F-4ECB-8921-3EFB3B6EAD10}" srcOrd="1" destOrd="0" parTransId="{A6D68FE1-0A87-4EDD-BC70-60D23E4B37CC}" sibTransId="{BF07BE9A-0D29-47B0-B508-4229476F9035}"/>
    <dgm:cxn modelId="{33CCAC6F-09E7-49F2-B5D1-4F08285FA450}" srcId="{81FDAEF2-8F53-402F-96BC-F03B66B0B6E3}" destId="{7E068B66-1669-48FD-8622-C05604CC3EFE}" srcOrd="3" destOrd="0" parTransId="{28E1C13C-DB7A-4261-93CB-4CB48E2532A8}" sibTransId="{DD7790E5-1C4A-4BFA-BE18-8C88C4B06950}"/>
    <dgm:cxn modelId="{2984BE56-9DA3-4EA7-8D67-8B8AA85383B6}" type="presOf" srcId="{81FDAEF2-8F53-402F-96BC-F03B66B0B6E3}" destId="{3A718B44-5C66-481A-9CB6-E78D5DE8F4A9}" srcOrd="0" destOrd="0" presId="urn:microsoft.com/office/officeart/2008/layout/LinedList"/>
    <dgm:cxn modelId="{6693E880-311E-4A79-B74D-CA1F86FFE5C1}" srcId="{81FDAEF2-8F53-402F-96BC-F03B66B0B6E3}" destId="{0F991576-D3DF-48A9-9D5C-184A0622815D}" srcOrd="2" destOrd="0" parTransId="{2DB76120-63D3-4ABA-A4F2-5C540A449D49}" sibTransId="{54096B4E-F766-49F9-A641-2CB4D75985C8}"/>
    <dgm:cxn modelId="{CF81C6C1-C1BF-454A-B3C3-7CF0AF15E3C3}" type="presOf" srcId="{251939AE-906F-4ECB-8921-3EFB3B6EAD10}" destId="{EDCF2E48-46A6-4A3D-AB66-B6DB171905BB}" srcOrd="0" destOrd="0" presId="urn:microsoft.com/office/officeart/2008/layout/LinedList"/>
    <dgm:cxn modelId="{18E17CC2-C47B-4CE6-9864-BDF271CF625A}" srcId="{81FDAEF2-8F53-402F-96BC-F03B66B0B6E3}" destId="{EA49A547-D551-4673-9220-6B7CF004416C}" srcOrd="4" destOrd="0" parTransId="{A7272240-D018-4725-B917-AB70FEFD8B3E}" sibTransId="{4CE34B67-C0A3-4896-9154-A374B5463E7B}"/>
    <dgm:cxn modelId="{EC5ADACB-3969-429C-BD52-08A6759339A7}" srcId="{81FDAEF2-8F53-402F-96BC-F03B66B0B6E3}" destId="{5D79E5DD-5E75-480E-9CE0-B6393CE7E72C}" srcOrd="5" destOrd="0" parTransId="{C2B9A9C4-4DE6-4DB9-BCD6-B74DAEE8BB02}" sibTransId="{D4F198D5-63B1-485E-8A1F-8736CBB7FE4E}"/>
    <dgm:cxn modelId="{4CD9B2CE-D910-4F82-9351-9BEF077B1BED}" srcId="{81FDAEF2-8F53-402F-96BC-F03B66B0B6E3}" destId="{8D33C10D-1157-4CD4-ACA4-1BB870A011B2}" srcOrd="0" destOrd="0" parTransId="{17DC4F27-0336-43C0-9F6C-6C3002EA54C6}" sibTransId="{B619826B-75E5-407D-81DE-F3763A0C2B58}"/>
    <dgm:cxn modelId="{A10CD4D1-B998-4FBC-A67C-D39A82563097}" type="presOf" srcId="{EA49A547-D551-4673-9220-6B7CF004416C}" destId="{103CB33D-CC22-4C34-AABD-66E4C701EF6A}" srcOrd="0" destOrd="0" presId="urn:microsoft.com/office/officeart/2008/layout/LinedList"/>
    <dgm:cxn modelId="{87B616DC-B16F-4451-B88F-BAAB22D68F64}" type="presOf" srcId="{8D33C10D-1157-4CD4-ACA4-1BB870A011B2}" destId="{3BEA4A86-2472-4A04-8054-6718D847A76E}" srcOrd="0" destOrd="0" presId="urn:microsoft.com/office/officeart/2008/layout/LinedList"/>
    <dgm:cxn modelId="{C7EF54EF-44F9-4523-9085-F48C103FCE02}" type="presOf" srcId="{7E068B66-1669-48FD-8622-C05604CC3EFE}" destId="{C9925AE6-4808-4721-8734-0A897908EF30}" srcOrd="0" destOrd="0" presId="urn:microsoft.com/office/officeart/2008/layout/LinedList"/>
    <dgm:cxn modelId="{BFAF3AE5-3527-4A48-93D0-8A839F7F4FF7}" type="presParOf" srcId="{3A718B44-5C66-481A-9CB6-E78D5DE8F4A9}" destId="{830CF4F1-56F1-4D09-9933-E22AD98BDD60}" srcOrd="0" destOrd="0" presId="urn:microsoft.com/office/officeart/2008/layout/LinedList"/>
    <dgm:cxn modelId="{A43849F7-F660-4055-87E2-47CCD0E15C4E}" type="presParOf" srcId="{3A718B44-5C66-481A-9CB6-E78D5DE8F4A9}" destId="{9F3BBF56-71C2-4D8C-8508-F81A9CCA533D}" srcOrd="1" destOrd="0" presId="urn:microsoft.com/office/officeart/2008/layout/LinedList"/>
    <dgm:cxn modelId="{FA060588-A0E8-46F0-8D50-CA95E7FC7DB7}" type="presParOf" srcId="{9F3BBF56-71C2-4D8C-8508-F81A9CCA533D}" destId="{3BEA4A86-2472-4A04-8054-6718D847A76E}" srcOrd="0" destOrd="0" presId="urn:microsoft.com/office/officeart/2008/layout/LinedList"/>
    <dgm:cxn modelId="{03B550FD-F839-4538-AB43-A85857EE0E7D}" type="presParOf" srcId="{9F3BBF56-71C2-4D8C-8508-F81A9CCA533D}" destId="{00A3174D-7F1E-474A-9461-5C1858CE6A1C}" srcOrd="1" destOrd="0" presId="urn:microsoft.com/office/officeart/2008/layout/LinedList"/>
    <dgm:cxn modelId="{7BA4F33E-B45F-4B2B-AFA5-2BD0570B9AFA}" type="presParOf" srcId="{3A718B44-5C66-481A-9CB6-E78D5DE8F4A9}" destId="{049D9B65-7566-4484-BA29-3261BBC41599}" srcOrd="2" destOrd="0" presId="urn:microsoft.com/office/officeart/2008/layout/LinedList"/>
    <dgm:cxn modelId="{CA052071-3B31-47BB-9EB1-D2A5CED099C6}" type="presParOf" srcId="{3A718B44-5C66-481A-9CB6-E78D5DE8F4A9}" destId="{87818D96-C4BD-4926-B284-CDBEEFD341D6}" srcOrd="3" destOrd="0" presId="urn:microsoft.com/office/officeart/2008/layout/LinedList"/>
    <dgm:cxn modelId="{FA8BADE6-83A0-4100-8F96-E6A5695BA071}" type="presParOf" srcId="{87818D96-C4BD-4926-B284-CDBEEFD341D6}" destId="{EDCF2E48-46A6-4A3D-AB66-B6DB171905BB}" srcOrd="0" destOrd="0" presId="urn:microsoft.com/office/officeart/2008/layout/LinedList"/>
    <dgm:cxn modelId="{561CB259-6CC9-4DA7-98DA-6D172E85BAEE}" type="presParOf" srcId="{87818D96-C4BD-4926-B284-CDBEEFD341D6}" destId="{C7681FBD-875B-4A0C-84B7-0B343CFE0764}" srcOrd="1" destOrd="0" presId="urn:microsoft.com/office/officeart/2008/layout/LinedList"/>
    <dgm:cxn modelId="{FC1FF0D8-9D6E-4D31-BBBC-C4B9842D791A}" type="presParOf" srcId="{3A718B44-5C66-481A-9CB6-E78D5DE8F4A9}" destId="{A8ED6155-FD2D-4D41-AD28-407E6A60B560}" srcOrd="4" destOrd="0" presId="urn:microsoft.com/office/officeart/2008/layout/LinedList"/>
    <dgm:cxn modelId="{D4AE99BD-A150-49B7-A284-DD3B8AC5CC4D}" type="presParOf" srcId="{3A718B44-5C66-481A-9CB6-E78D5DE8F4A9}" destId="{79841BAB-A0DF-4986-835B-6407897A28E3}" srcOrd="5" destOrd="0" presId="urn:microsoft.com/office/officeart/2008/layout/LinedList"/>
    <dgm:cxn modelId="{4D2AF4BF-6EB7-41EB-A698-2941A48202C6}" type="presParOf" srcId="{79841BAB-A0DF-4986-835B-6407897A28E3}" destId="{CD5BEC96-6E75-4792-BF3F-53C529594C04}" srcOrd="0" destOrd="0" presId="urn:microsoft.com/office/officeart/2008/layout/LinedList"/>
    <dgm:cxn modelId="{5518F125-A969-4CDD-97A7-0429455BAAA5}" type="presParOf" srcId="{79841BAB-A0DF-4986-835B-6407897A28E3}" destId="{1B8DAB5C-D5F4-47EE-A0CC-43AE37489461}" srcOrd="1" destOrd="0" presId="urn:microsoft.com/office/officeart/2008/layout/LinedList"/>
    <dgm:cxn modelId="{507390B2-DC97-4FB3-BD99-14C62C380063}" type="presParOf" srcId="{3A718B44-5C66-481A-9CB6-E78D5DE8F4A9}" destId="{B475521E-1F9D-468B-B13A-28D413A45937}" srcOrd="6" destOrd="0" presId="urn:microsoft.com/office/officeart/2008/layout/LinedList"/>
    <dgm:cxn modelId="{4F61CD52-59D0-4993-B6EF-0A9E36634492}" type="presParOf" srcId="{3A718B44-5C66-481A-9CB6-E78D5DE8F4A9}" destId="{5C313B62-CDE7-4578-826B-19707EC5FBDC}" srcOrd="7" destOrd="0" presId="urn:microsoft.com/office/officeart/2008/layout/LinedList"/>
    <dgm:cxn modelId="{88AD1FB7-A78C-47A0-B4B4-D341939FAB0E}" type="presParOf" srcId="{5C313B62-CDE7-4578-826B-19707EC5FBDC}" destId="{C9925AE6-4808-4721-8734-0A897908EF30}" srcOrd="0" destOrd="0" presId="urn:microsoft.com/office/officeart/2008/layout/LinedList"/>
    <dgm:cxn modelId="{0783B48E-EDC0-4045-8B3F-2AECA2FC0A31}" type="presParOf" srcId="{5C313B62-CDE7-4578-826B-19707EC5FBDC}" destId="{BAD09F4D-223C-4900-ADBA-AAAD0281B226}" srcOrd="1" destOrd="0" presId="urn:microsoft.com/office/officeart/2008/layout/LinedList"/>
    <dgm:cxn modelId="{ECD2219B-7753-4C46-B313-4C00ED117A94}" type="presParOf" srcId="{3A718B44-5C66-481A-9CB6-E78D5DE8F4A9}" destId="{EEBA3927-DDBC-469C-9CC3-4638F84FE5FA}" srcOrd="8" destOrd="0" presId="urn:microsoft.com/office/officeart/2008/layout/LinedList"/>
    <dgm:cxn modelId="{757E9FB3-09D9-4ADB-8901-F2B0CC7D43D2}" type="presParOf" srcId="{3A718B44-5C66-481A-9CB6-E78D5DE8F4A9}" destId="{F19626F1-5D49-4176-A2DE-81EF5999F110}" srcOrd="9" destOrd="0" presId="urn:microsoft.com/office/officeart/2008/layout/LinedList"/>
    <dgm:cxn modelId="{581D71C2-5A34-4302-A210-FCA78680ED41}" type="presParOf" srcId="{F19626F1-5D49-4176-A2DE-81EF5999F110}" destId="{103CB33D-CC22-4C34-AABD-66E4C701EF6A}" srcOrd="0" destOrd="0" presId="urn:microsoft.com/office/officeart/2008/layout/LinedList"/>
    <dgm:cxn modelId="{A2F75373-0D0F-4B3E-9BE5-69FE737C72F7}" type="presParOf" srcId="{F19626F1-5D49-4176-A2DE-81EF5999F110}" destId="{46CA3B61-C16B-49F6-9967-CD230D03BD32}" srcOrd="1" destOrd="0" presId="urn:microsoft.com/office/officeart/2008/layout/LinedList"/>
    <dgm:cxn modelId="{09229ABC-D3C9-4DB3-AA85-EE7C7BB97FC7}" type="presParOf" srcId="{3A718B44-5C66-481A-9CB6-E78D5DE8F4A9}" destId="{3E471528-3A2C-40FE-82A1-F05D66063E60}" srcOrd="10" destOrd="0" presId="urn:microsoft.com/office/officeart/2008/layout/LinedList"/>
    <dgm:cxn modelId="{48300357-0404-4952-9B80-D2B054F118CD}" type="presParOf" srcId="{3A718B44-5C66-481A-9CB6-E78D5DE8F4A9}" destId="{1004AE64-6386-41E4-8A7E-8B30D413D692}" srcOrd="11" destOrd="0" presId="urn:microsoft.com/office/officeart/2008/layout/LinedList"/>
    <dgm:cxn modelId="{50503606-67CA-4270-B23C-EF19B76A66C1}" type="presParOf" srcId="{1004AE64-6386-41E4-8A7E-8B30D413D692}" destId="{1181AA0E-88C4-4399-860B-266923AB83E1}" srcOrd="0" destOrd="0" presId="urn:microsoft.com/office/officeart/2008/layout/LinedList"/>
    <dgm:cxn modelId="{B77A634B-D115-4EE0-AD31-2A652FE67D14}" type="presParOf" srcId="{1004AE64-6386-41E4-8A7E-8B30D413D692}" destId="{CC68B4AD-AC32-41E9-BF2E-E8EF2727CBE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0CF4F1-56F1-4D09-9933-E22AD98BDD60}">
      <dsp:nvSpPr>
        <dsp:cNvPr id="0" name=""/>
        <dsp:cNvSpPr/>
      </dsp:nvSpPr>
      <dsp:spPr>
        <a:xfrm>
          <a:off x="0" y="2492"/>
          <a:ext cx="48696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A4A86-2472-4A04-8054-6718D847A76E}">
      <dsp:nvSpPr>
        <dsp:cNvPr id="0" name=""/>
        <dsp:cNvSpPr/>
      </dsp:nvSpPr>
      <dsp:spPr>
        <a:xfrm>
          <a:off x="0" y="2492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900" kern="1200"/>
            <a:t>Secrecy</a:t>
          </a:r>
          <a:endParaRPr lang="en-US" sz="3900" kern="1200"/>
        </a:p>
      </dsp:txBody>
      <dsp:txXfrm>
        <a:off x="0" y="2492"/>
        <a:ext cx="4869656" cy="850069"/>
      </dsp:txXfrm>
    </dsp:sp>
    <dsp:sp modelId="{049D9B65-7566-4484-BA29-3261BBC41599}">
      <dsp:nvSpPr>
        <dsp:cNvPr id="0" name=""/>
        <dsp:cNvSpPr/>
      </dsp:nvSpPr>
      <dsp:spPr>
        <a:xfrm>
          <a:off x="0" y="852561"/>
          <a:ext cx="486965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CF2E48-46A6-4A3D-AB66-B6DB171905BB}">
      <dsp:nvSpPr>
        <dsp:cNvPr id="0" name=""/>
        <dsp:cNvSpPr/>
      </dsp:nvSpPr>
      <dsp:spPr>
        <a:xfrm>
          <a:off x="0" y="852561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900" kern="1200"/>
            <a:t>Integrity</a:t>
          </a:r>
          <a:endParaRPr lang="en-US" sz="3900" kern="1200"/>
        </a:p>
      </dsp:txBody>
      <dsp:txXfrm>
        <a:off x="0" y="852561"/>
        <a:ext cx="4869656" cy="850069"/>
      </dsp:txXfrm>
    </dsp:sp>
    <dsp:sp modelId="{A8ED6155-FD2D-4D41-AD28-407E6A60B560}">
      <dsp:nvSpPr>
        <dsp:cNvPr id="0" name=""/>
        <dsp:cNvSpPr/>
      </dsp:nvSpPr>
      <dsp:spPr>
        <a:xfrm>
          <a:off x="0" y="1702630"/>
          <a:ext cx="486965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5BEC96-6E75-4792-BF3F-53C529594C04}">
      <dsp:nvSpPr>
        <dsp:cNvPr id="0" name=""/>
        <dsp:cNvSpPr/>
      </dsp:nvSpPr>
      <dsp:spPr>
        <a:xfrm>
          <a:off x="0" y="1702630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900" kern="1200"/>
            <a:t>Availability</a:t>
          </a:r>
          <a:endParaRPr lang="en-US" sz="3900" kern="1200"/>
        </a:p>
      </dsp:txBody>
      <dsp:txXfrm>
        <a:off x="0" y="1702630"/>
        <a:ext cx="4869656" cy="850069"/>
      </dsp:txXfrm>
    </dsp:sp>
    <dsp:sp modelId="{B475521E-1F9D-468B-B13A-28D413A45937}">
      <dsp:nvSpPr>
        <dsp:cNvPr id="0" name=""/>
        <dsp:cNvSpPr/>
      </dsp:nvSpPr>
      <dsp:spPr>
        <a:xfrm>
          <a:off x="0" y="2552699"/>
          <a:ext cx="486965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25AE6-4808-4721-8734-0A897908EF30}">
      <dsp:nvSpPr>
        <dsp:cNvPr id="0" name=""/>
        <dsp:cNvSpPr/>
      </dsp:nvSpPr>
      <dsp:spPr>
        <a:xfrm>
          <a:off x="0" y="2552699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900" kern="1200"/>
            <a:t>Authenticity</a:t>
          </a:r>
          <a:endParaRPr lang="en-US" sz="3900" kern="1200"/>
        </a:p>
      </dsp:txBody>
      <dsp:txXfrm>
        <a:off x="0" y="2552699"/>
        <a:ext cx="4869656" cy="850069"/>
      </dsp:txXfrm>
    </dsp:sp>
    <dsp:sp modelId="{EEBA3927-DDBC-469C-9CC3-4638F84FE5FA}">
      <dsp:nvSpPr>
        <dsp:cNvPr id="0" name=""/>
        <dsp:cNvSpPr/>
      </dsp:nvSpPr>
      <dsp:spPr>
        <a:xfrm>
          <a:off x="0" y="3402769"/>
          <a:ext cx="486965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CB33D-CC22-4C34-AABD-66E4C701EF6A}">
      <dsp:nvSpPr>
        <dsp:cNvPr id="0" name=""/>
        <dsp:cNvSpPr/>
      </dsp:nvSpPr>
      <dsp:spPr>
        <a:xfrm>
          <a:off x="0" y="3402769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900" kern="1200"/>
            <a:t>Non-repudiation</a:t>
          </a:r>
          <a:endParaRPr lang="en-US" sz="3900" kern="1200"/>
        </a:p>
      </dsp:txBody>
      <dsp:txXfrm>
        <a:off x="0" y="3402769"/>
        <a:ext cx="4869656" cy="850069"/>
      </dsp:txXfrm>
    </dsp:sp>
    <dsp:sp modelId="{3E471528-3A2C-40FE-82A1-F05D66063E60}">
      <dsp:nvSpPr>
        <dsp:cNvPr id="0" name=""/>
        <dsp:cNvSpPr/>
      </dsp:nvSpPr>
      <dsp:spPr>
        <a:xfrm>
          <a:off x="0" y="4252838"/>
          <a:ext cx="48696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1AA0E-88C4-4399-860B-266923AB83E1}">
      <dsp:nvSpPr>
        <dsp:cNvPr id="0" name=""/>
        <dsp:cNvSpPr/>
      </dsp:nvSpPr>
      <dsp:spPr>
        <a:xfrm>
          <a:off x="0" y="4252838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900" kern="1200"/>
            <a:t>Access control</a:t>
          </a:r>
          <a:endParaRPr lang="en-US" sz="3900" kern="1200"/>
        </a:p>
      </dsp:txBody>
      <dsp:txXfrm>
        <a:off x="0" y="4252838"/>
        <a:ext cx="4869656" cy="8500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89A99-9318-464B-915B-B7B599FEE87E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08174-B806-4541-B551-36EB0CE47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26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08174-B806-4541-B551-36EB0CE47F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74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08174-B806-4541-B551-36EB0CE47FE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27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D5E4F-3275-43F8-8F2B-F19076DFB8B2}" type="datetime1">
              <a:rPr lang="en-US" smtClean="0"/>
              <a:pPr/>
              <a:t>9/16/2024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FAST-NUCES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59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9ABE517-4E2D-4E2B-A596-E93D2E1C70C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7721600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744A86C-6578-44D3-9534-CD1AD3EFA9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066800" y="3352800"/>
            <a:ext cx="7315200" cy="177165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F8002AE-3C21-4D46-8A95-E4DA8F8FC99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711200" y="6229350"/>
            <a:ext cx="19304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079EFC3-7642-4D4A-BFEB-EECC04292A6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43B13495-3320-4F5F-AB8F-B69067DCA4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fld id="{E32B31F2-24A1-4181-A61B-ED401D8915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414391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1827-0085-4763-9F25-0A8027E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9C010-9FE3-4B1A-A204-9D62EEF7C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8CB31-8817-4D0A-BF72-E6E856565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2A7A1-F382-41A3-9A31-FB001BF1E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AA675-32E5-43FF-8EC6-57FB9717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B6BD5C-E2FD-467F-9E86-A6F21C489B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433265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95F52-84B3-4E8E-B7BA-BA54DACBA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EBD8C-873D-477E-A029-2DC5BC9B9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4D28B-46F8-4C23-B78E-3A9B0D071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FE41B-F6AC-4431-B799-F2AE04B6C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FE9C4-1FF2-4A0F-A555-B214D996B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F49832-7085-4894-AF95-06B8A2D399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233771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058AB-B3AF-481C-9354-A1816BEA5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3510F-4501-4EE8-AC45-A34DE62DC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11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4CB74-9630-437D-95D2-4CFF6D85A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411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7A906-BCC2-4A1B-AE13-4CF7053C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5F29E-0744-4E9F-8D5D-9038D844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0BA46-11CC-417B-8704-F7C4415D4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8A4E95-56A1-45CE-A60F-D9089F5B4F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588973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AC573-7376-477D-94AB-E0964254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871C5-7A78-42A2-ABCD-3FF5D6E96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7A72E-FE8D-4FD2-B079-BB5F4600B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4587B-8F07-4F7B-A36D-615D695FB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6498F-C9DA-47F7-A422-7B9041108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9036F6-E079-4E92-AA36-F08240C9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C4B7C-3761-4522-9539-2EBFFB8BB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D4ED0-DD6D-41E9-A46D-C58E7DFCD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C71622-1BC0-440E-9908-8DF8435D9B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41959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504A-7295-47B3-A292-AAB899BAC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783B02-575F-4947-87CD-10AD40234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251B9-DE90-4931-850C-426A7A8D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95F2C3-78BA-4491-B164-917A8D09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A55B0-0FD2-4945-8CF3-CAA8621E0A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28976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0F4F28-C8D1-45B2-BB4A-ECE5134D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0CE043-0E81-4CBA-94E8-326A79D8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A6D7F-4058-4561-A377-8A90C26FD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A1702A-6CD7-4F53-9DCF-E838049AF7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622955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A81D0-B397-4275-8F08-7829F21C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07C8C-5235-43A2-983D-CAE52FA10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25AE7-9A71-4ACE-A288-ADA7A183D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E8FB7-3950-46E8-8E39-8BD1282E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D5E69-5A84-42AF-9C9A-7ABC1B44D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737FD-8EED-4E96-A6FD-E85C78273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A5E8E9-C832-40C6-80D2-FBAB759636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330529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CDF06-068D-467B-AC46-8B8DBD6B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6684F7-9088-4897-B365-868B5FD6F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04522-EC23-4642-9527-25B3351EE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A9B5-FBA7-4158-A9FF-98C886509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CA646-8AA4-42FB-85CF-DE02206A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30869-4C26-4F05-B4E8-8E35DAC7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10916-61A3-48D9-9DD8-1040279353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432502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378DE-1B0C-4BBA-AFCD-8558E43A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1FA71-DF0B-4206-B175-8DBD0017B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8E4FC-CE50-43BF-9A84-848F533A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E9CFE-D626-4B9E-8FB2-7390FD71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61D9-F7DC-4AB5-A56B-915F9ECF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BFF4C2-8660-495B-BD62-440A597C9A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992572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F93127-0369-4ADD-9C6C-EF24B4F28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31000" y="228600"/>
            <a:ext cx="21082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BB386-CCFC-4479-B5EE-D52D8FEF5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1722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D7036-E15B-48FE-BF48-438EAAE85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396F5-7BB0-437B-903F-E3B7F4C4F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5D102-79DA-4654-BCA1-07914C4D5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A1D987-5E4F-4B0A-A43E-882B204CBA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900600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4189E-1552-4B8D-8738-2AF9F6566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28600"/>
            <a:ext cx="843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7CBF026B-2EB1-486B-A036-B7B02EB5A6FD}"/>
              </a:ext>
            </a:extLst>
          </p:cNvPr>
          <p:cNvSpPr>
            <a:spLocks noGrp="1"/>
          </p:cNvSpPr>
          <p:nvPr>
            <p:ph type="clipArt" sz="half" idx="1"/>
          </p:nvPr>
        </p:nvSpPr>
        <p:spPr>
          <a:xfrm>
            <a:off x="457200" y="1524000"/>
            <a:ext cx="4114800" cy="4876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353F8-A24D-468E-8A17-F95EF78E8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0" y="1524000"/>
            <a:ext cx="411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1BF2C-C715-4F16-8A06-C4705782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800" y="62293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0397F-99CB-476F-A553-6149F9F8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2935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83C2F-CFAD-45B3-AF05-1D26D38C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31000" y="6229350"/>
            <a:ext cx="2108200" cy="628650"/>
          </a:xfrm>
        </p:spPr>
        <p:txBody>
          <a:bodyPr/>
          <a:lstStyle>
            <a:lvl1pPr>
              <a:defRPr/>
            </a:lvl1pPr>
          </a:lstStyle>
          <a:p>
            <a:fld id="{FF2FDC2B-3A96-4A28-9FBA-FFA12B3AE7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730339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3533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9ABE517-4E2D-4E2B-A596-E93D2E1C70C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7721600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744A86C-6578-44D3-9534-CD1AD3EFA9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066800" y="3352800"/>
            <a:ext cx="7315200" cy="177165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F8002AE-3C21-4D46-8A95-E4DA8F8FC99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711200" y="6229350"/>
            <a:ext cx="19304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079EFC3-7642-4D4A-BFEB-EECC04292A6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43B13495-3320-4F5F-AB8F-B69067DCA4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fld id="{E32B31F2-24A1-4181-A61B-ED401D8915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084463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1827-0085-4763-9F25-0A8027E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9C010-9FE3-4B1A-A204-9D62EEF7C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8CB31-8817-4D0A-BF72-E6E856565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2A7A1-F382-41A3-9A31-FB001BF1E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AA675-32E5-43FF-8EC6-57FB9717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B6BD5C-E2FD-467F-9E86-A6F21C489B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0378236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95F52-84B3-4E8E-B7BA-BA54DACBA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EBD8C-873D-477E-A029-2DC5BC9B9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4D28B-46F8-4C23-B78E-3A9B0D071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FE41B-F6AC-4431-B799-F2AE04B6C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FE9C4-1FF2-4A0F-A555-B214D996B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F49832-7085-4894-AF95-06B8A2D399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170500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058AB-B3AF-481C-9354-A1816BEA5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3510F-4501-4EE8-AC45-A34DE62DC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11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4CB74-9630-437D-95D2-4CFF6D85A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411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7A906-BCC2-4A1B-AE13-4CF7053C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5F29E-0744-4E9F-8D5D-9038D844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0BA46-11CC-417B-8704-F7C4415D4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8A4E95-56A1-45CE-A60F-D9089F5B4F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719387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AC573-7376-477D-94AB-E0964254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871C5-7A78-42A2-ABCD-3FF5D6E96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7A72E-FE8D-4FD2-B079-BB5F4600B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4587B-8F07-4F7B-A36D-615D695FB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6498F-C9DA-47F7-A422-7B9041108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9036F6-E079-4E92-AA36-F08240C9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C4B7C-3761-4522-9539-2EBFFB8BB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D4ED0-DD6D-41E9-A46D-C58E7DFCD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C71622-1BC0-440E-9908-8DF8435D9B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7441655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504A-7295-47B3-A292-AAB899BAC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783B02-575F-4947-87CD-10AD40234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251B9-DE90-4931-850C-426A7A8D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95F2C3-78BA-4491-B164-917A8D09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A55B0-0FD2-4945-8CF3-CAA8621E0A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2701482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0F4F28-C8D1-45B2-BB4A-ECE5134D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0CE043-0E81-4CBA-94E8-326A79D8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A6D7F-4058-4561-A377-8A90C26FD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A1702A-6CD7-4F53-9DCF-E838049AF7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6218399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A81D0-B397-4275-8F08-7829F21C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07C8C-5235-43A2-983D-CAE52FA10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25AE7-9A71-4ACE-A288-ADA7A183D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E8FB7-3950-46E8-8E39-8BD1282E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D5E69-5A84-42AF-9C9A-7ABC1B44D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737FD-8EED-4E96-A6FD-E85C78273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A5E8E9-C832-40C6-80D2-FBAB759636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622727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CDF06-068D-467B-AC46-8B8DBD6B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6684F7-9088-4897-B365-868B5FD6F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04522-EC23-4642-9527-25B3351EE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A9B5-FBA7-4158-A9FF-98C886509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CA646-8AA4-42FB-85CF-DE02206A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30869-4C26-4F05-B4E8-8E35DAC7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10916-61A3-48D9-9DD8-1040279353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9759906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378DE-1B0C-4BBA-AFCD-8558E43A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1FA71-DF0B-4206-B175-8DBD0017B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8E4FC-CE50-43BF-9A84-848F533A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E9CFE-D626-4B9E-8FB2-7390FD71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61D9-F7DC-4AB5-A56B-915F9ECF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BFF4C2-8660-495B-BD62-440A597C9A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7680987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F93127-0369-4ADD-9C6C-EF24B4F28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31000" y="228600"/>
            <a:ext cx="21082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BB386-CCFC-4479-B5EE-D52D8FEF5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1722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D7036-E15B-48FE-BF48-438EAAE85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396F5-7BB0-437B-903F-E3B7F4C4F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5D102-79DA-4654-BCA1-07914C4D5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A1D987-5E4F-4B0A-A43E-882B204CBA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2496934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4189E-1552-4B8D-8738-2AF9F6566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28600"/>
            <a:ext cx="843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7CBF026B-2EB1-486B-A036-B7B02EB5A6FD}"/>
              </a:ext>
            </a:extLst>
          </p:cNvPr>
          <p:cNvSpPr>
            <a:spLocks noGrp="1"/>
          </p:cNvSpPr>
          <p:nvPr>
            <p:ph type="clipArt" sz="half" idx="1"/>
          </p:nvPr>
        </p:nvSpPr>
        <p:spPr>
          <a:xfrm>
            <a:off x="457200" y="1524000"/>
            <a:ext cx="4114800" cy="4876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353F8-A24D-468E-8A17-F95EF78E8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0" y="1524000"/>
            <a:ext cx="411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1BF2C-C715-4F16-8A06-C4705782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800" y="62293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0397F-99CB-476F-A553-6149F9F8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2935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83C2F-CFAD-45B3-AF05-1D26D38C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31000" y="6229350"/>
            <a:ext cx="2108200" cy="628650"/>
          </a:xfrm>
        </p:spPr>
        <p:txBody>
          <a:bodyPr/>
          <a:lstStyle>
            <a:lvl1pPr>
              <a:defRPr/>
            </a:lvl1pPr>
          </a:lstStyle>
          <a:p>
            <a:fld id="{FF2FDC2B-3A96-4A28-9FBA-FFA12B3AE7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41392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EBC2799-B6BB-46A9-9339-75AE631E3F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843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52740A7-983D-4D5B-9DEC-51DE56B70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382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26F2713-6EDC-4CFC-BE0B-9672A44ACB8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2BD054B9-AC6B-46AD-A25E-2E8B5B0099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836102FC-EA7D-43D4-A44D-1611408817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1000" y="6229350"/>
            <a:ext cx="21082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fld id="{B48A4DF8-891D-402F-A1FE-8E20FFE844F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6" name="Line 8">
            <a:extLst>
              <a:ext uri="{FF2B5EF4-FFF2-40B4-BE49-F238E27FC236}">
                <a16:creationId xmlns:a16="http://schemas.microsoft.com/office/drawing/2014/main" id="{9A839A41-959E-4C8E-A003-F18E5CCC4C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447800"/>
            <a:ext cx="88392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49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76" r:id="rId13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Monotype Sorts" pitchFamily="2" charset="2"/>
        <a:buChar char="z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Monotype Sorts" pitchFamily="2" charset="2"/>
        <a:buChar char="y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Monotype Sorts" pitchFamily="2" charset="2"/>
        <a:buChar char="x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EBC2799-B6BB-46A9-9339-75AE631E3F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843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52740A7-983D-4D5B-9DEC-51DE56B70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382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26F2713-6EDC-4CFC-BE0B-9672A44ACB8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2BD054B9-AC6B-46AD-A25E-2E8B5B0099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836102FC-EA7D-43D4-A44D-1611408817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1000" y="6229350"/>
            <a:ext cx="21082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fld id="{B48A4DF8-891D-402F-A1FE-8E20FFE844F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6" name="Line 8">
            <a:extLst>
              <a:ext uri="{FF2B5EF4-FFF2-40B4-BE49-F238E27FC236}">
                <a16:creationId xmlns:a16="http://schemas.microsoft.com/office/drawing/2014/main" id="{9A839A41-959E-4C8E-A003-F18E5CCC4C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447800"/>
            <a:ext cx="88392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35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anose="020B0A040201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Monotype Sorts" pitchFamily="2" charset="2"/>
        <a:buChar char="z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Monotype Sorts" pitchFamily="2" charset="2"/>
        <a:buChar char="y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Monotype Sorts" pitchFamily="2" charset="2"/>
        <a:buChar char="x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656" y="6096"/>
            <a:ext cx="2535936" cy="3352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640" y="6096"/>
            <a:ext cx="975360" cy="1164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1728" y="1645920"/>
            <a:ext cx="7479792" cy="993648"/>
          </a:xfrm>
          <a:prstGeom prst="rect">
            <a:avLst/>
          </a:prstGeom>
          <a:solidFill>
            <a:srgbClr val="E2E6EE"/>
          </a:solidFill>
        </p:spPr>
        <p:txBody>
          <a:bodyPr lIns="0" tIns="0" rIns="0" bIns="0">
            <a:normAutofit fontScale="90000"/>
          </a:bodyPr>
          <a:lstStyle/>
          <a:p>
            <a:pPr indent="0">
              <a:lnSpc>
                <a:spcPts val="4020"/>
              </a:lnSpc>
            </a:pPr>
            <a:r>
              <a:rPr lang="en-US" sz="3600" b="1" dirty="0">
                <a:solidFill>
                  <a:srgbClr val="222222"/>
                </a:solidFill>
                <a:latin typeface="Arial"/>
              </a:rPr>
              <a:t>Principles of Information Security,</a:t>
            </a:r>
          </a:p>
          <a:p>
            <a:pPr marL="152400" indent="0" algn="ctr">
              <a:lnSpc>
                <a:spcPts val="4020"/>
              </a:lnSpc>
              <a:spcAft>
                <a:spcPts val="2660"/>
              </a:spcAft>
            </a:pPr>
            <a:r>
              <a:rPr lang="en-US" sz="3600" b="1" dirty="0">
                <a:solidFill>
                  <a:srgbClr val="222222"/>
                </a:solidFill>
                <a:latin typeface="Arial"/>
              </a:rPr>
              <a:t>Fifth Edition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4064" y="3206496"/>
            <a:ext cx="6797040" cy="1078992"/>
          </a:xfrm>
          <a:prstGeom prst="rect">
            <a:avLst/>
          </a:prstGeom>
        </p:spPr>
        <p:txBody>
          <a:bodyPr lIns="0" tIns="0" rIns="0" bIns="0">
            <a:normAutofit fontScale="97500"/>
          </a:bodyPr>
          <a:lstStyle/>
          <a:p>
            <a:pPr indent="0" algn="ctr">
              <a:lnSpc>
                <a:spcPts val="3800"/>
              </a:lnSpc>
              <a:spcBef>
                <a:spcPts val="2660"/>
              </a:spcBef>
              <a:spcAft>
                <a:spcPts val="490"/>
              </a:spcAft>
            </a:pPr>
            <a:r>
              <a:rPr lang="en-US" sz="3400" i="1">
                <a:solidFill>
                  <a:srgbClr val="222222"/>
                </a:solidFill>
                <a:latin typeface="Arial"/>
              </a:rPr>
              <a:t>Chapter 1</a:t>
            </a:r>
          </a:p>
          <a:p>
            <a:pPr indent="0">
              <a:lnSpc>
                <a:spcPts val="3800"/>
              </a:lnSpc>
              <a:spcAft>
                <a:spcPts val="2030"/>
              </a:spcAft>
            </a:pPr>
            <a:r>
              <a:rPr lang="en-US" sz="3400" i="1">
                <a:solidFill>
                  <a:srgbClr val="222222"/>
                </a:solidFill>
                <a:latin typeface="Arial"/>
              </a:rPr>
              <a:t>Introduction to Information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5488" y="4809744"/>
            <a:ext cx="4279392" cy="1133856"/>
          </a:xfrm>
          <a:prstGeom prst="rect">
            <a:avLst/>
          </a:prstGeom>
          <a:solidFill>
            <a:srgbClr val="3F5C7C"/>
          </a:solidFill>
        </p:spPr>
        <p:txBody>
          <a:bodyPr lIns="0" tIns="0" rIns="0" bIns="0">
            <a:normAutofit fontScale="25000" lnSpcReduction="20000"/>
          </a:bodyPr>
          <a:lstStyle/>
          <a:p>
            <a:pPr indent="0" algn="just">
              <a:lnSpc>
                <a:spcPts val="3456"/>
              </a:lnSpc>
              <a:spcBef>
                <a:spcPts val="2030"/>
              </a:spcBef>
            </a:pPr>
            <a:r>
              <a:rPr lang="en-US" sz="1600" b="1" dirty="0">
                <a:solidFill>
                  <a:srgbClr val="D4E3ED"/>
                </a:solidFill>
                <a:latin typeface="Arial"/>
              </a:rPr>
              <a:t>Do not figure on opponents not attacking;</a:t>
            </a:r>
            <a:br>
              <a:rPr dirty="0"/>
            </a:br>
            <a:r>
              <a:rPr lang="en-US" sz="1600" b="1" dirty="0">
                <a:solidFill>
                  <a:srgbClr val="D4E3ED"/>
                </a:solidFill>
                <a:latin typeface="Arial"/>
              </a:rPr>
              <a:t>worry about your own lack of preparation.</a:t>
            </a:r>
            <a:br>
              <a:rPr dirty="0"/>
            </a:br>
            <a:r>
              <a:rPr lang="en-US" sz="1500" b="1" i="1" dirty="0">
                <a:solidFill>
                  <a:srgbClr val="D4E3ED"/>
                </a:solidFill>
                <a:latin typeface="Arial"/>
              </a:rPr>
              <a:t>BOOK OF THE FIVE RINGS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51643" y="2581485"/>
            <a:ext cx="7994812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36"/>
              </a:lnSpc>
            </a:pPr>
            <a:endParaRPr sz="1100" dirty="0"/>
          </a:p>
          <a:p>
            <a:pPr marL="259093" lvl="1" indent="-129547">
              <a:lnSpc>
                <a:spcPts val="2136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Droid Serif Bold"/>
              </a:rPr>
              <a:t>MS (NED UET), Executive Education (Stanford), </a:t>
            </a:r>
          </a:p>
          <a:p>
            <a:pPr marL="259093" lvl="1" indent="-129547">
              <a:lnSpc>
                <a:spcPts val="2136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Droid Serif Bold"/>
              </a:rPr>
              <a:t>Lecturer (CS) and Head of FYP, Faculty of Computing, MAJU</a:t>
            </a:r>
          </a:p>
          <a:p>
            <a:pPr marL="259093" lvl="1" indent="-129547">
              <a:lnSpc>
                <a:spcPts val="2136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Droid Serif Bold"/>
              </a:rPr>
              <a:t>InfoSec Product Builder, NANOTECHX (Microsoft Imagine Cup Winner)</a:t>
            </a:r>
          </a:p>
          <a:p>
            <a:pPr marL="259093" lvl="1" indent="-129547">
              <a:lnSpc>
                <a:spcPts val="2136"/>
              </a:lnSpc>
              <a:buFont typeface="Arial"/>
              <a:buChar char="•"/>
            </a:pPr>
            <a:r>
              <a:rPr lang="en-US" dirty="0" err="1">
                <a:solidFill>
                  <a:srgbClr val="000000"/>
                </a:solidFill>
                <a:latin typeface="Droid Serif Bold"/>
              </a:rPr>
              <a:t>xCyber</a:t>
            </a:r>
            <a:r>
              <a:rPr lang="en-US" dirty="0">
                <a:solidFill>
                  <a:srgbClr val="000000"/>
                </a:solidFill>
                <a:latin typeface="Droid Serif Bold"/>
              </a:rPr>
              <a:t> Security Consultant at </a:t>
            </a:r>
            <a:r>
              <a:rPr lang="en-US" dirty="0" err="1">
                <a:solidFill>
                  <a:srgbClr val="000000"/>
                </a:solidFill>
                <a:latin typeface="Droid Serif Bold"/>
              </a:rPr>
              <a:t>GreensFin</a:t>
            </a:r>
            <a:r>
              <a:rPr lang="en-US" dirty="0">
                <a:solidFill>
                  <a:srgbClr val="000000"/>
                </a:solidFill>
                <a:latin typeface="Droid Serif Bold"/>
              </a:rPr>
              <a:t> (Meezan Bank’s FinTech)</a:t>
            </a:r>
          </a:p>
          <a:p>
            <a:pPr marL="259093" lvl="1" indent="-129547">
              <a:lnSpc>
                <a:spcPts val="2136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Droid Serif Bold"/>
              </a:rPr>
              <a:t>Community Manager, Cisco Community Pakistan</a:t>
            </a:r>
          </a:p>
          <a:p>
            <a:pPr marL="259093" lvl="1" indent="-129547">
              <a:lnSpc>
                <a:spcPts val="2136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Droid Serif Bold"/>
              </a:rPr>
              <a:t>Cisco &amp; Microsoft Certified Official Trainer</a:t>
            </a:r>
          </a:p>
          <a:p>
            <a:pPr marL="259093" lvl="1" indent="-129547">
              <a:lnSpc>
                <a:spcPts val="2136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Droid Serif Bold"/>
              </a:rPr>
              <a:t>OSCP Certified</a:t>
            </a:r>
          </a:p>
          <a:p>
            <a:pPr marL="259093" lvl="1" indent="-129547">
              <a:lnSpc>
                <a:spcPts val="2136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Droid Serif Bold"/>
              </a:rPr>
              <a:t>5x Microsoft Certified</a:t>
            </a:r>
          </a:p>
          <a:p>
            <a:pPr marL="259093" lvl="1" indent="-129547">
              <a:lnSpc>
                <a:spcPts val="2136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Droid Serif Bold"/>
              </a:rPr>
              <a:t>2x Cisco Certified</a:t>
            </a:r>
          </a:p>
          <a:p>
            <a:pPr marL="259093" lvl="1" indent="-129547">
              <a:lnSpc>
                <a:spcPts val="2136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Droid Serif Bold"/>
              </a:rPr>
              <a:t>2x IBM Certified </a:t>
            </a:r>
          </a:p>
          <a:p>
            <a:pPr marL="259093" lvl="1" indent="-129547">
              <a:lnSpc>
                <a:spcPts val="2136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Droid Serif Bold"/>
              </a:rPr>
              <a:t>2x Aviatrix Certified (Multi-cloud)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3960490" y="6477000"/>
            <a:ext cx="268717" cy="27344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6546611" y="6505296"/>
            <a:ext cx="266694" cy="266694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841236" y="6505296"/>
            <a:ext cx="264195" cy="264195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587247" y="1126960"/>
            <a:ext cx="5043090" cy="52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0"/>
              </a:lnSpc>
              <a:spcBef>
                <a:spcPct val="0"/>
              </a:spcBef>
            </a:pPr>
            <a:r>
              <a:rPr lang="en-US" sz="3228" dirty="0">
                <a:solidFill>
                  <a:srgbClr val="000000"/>
                </a:solidFill>
                <a:latin typeface="Droid Serif Bold"/>
              </a:rPr>
              <a:t>SOMETHING ABOUT 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3213" y="2459913"/>
            <a:ext cx="4591159" cy="243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Droid Serif Bold"/>
              </a:rPr>
              <a:t>I’m </a:t>
            </a:r>
            <a:r>
              <a:rPr lang="en-US" sz="2400" b="1" dirty="0">
                <a:solidFill>
                  <a:srgbClr val="92D050"/>
                </a:solidFill>
                <a:latin typeface="Droid Serif Bold"/>
              </a:rPr>
              <a:t>Hafiz Muhammad Attaullah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8169" y="6525829"/>
            <a:ext cx="2154666" cy="1869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81"/>
              </a:lnSpc>
              <a:spcBef>
                <a:spcPct val="0"/>
              </a:spcBef>
            </a:pPr>
            <a:r>
              <a:rPr lang="en-US" sz="1129" dirty="0">
                <a:solidFill>
                  <a:srgbClr val="000000"/>
                </a:solidFill>
                <a:latin typeface="Droid Serif Bold"/>
              </a:rPr>
              <a:t>Muhammad.attaullah@jinnah.edu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49049" y="6530591"/>
            <a:ext cx="1822318" cy="186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2"/>
              </a:lnSpc>
              <a:spcBef>
                <a:spcPct val="0"/>
              </a:spcBef>
            </a:pPr>
            <a:r>
              <a:rPr lang="en-US" sz="1131">
                <a:solidFill>
                  <a:srgbClr val="000000"/>
                </a:solidFill>
                <a:latin typeface="Droid Serif Bold"/>
              </a:rPr>
              <a:t>https://attaullah.com.pk/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04178" y="6530591"/>
            <a:ext cx="2139822" cy="1868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82"/>
              </a:lnSpc>
              <a:spcBef>
                <a:spcPct val="0"/>
              </a:spcBef>
            </a:pPr>
            <a:r>
              <a:rPr lang="en-US" sz="1130" dirty="0">
                <a:solidFill>
                  <a:srgbClr val="000000"/>
                </a:solidFill>
                <a:latin typeface="Droid Serif Bold"/>
              </a:rPr>
              <a:t>@HafizMuhammadAttaullah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4F8CA2-0A5A-AE6A-169F-93213CC90C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28939"/>
            <a:ext cx="2936197" cy="3050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67C92D-1B44-4498-BB92-4B4A56C13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128713"/>
            <a:ext cx="8178799" cy="4600573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27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87EB96-4D0E-4CA0-9118-8012B263E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098042"/>
            <a:ext cx="8178799" cy="4661914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90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A254D376-7060-4491-9779-FC35E62F3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CCB8C6-3C04-4B36-9E28-8AD620708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5186423"/>
            <a:ext cx="7886700" cy="11143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500">
                <a:solidFill>
                  <a:schemeClr val="tx1"/>
                </a:solidFill>
              </a:rPr>
              <a:t>Network</a:t>
            </a:r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99C3431B-E0E0-43E9-8466-B57F864255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18" b="651"/>
          <a:stretch/>
        </p:blipFill>
        <p:spPr>
          <a:xfrm>
            <a:off x="20" y="10"/>
            <a:ext cx="9143980" cy="501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39194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861E03-8DC3-4E90-AE01-E6B8ADB2E76F}"/>
              </a:ext>
            </a:extLst>
          </p:cNvPr>
          <p:cNvSpPr/>
          <p:nvPr/>
        </p:nvSpPr>
        <p:spPr>
          <a:xfrm>
            <a:off x="2776728" y="3194304"/>
            <a:ext cx="3590544" cy="46939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ctr">
              <a:lnSpc>
                <a:spcPts val="3910"/>
              </a:lnSpc>
              <a:spcAft>
                <a:spcPts val="1890"/>
              </a:spcAft>
            </a:pPr>
            <a:r>
              <a:rPr lang="en-US" sz="5400" dirty="0">
                <a:solidFill>
                  <a:srgbClr val="222222"/>
                </a:solidFill>
                <a:latin typeface="Arial"/>
              </a:rPr>
              <a:t>What Is Security?</a:t>
            </a:r>
          </a:p>
        </p:txBody>
      </p:sp>
    </p:spTree>
    <p:extLst>
      <p:ext uri="{BB962C8B-B14F-4D97-AF65-F5344CB8AC3E}">
        <p14:creationId xmlns:p14="http://schemas.microsoft.com/office/powerpoint/2010/main" val="33077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1B0C4A-EB23-4DDB-B30F-9251B3823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179830"/>
            <a:ext cx="8178799" cy="4498339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572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F4D011-EFCF-4C1E-8D9D-E80F754C4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384300"/>
            <a:ext cx="8178799" cy="4089399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519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Diagram, engineering drawing&#10;&#10;Description automatically generated">
            <a:extLst>
              <a:ext uri="{FF2B5EF4-FFF2-40B4-BE49-F238E27FC236}">
                <a16:creationId xmlns:a16="http://schemas.microsoft.com/office/drawing/2014/main" id="{CCFC62DB-B19B-4A6D-85BF-3B6485858B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35" t="7667" r="5447" b="10171"/>
          <a:stretch/>
        </p:blipFill>
        <p:spPr>
          <a:xfrm>
            <a:off x="482600" y="1209558"/>
            <a:ext cx="8178799" cy="4438882"/>
          </a:xfrm>
          <a:prstGeom prst="rect">
            <a:avLst/>
          </a:prstGeom>
          <a:ln>
            <a:noFill/>
          </a:ln>
        </p:spPr>
      </p:pic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704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9D88F4-F3FE-4041-B419-36F3A2B39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200277"/>
            <a:ext cx="8178799" cy="445744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95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67584" y="771144"/>
            <a:ext cx="3590544" cy="469392"/>
          </a:xfrm>
          <a:prstGeom prst="rect">
            <a:avLst/>
          </a:prstGeom>
        </p:spPr>
        <p:txBody>
          <a:bodyPr wrap="none" lIns="0" tIns="0" rIns="0" bIns="0">
            <a:normAutofit fontScale="90000"/>
          </a:bodyPr>
          <a:lstStyle/>
          <a:p>
            <a:pPr indent="0" algn="ctr">
              <a:lnSpc>
                <a:spcPts val="3910"/>
              </a:lnSpc>
              <a:spcAft>
                <a:spcPts val="1890"/>
              </a:spcAft>
            </a:pPr>
            <a:r>
              <a:rPr lang="en-US" sz="3500" dirty="0">
                <a:solidFill>
                  <a:srgbClr val="222222"/>
                </a:solidFill>
                <a:latin typeface="Arial"/>
              </a:rPr>
              <a:t>What Is Security?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5696" y="1285775"/>
            <a:ext cx="7427976" cy="557222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431800">
              <a:lnSpc>
                <a:spcPts val="3120"/>
              </a:lnSpc>
              <a:spcBef>
                <a:spcPts val="1890"/>
              </a:spcBef>
              <a:spcAft>
                <a:spcPts val="350"/>
              </a:spcAft>
            </a:pPr>
            <a:r>
              <a:rPr lang="en-US" sz="2600">
                <a:solidFill>
                  <a:srgbClr val="222222"/>
                </a:solidFill>
                <a:latin typeface="Arial"/>
              </a:rPr>
              <a:t>•    “A state of being secure and free from danger or harm; the actions taken to make someone or</a:t>
            </a:r>
            <a:br>
              <a:rPr lang="en-US"/>
            </a:br>
            <a:r>
              <a:rPr lang="en-US" sz="2600">
                <a:solidFill>
                  <a:srgbClr val="222222"/>
                </a:solidFill>
                <a:latin typeface="Arial"/>
              </a:rPr>
              <a:t>something secure.”</a:t>
            </a:r>
          </a:p>
          <a:p>
            <a:pPr marL="431800" indent="-431800">
              <a:lnSpc>
                <a:spcPts val="3144"/>
              </a:lnSpc>
              <a:spcAft>
                <a:spcPts val="350"/>
              </a:spcAft>
            </a:pPr>
            <a:r>
              <a:rPr lang="en-US" sz="2600">
                <a:solidFill>
                  <a:srgbClr val="222222"/>
                </a:solidFill>
                <a:latin typeface="Arial"/>
              </a:rPr>
              <a:t>•    A successful organization should have multiple</a:t>
            </a:r>
            <a:br>
              <a:rPr lang="en-US"/>
            </a:br>
            <a:r>
              <a:rPr lang="en-US" sz="2600">
                <a:solidFill>
                  <a:srgbClr val="222222"/>
                </a:solidFill>
                <a:latin typeface="Arial"/>
              </a:rPr>
              <a:t>layers of security in place to protect:</a:t>
            </a:r>
          </a:p>
          <a:p>
            <a:pPr marL="431800" indent="0">
              <a:lnSpc>
                <a:spcPts val="3480"/>
              </a:lnSpc>
            </a:pPr>
            <a:r>
              <a:rPr lang="en-US" sz="2400">
                <a:solidFill>
                  <a:srgbClr val="222222"/>
                </a:solidFill>
                <a:latin typeface="Arial"/>
              </a:rPr>
              <a:t>-    Operations</a:t>
            </a:r>
          </a:p>
          <a:p>
            <a:pPr marL="431800" indent="0">
              <a:lnSpc>
                <a:spcPts val="3480"/>
              </a:lnSpc>
            </a:pPr>
            <a:r>
              <a:rPr lang="en-US" sz="2400">
                <a:solidFill>
                  <a:srgbClr val="222222"/>
                </a:solidFill>
                <a:latin typeface="Arial"/>
              </a:rPr>
              <a:t>-    Physical infrastructure</a:t>
            </a:r>
          </a:p>
          <a:p>
            <a:pPr marL="431800" indent="0">
              <a:lnSpc>
                <a:spcPts val="3480"/>
              </a:lnSpc>
            </a:pPr>
            <a:r>
              <a:rPr lang="en-US" sz="2400">
                <a:solidFill>
                  <a:srgbClr val="222222"/>
                </a:solidFill>
                <a:latin typeface="Arial"/>
              </a:rPr>
              <a:t>-    People</a:t>
            </a:r>
          </a:p>
          <a:p>
            <a:pPr marL="431800" indent="0">
              <a:lnSpc>
                <a:spcPts val="3480"/>
              </a:lnSpc>
            </a:pPr>
            <a:r>
              <a:rPr lang="en-US" sz="2400">
                <a:solidFill>
                  <a:srgbClr val="222222"/>
                </a:solidFill>
                <a:latin typeface="Arial"/>
              </a:rPr>
              <a:t>-    Functions</a:t>
            </a:r>
          </a:p>
          <a:p>
            <a:pPr marL="431800" indent="0">
              <a:lnSpc>
                <a:spcPts val="3480"/>
              </a:lnSpc>
            </a:pPr>
            <a:r>
              <a:rPr lang="en-US" sz="2400">
                <a:solidFill>
                  <a:srgbClr val="222222"/>
                </a:solidFill>
                <a:latin typeface="Arial"/>
              </a:rPr>
              <a:t>-    Communications</a:t>
            </a:r>
          </a:p>
          <a:p>
            <a:pPr marL="774700" indent="-342900">
              <a:lnSpc>
                <a:spcPts val="3480"/>
              </a:lnSpc>
              <a:buFontTx/>
              <a:buChar char="-"/>
            </a:pPr>
            <a:r>
              <a:rPr lang="en-US" sz="2400">
                <a:solidFill>
                  <a:srgbClr val="222222"/>
                </a:solidFill>
                <a:latin typeface="Arial"/>
              </a:rPr>
              <a:t> Information</a:t>
            </a:r>
          </a:p>
          <a:p>
            <a:pPr marL="431800">
              <a:lnSpc>
                <a:spcPts val="3480"/>
              </a:lnSpc>
            </a:pPr>
            <a:endParaRPr lang="en-US" sz="2400">
              <a:solidFill>
                <a:srgbClr val="222222"/>
              </a:solidFill>
              <a:latin typeface="Arial"/>
            </a:endParaRPr>
          </a:p>
          <a:p>
            <a:pPr indent="0">
              <a:lnSpc>
                <a:spcPts val="1560"/>
              </a:lnSpc>
            </a:pPr>
            <a:r>
              <a:rPr lang="en-US" sz="1400">
                <a:solidFill>
                  <a:srgbClr val="222222"/>
                </a:solidFill>
                <a:latin typeface="Arial"/>
              </a:rPr>
              <a:t>Principles of Information Security, Fifth Edition</a:t>
            </a:r>
            <a:endParaRPr lang="en-US" sz="140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09432" y="6400800"/>
            <a:ext cx="118872" cy="161544"/>
          </a:xfrm>
          <a:prstGeom prst="rect">
            <a:avLst/>
          </a:prstGeom>
        </p:spPr>
        <p:txBody>
          <a:bodyPr wrap="none" lIns="0" tIns="0" rIns="0" bIns="0">
            <a:normAutofit fontScale="82500" lnSpcReduction="10000"/>
          </a:bodyPr>
          <a:lstStyle/>
          <a:p>
            <a:pPr indent="0">
              <a:lnSpc>
                <a:spcPts val="1340"/>
              </a:lnSpc>
            </a:pPr>
            <a:r>
              <a:rPr lang="en-US" sz="1200">
                <a:latin typeface="Arial"/>
              </a:rPr>
              <a:t>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41576" y="771144"/>
            <a:ext cx="5251704" cy="469392"/>
          </a:xfrm>
          <a:prstGeom prst="rect">
            <a:avLst/>
          </a:prstGeom>
        </p:spPr>
        <p:txBody>
          <a:bodyPr wrap="none" lIns="0" tIns="0" rIns="0" bIns="0">
            <a:normAutofit fontScale="90000"/>
          </a:bodyPr>
          <a:lstStyle/>
          <a:p>
            <a:pPr indent="0" algn="ctr">
              <a:lnSpc>
                <a:spcPts val="3910"/>
              </a:lnSpc>
              <a:spcAft>
                <a:spcPts val="2310"/>
              </a:spcAft>
            </a:pPr>
            <a:r>
              <a:rPr lang="en-US" sz="3500">
                <a:solidFill>
                  <a:srgbClr val="222222"/>
                </a:solidFill>
                <a:latin typeface="Arial"/>
              </a:rPr>
              <a:t>What Is Security? (cont’d)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24840" y="1786128"/>
            <a:ext cx="7687056" cy="4035552"/>
          </a:xfrm>
          <a:prstGeom prst="rect">
            <a:avLst/>
          </a:prstGeom>
        </p:spPr>
        <p:txBody>
          <a:bodyPr lIns="0" tIns="0" rIns="0" bIns="0">
            <a:normAutofit fontScale="97500"/>
          </a:bodyPr>
          <a:lstStyle/>
          <a:p>
            <a:pPr marL="393700" indent="-393700">
              <a:lnSpc>
                <a:spcPts val="3096"/>
              </a:lnSpc>
              <a:spcBef>
                <a:spcPts val="2310"/>
              </a:spcBef>
              <a:spcAft>
                <a:spcPts val="420"/>
              </a:spcAft>
            </a:pPr>
            <a:r>
              <a:rPr lang="en-US" sz="2600" dirty="0">
                <a:solidFill>
                  <a:srgbClr val="222222"/>
                </a:solidFill>
                <a:latin typeface="Arial"/>
              </a:rPr>
              <a:t>•    The protection of information and its critical</a:t>
            </a:r>
            <a:br>
              <a:rPr dirty="0"/>
            </a:br>
            <a:r>
              <a:rPr lang="en-US" sz="2600" dirty="0">
                <a:solidFill>
                  <a:srgbClr val="222222"/>
                </a:solidFill>
                <a:latin typeface="Arial"/>
              </a:rPr>
              <a:t>elements, including systems and hardware that</a:t>
            </a:r>
            <a:br>
              <a:rPr dirty="0"/>
            </a:br>
            <a:r>
              <a:rPr lang="en-US" sz="2600" dirty="0">
                <a:solidFill>
                  <a:srgbClr val="222222"/>
                </a:solidFill>
                <a:latin typeface="Arial"/>
              </a:rPr>
              <a:t>use, store and transmit that information</a:t>
            </a:r>
          </a:p>
          <a:p>
            <a:pPr marL="393700" indent="-393700">
              <a:lnSpc>
                <a:spcPts val="3096"/>
              </a:lnSpc>
              <a:spcBef>
                <a:spcPts val="2310"/>
              </a:spcBef>
              <a:spcAft>
                <a:spcPts val="420"/>
              </a:spcAft>
            </a:pPr>
            <a:endParaRPr lang="en-US" sz="2600" dirty="0">
              <a:solidFill>
                <a:srgbClr val="222222"/>
              </a:solidFill>
              <a:latin typeface="Arial"/>
            </a:endParaRPr>
          </a:p>
          <a:p>
            <a:pPr marL="393700" indent="-393700">
              <a:lnSpc>
                <a:spcPts val="3120"/>
              </a:lnSpc>
              <a:spcAft>
                <a:spcPts val="420"/>
              </a:spcAft>
            </a:pPr>
            <a:r>
              <a:rPr lang="en-US" sz="2600" dirty="0">
                <a:solidFill>
                  <a:srgbClr val="222222"/>
                </a:solidFill>
                <a:latin typeface="Arial"/>
              </a:rPr>
              <a:t>•    Includes information security management, data</a:t>
            </a:r>
            <a:br>
              <a:rPr dirty="0"/>
            </a:br>
            <a:r>
              <a:rPr lang="en-US" sz="2600" dirty="0">
                <a:solidFill>
                  <a:srgbClr val="222222"/>
                </a:solidFill>
                <a:latin typeface="Arial"/>
              </a:rPr>
              <a:t>security and network security</a:t>
            </a:r>
          </a:p>
          <a:p>
            <a:pPr marL="393700" indent="-393700">
              <a:lnSpc>
                <a:spcPts val="2900"/>
              </a:lnSpc>
              <a:spcAft>
                <a:spcPts val="420"/>
              </a:spcAft>
            </a:pPr>
            <a:endParaRPr lang="en-US" sz="240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6394704"/>
            <a:ext cx="3624072" cy="204216"/>
          </a:xfrm>
          <a:prstGeom prst="rect">
            <a:avLst/>
          </a:prstGeom>
        </p:spPr>
        <p:txBody>
          <a:bodyPr wrap="none" lIns="0" tIns="0" rIns="0" bIns="0">
            <a:normAutofit fontScale="97500"/>
          </a:bodyPr>
          <a:lstStyle/>
          <a:p>
            <a:pPr indent="0">
              <a:lnSpc>
                <a:spcPts val="1340"/>
              </a:lnSpc>
            </a:pPr>
            <a:r>
              <a:rPr lang="en-US" sz="1200">
                <a:latin typeface="Arial"/>
              </a:rPr>
              <a:t>Principles of Information Security, Fifth Edition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06384" y="6400800"/>
            <a:ext cx="121920" cy="161544"/>
          </a:xfrm>
          <a:prstGeom prst="rect">
            <a:avLst/>
          </a:prstGeom>
        </p:spPr>
        <p:txBody>
          <a:bodyPr wrap="none" lIns="0" tIns="0" rIns="0" bIns="0">
            <a:normAutofit fontScale="82500" lnSpcReduction="10000"/>
          </a:bodyPr>
          <a:lstStyle/>
          <a:p>
            <a:pPr indent="0">
              <a:lnSpc>
                <a:spcPts val="1340"/>
              </a:lnSpc>
            </a:pPr>
            <a:r>
              <a:rPr lang="en-US" sz="1200">
                <a:solidFill>
                  <a:srgbClr val="222222"/>
                </a:solidFill>
                <a:latin typeface="Arial"/>
              </a:rPr>
              <a:t>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D5729A-4D54-4A00-8622-7CBBE78BD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934466"/>
            <a:ext cx="8178799" cy="4989066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933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376AC8-43FF-4EFF-96A1-198ED98A3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251395"/>
            <a:ext cx="8178799" cy="4355209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88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9304"/>
            <a:ext cx="3368040" cy="34930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712" y="2447544"/>
            <a:ext cx="3858768" cy="31821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5280" y="4754880"/>
            <a:ext cx="3581400" cy="292608"/>
          </a:xfrm>
          <a:prstGeom prst="rect">
            <a:avLst/>
          </a:prstGeom>
        </p:spPr>
        <p:txBody>
          <a:bodyPr wrap="none" lIns="0" tIns="0" rIns="0" bIns="0">
            <a:normAutofit fontScale="97500"/>
          </a:bodyPr>
          <a:lstStyle/>
          <a:p>
            <a:pPr indent="0" algn="just">
              <a:lnSpc>
                <a:spcPts val="1900"/>
              </a:lnSpc>
            </a:pPr>
            <a:r>
              <a:rPr lang="en-US" sz="1200">
                <a:solidFill>
                  <a:srgbClr val="635F70"/>
                </a:solidFill>
                <a:latin typeface="Arial"/>
              </a:rPr>
              <a:t>[—^-Confidentiality</a:t>
            </a:r>
            <a:r>
              <a:rPr lang="en-US" sz="1200">
                <a:solidFill>
                  <a:srgbClr val="88888E"/>
                </a:solidFill>
                <a:latin typeface="Arial"/>
              </a:rPr>
              <a:t>—</a:t>
            </a:r>
            <a:r>
              <a:rPr lang="en-US" sz="1200">
                <a:solidFill>
                  <a:srgbClr val="635F70"/>
                </a:solidFill>
                <a:latin typeface="Arial"/>
              </a:rPr>
              <a:t>Integrity</a:t>
            </a:r>
            <a:r>
              <a:rPr lang="en-US" sz="1200">
                <a:solidFill>
                  <a:srgbClr val="88888E"/>
                </a:solidFill>
                <a:latin typeface="Arial"/>
              </a:rPr>
              <a:t>-</a:t>
            </a:r>
            <a:r>
              <a:rPr lang="en-US" sz="1200">
                <a:solidFill>
                  <a:srgbClr val="635F70"/>
                </a:solidFill>
                <a:latin typeface="Arial"/>
              </a:rPr>
              <a:t>Availability—</a:t>
            </a:r>
            <a:r>
              <a:rPr lang="en-US" sz="1700">
                <a:solidFill>
                  <a:srgbClr val="88888E"/>
                </a:solidFill>
                <a:latin typeface="Arial"/>
              </a:rPr>
              <a:t>U</a:t>
            </a:r>
          </a:p>
        </p:txBody>
      </p:sp>
      <p:sp>
        <p:nvSpPr>
          <p:cNvPr id="6" name="Rectangle 5"/>
          <p:cNvSpPr/>
          <p:nvPr/>
        </p:nvSpPr>
        <p:spPr>
          <a:xfrm>
            <a:off x="4059936" y="3602736"/>
            <a:ext cx="179832" cy="435864"/>
          </a:xfrm>
          <a:prstGeom prst="rect">
            <a:avLst/>
          </a:prstGeom>
        </p:spPr>
        <p:txBody>
          <a:bodyPr lIns="0" tIns="0" rIns="0" bIns="0">
            <a:normAutofit fontScale="25000" lnSpcReduction="20000"/>
          </a:bodyPr>
          <a:lstStyle/>
          <a:p>
            <a:pPr indent="0">
              <a:lnSpc>
                <a:spcPts val="450"/>
              </a:lnSpc>
              <a:spcAft>
                <a:spcPts val="350"/>
              </a:spcAft>
            </a:pPr>
            <a:r>
              <a:rPr lang="en-US" sz="400">
                <a:solidFill>
                  <a:srgbClr val="393541"/>
                </a:solidFill>
                <a:latin typeface="Arial"/>
              </a:rPr>
              <a:t>i_n</a:t>
            </a:r>
          </a:p>
          <a:p>
            <a:pPr indent="0">
              <a:lnSpc>
                <a:spcPts val="890"/>
              </a:lnSpc>
            </a:pPr>
            <a:r>
              <a:rPr lang="en-US" sz="800">
                <a:solidFill>
                  <a:srgbClr val="393541"/>
                </a:solidFill>
                <a:latin typeface="Arial"/>
              </a:rPr>
              <a:t>5</a:t>
            </a:r>
          </a:p>
          <a:p>
            <a:pPr indent="0">
              <a:lnSpc>
                <a:spcPts val="670"/>
              </a:lnSpc>
              <a:spcAft>
                <a:spcPts val="350"/>
              </a:spcAft>
            </a:pPr>
            <a:r>
              <a:rPr lang="en-US" sz="600">
                <a:solidFill>
                  <a:srgbClr val="393541"/>
                </a:solidFill>
                <a:latin typeface="Arial"/>
              </a:rPr>
              <a:t>CvJ</a:t>
            </a:r>
          </a:p>
          <a:p>
            <a:pPr indent="0">
              <a:lnSpc>
                <a:spcPts val="1120"/>
              </a:lnSpc>
            </a:pPr>
            <a:r>
              <a:rPr lang="en-US" sz="1000">
                <a:solidFill>
                  <a:srgbClr val="393541"/>
                </a:solidFill>
                <a:latin typeface="Arial"/>
              </a:rPr>
              <a:t>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9936" y="5419344"/>
            <a:ext cx="4084320" cy="228600"/>
          </a:xfrm>
          <a:prstGeom prst="rect">
            <a:avLst/>
          </a:prstGeom>
        </p:spPr>
        <p:txBody>
          <a:bodyPr wrap="none" lIns="0" tIns="0" rIns="0" bIns="0">
            <a:normAutofit fontScale="97500"/>
          </a:bodyPr>
          <a:lstStyle/>
          <a:p>
            <a:pPr indent="0">
              <a:lnSpc>
                <a:spcPts val="1560"/>
              </a:lnSpc>
            </a:pPr>
            <a:r>
              <a:rPr lang="en-US" sz="1400" b="1">
                <a:solidFill>
                  <a:srgbClr val="393541"/>
                </a:solidFill>
                <a:latin typeface="Arial"/>
              </a:rPr>
              <a:t>Figure </a:t>
            </a:r>
            <a:r>
              <a:rPr lang="en-US" sz="1400" b="1">
                <a:latin typeface="Arial"/>
              </a:rPr>
              <a:t>1-5 </a:t>
            </a:r>
            <a:r>
              <a:rPr lang="en-US" sz="1200">
                <a:solidFill>
                  <a:srgbClr val="393541"/>
                </a:solidFill>
                <a:latin typeface="Arial"/>
              </a:rPr>
              <a:t>Components of information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6394704"/>
            <a:ext cx="3624072" cy="204216"/>
          </a:xfrm>
          <a:prstGeom prst="rect">
            <a:avLst/>
          </a:prstGeom>
        </p:spPr>
        <p:txBody>
          <a:bodyPr wrap="none" lIns="0" tIns="0" rIns="0" bIns="0">
            <a:normAutofit fontScale="97500"/>
          </a:bodyPr>
          <a:lstStyle/>
          <a:p>
            <a:pPr indent="0">
              <a:lnSpc>
                <a:spcPts val="1340"/>
              </a:lnSpc>
            </a:pPr>
            <a:r>
              <a:rPr lang="en-US" sz="1200">
                <a:solidFill>
                  <a:srgbClr val="222222"/>
                </a:solidFill>
                <a:latin typeface="Arial"/>
              </a:rPr>
              <a:t>Principles of Information Security, Fifth Edition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6384" y="6400800"/>
            <a:ext cx="121920" cy="161544"/>
          </a:xfrm>
          <a:prstGeom prst="rect">
            <a:avLst/>
          </a:prstGeom>
        </p:spPr>
        <p:txBody>
          <a:bodyPr wrap="none" lIns="0" tIns="0" rIns="0" bIns="0">
            <a:normAutofit fontScale="82500" lnSpcReduction="10000"/>
          </a:bodyPr>
          <a:lstStyle/>
          <a:p>
            <a:pPr indent="0">
              <a:lnSpc>
                <a:spcPts val="1340"/>
              </a:lnSpc>
            </a:pPr>
            <a:r>
              <a:rPr lang="en-US" sz="1200">
                <a:latin typeface="Arial"/>
              </a:rPr>
              <a:t>7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442" name="Group 74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76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D9810CD-6552-4A3F-AADB-6395443D9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1265" y="685800"/>
            <a:ext cx="2085203" cy="5105400"/>
          </a:xfrm>
        </p:spPr>
        <p:txBody>
          <a:bodyPr>
            <a:normAutofit/>
          </a:bodyPr>
          <a:lstStyle/>
          <a:p>
            <a:r>
              <a:rPr lang="en-US" altLang="en-US" sz="1900">
                <a:solidFill>
                  <a:srgbClr val="FFFFFF"/>
                </a:solidFill>
              </a:rPr>
              <a:t>Computer Security Requirements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38991-D6C7-4F75-BD17-5CA2A9378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9176" y="6309360"/>
            <a:ext cx="816173" cy="365125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5821B0-4DA0-490F-9C30-CD4A89C576C0}" type="slidenum"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defTabSz="914400" rtl="0" eaLnBrk="0" fontAlgn="base" latinLnBrk="0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18437" name="Rectangle 3">
            <a:extLst>
              <a:ext uri="{FF2B5EF4-FFF2-40B4-BE49-F238E27FC236}">
                <a16:creationId xmlns:a16="http://schemas.microsoft.com/office/drawing/2014/main" id="{1CF09364-2EC6-4D9B-A156-DB62D3180B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5304596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2C200CFA-E476-4855-BFB7-247066BD8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altLang="en-US" sz="3700">
                <a:solidFill>
                  <a:srgbClr val="FFFFFF"/>
                </a:solidFill>
              </a:rPr>
              <a:t>Secrecy</a:t>
            </a:r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F993F65-6F9F-46C3-9578-0273D0C092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altLang="en-US"/>
              <a:t>Secrecy requires that the information in a computer systems only be accessible for reading by authorized parties.  This type of access includes printing, displaying, and other forms of disclosure, including simply revealing the existing of an object.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AA2E45-6C6A-4488-86FF-308BC55A9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6173" y="6356350"/>
            <a:ext cx="1359176" cy="365125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A69417-5825-4296-8D47-BFD39CF0832C}" type="slidenum">
              <a:rPr kumimoji="0" lang="en-US" alt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defTabSz="914400" rtl="0" eaLnBrk="0" fontAlgn="base" latinLnBrk="0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8F5B9266-15F5-4B5F-82D9-639574F550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altLang="en-US" sz="3700">
                <a:solidFill>
                  <a:srgbClr val="FFFFFF"/>
                </a:solidFill>
              </a:rPr>
              <a:t>Integrity</a:t>
            </a:r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063A2CD-3312-43CC-9437-0C3FF3FA4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altLang="en-US"/>
              <a:t>Integrity requires that the computer system asset can be modified only by authorized parties.  Modification includes writing, changing, changing status, deleting, and creating.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734C6-4475-41F7-9657-4B6F9C35A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6173" y="6356350"/>
            <a:ext cx="1359176" cy="365125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077953-4A40-4AA9-BBEF-12667C09B40A}" type="slidenum">
              <a:rPr kumimoji="0" lang="en-US" alt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defTabSz="914400" rtl="0" eaLnBrk="0" fontAlgn="base" latinLnBrk="0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71E2909E-4B1D-40C5-8E5D-13CD073F35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altLang="en-US" sz="2800">
                <a:solidFill>
                  <a:srgbClr val="FFFFFF"/>
                </a:solidFill>
              </a:rPr>
              <a:t>Availability</a:t>
            </a:r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E623E64-339E-40FF-90D2-23D45370A1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700" dirty="0"/>
              <a:t>Availability requires that computer systems assets are available to authorized parties.</a:t>
            </a:r>
          </a:p>
          <a:p>
            <a:pPr>
              <a:lnSpc>
                <a:spcPct val="90000"/>
              </a:lnSpc>
            </a:pPr>
            <a:r>
              <a:rPr lang="en-US" altLang="en-US" sz="2700" i="1" dirty="0"/>
              <a:t>Availability</a:t>
            </a:r>
            <a:r>
              <a:rPr lang="en-US" altLang="en-US" sz="2700" dirty="0"/>
              <a:t>: A "requirement intended to assure that systems work promptly and service is not denied to authorized users."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10146-4BF0-460B-B55B-A981DBCC2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6173" y="6356350"/>
            <a:ext cx="1359176" cy="365125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149AB3-C83C-4992-A44B-7DFC4C4FF4FC}" type="slidenum">
              <a:rPr kumimoji="0" lang="en-US" alt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defTabSz="914400" rtl="0" eaLnBrk="0" fontAlgn="base" latinLnBrk="0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306ACBAF-57A3-4C29-87E2-3634D78671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altLang="en-US" sz="2500">
                <a:solidFill>
                  <a:srgbClr val="FFFFFF"/>
                </a:solidFill>
              </a:rPr>
              <a:t>Authenticity</a:t>
            </a:r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2D83F15-3C70-4B19-85CE-C241A1864C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altLang="en-US" dirty="0"/>
              <a:t>Authenticity means that parties in an information services can ascertain the identity of parties trying to access information services.</a:t>
            </a:r>
          </a:p>
          <a:p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A520F-EBCE-4611-99F1-380C7111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6173" y="6356350"/>
            <a:ext cx="1359176" cy="365125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5368F5-485F-4360-98B6-DB0AB7920557}" type="slidenum">
              <a:rPr kumimoji="0" lang="en-US" alt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defTabSz="914400" rtl="0" eaLnBrk="0" fontAlgn="base" latinLnBrk="0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6981A61F-CDF6-4041-9C52-05F78C623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altLang="en-US" sz="2800">
                <a:solidFill>
                  <a:srgbClr val="FFFFFF"/>
                </a:solidFill>
              </a:rPr>
              <a:t>Non-repudiation</a:t>
            </a:r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F1F1060-E933-411A-B94D-EA28796E78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altLang="en-US"/>
              <a:t>Originator of communications can’t deny it later</a:t>
            </a:r>
          </a:p>
          <a:p>
            <a:r>
              <a:rPr lang="en-US" altLang="en-US"/>
              <a:t>Associates the identity of the originator with the transaction in a non-deniable way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70FAA-14EA-433A-935D-A6F8E88E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6173" y="6356350"/>
            <a:ext cx="1359176" cy="365125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217F56-B00A-431C-8795-33365843C43E}" type="slidenum">
              <a:rPr kumimoji="0" lang="en-US" alt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defTabSz="914400" rtl="0" eaLnBrk="0" fontAlgn="base" latinLnBrk="0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50F588B6-5981-4196-89C7-B58F1942B4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FF"/>
                </a:solidFill>
              </a:rPr>
              <a:t>Access Control</a:t>
            </a:r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285C6C3D-6114-4D8C-9A68-376763C8B0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altLang="en-US"/>
              <a:t>Unauthorized users are kept out of the system </a:t>
            </a:r>
          </a:p>
          <a:p>
            <a:r>
              <a:rPr lang="en-US" altLang="en-US"/>
              <a:t>Unauthorized users are kept out of places on the system/disk</a:t>
            </a:r>
          </a:p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EEE4C-E1A3-47C1-BFF1-7BC634BD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6173" y="6356350"/>
            <a:ext cx="1359176" cy="365125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DE6E8BA-4153-40AA-BE2D-AE7D65BC2D04}" type="slidenum">
              <a:rPr kumimoji="0" lang="en-US" alt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defTabSz="914400" rtl="0" eaLnBrk="0" fontAlgn="base" latinLnBrk="0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50D2AABE-71B2-4990-9A44-BCE7B226E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altLang="en-US" sz="2200">
                <a:solidFill>
                  <a:srgbClr val="FFFFFF"/>
                </a:solidFill>
              </a:rPr>
              <a:t>Security Requirements are often Combined</a:t>
            </a:r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5D2AA000-826C-44F2-B163-1F902E96F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altLang="en-US"/>
              <a:t>These are often combined</a:t>
            </a:r>
          </a:p>
          <a:p>
            <a:r>
              <a:rPr lang="en-US" altLang="en-US"/>
              <a:t>User authentication used for access control purposes</a:t>
            </a:r>
          </a:p>
          <a:p>
            <a:r>
              <a:rPr lang="en-US" altLang="en-US"/>
              <a:t>Non-repudiation combined with authentication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2F4A25-F5A0-4D22-808E-74367030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6173" y="6356350"/>
            <a:ext cx="1359176" cy="365125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EA33497-8085-468E-89D1-0B379E632910}" type="slidenum">
              <a:rPr kumimoji="0" lang="en-US" alt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defTabSz="914400" rtl="0" eaLnBrk="0" fontAlgn="base" latinLnBrk="0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67E31F1F-5D77-4935-A3CB-344C6747F0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en-US"/>
              <a:t>Type of Attacks/Threats in Computer Systems</a:t>
            </a:r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B3DCC57-C272-4120-ABF5-98D863CA7B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dirty="0"/>
              <a:t>A </a:t>
            </a:r>
            <a:r>
              <a:rPr lang="en-US" altLang="en-US" i="1" dirty="0"/>
              <a:t>threat</a:t>
            </a:r>
            <a:r>
              <a:rPr lang="en-US" altLang="en-US" dirty="0"/>
              <a:t> is a danger which could affect the security (confidentiality, integrity, availability) of assets, leading to a potential loss or damage.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Interruption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Interception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Modification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Fabrication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2400B-D017-45E6-9102-94EA79F8C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6D5737-0978-4E63-A656-4CB26AA91587}" type="slidenum">
              <a:rPr kumimoji="0" lang="en-US" alt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defTabSz="914400" rtl="0" eaLnBrk="0" fontAlgn="base" latinLnBrk="0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5C8B3-26C4-4416-BD2D-A80DB052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1D3B53-06E6-4059-8C64-C819B1308D0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4A8CAB5C-5812-4DC2-B26A-28DD0F03EB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 of Attacks in Computer Systems</a:t>
            </a:r>
          </a:p>
        </p:txBody>
      </p:sp>
      <p:pic>
        <p:nvPicPr>
          <p:cNvPr id="26627" name="Picture 3">
            <a:extLst>
              <a:ext uri="{FF2B5EF4-FFF2-40B4-BE49-F238E27FC236}">
                <a16:creationId xmlns:a16="http://schemas.microsoft.com/office/drawing/2014/main" id="{6B2533CC-CF70-4E67-BBE7-6E1E27AC47D1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1752600"/>
            <a:ext cx="7162800" cy="4876800"/>
          </a:xfrm>
          <a:solidFill>
            <a:schemeClr val="bg1"/>
          </a:solidFill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E3E61-8535-43A6-A550-B41859CF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18A4B9-F766-494E-B7D8-027AC75F7A5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FD84FA0B-CBC8-4C98-A383-EC42234918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Normal Flow of Information</a:t>
            </a:r>
          </a:p>
        </p:txBody>
      </p:sp>
      <p:pic>
        <p:nvPicPr>
          <p:cNvPr id="27651" name="Picture 3">
            <a:extLst>
              <a:ext uri="{FF2B5EF4-FFF2-40B4-BE49-F238E27FC236}">
                <a16:creationId xmlns:a16="http://schemas.microsoft.com/office/drawing/2014/main" id="{0F33D099-97B3-4B2C-AB26-F7A74B6D9D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676400"/>
            <a:ext cx="8458200" cy="4419600"/>
          </a:xfrm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80A3D-A9E5-4B57-BE09-3CB6A0E0D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F83925-E273-4B56-B4EE-D7896445304A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D8FDFAFB-17EA-403A-A0A7-5AFBA3F83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Interruption</a:t>
            </a:r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416EC611-9D3B-488F-ADA1-83854D77E8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An asset of the system is destroyed or becomes unavailable or unusable.  This is an attack on the </a:t>
            </a:r>
            <a:r>
              <a:rPr lang="en-US" altLang="en-US" b="1" dirty="0"/>
              <a:t>availability</a:t>
            </a:r>
            <a:r>
              <a:rPr lang="en-US" altLang="en-US" dirty="0"/>
              <a:t>.  Examples include destruction of a piece of hardware, such as a hard disk, the cutting of a communication link, etc.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CB6F1-B952-4CC8-BE26-1E101EFA4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D75EE-24AB-478F-8D7E-7275445E29A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5DE2F24-0667-4890-B9EB-56472A2B71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Interruption</a:t>
            </a:r>
          </a:p>
        </p:txBody>
      </p:sp>
      <p:pic>
        <p:nvPicPr>
          <p:cNvPr id="29699" name="Picture 3">
            <a:extLst>
              <a:ext uri="{FF2B5EF4-FFF2-40B4-BE49-F238E27FC236}">
                <a16:creationId xmlns:a16="http://schemas.microsoft.com/office/drawing/2014/main" id="{8C92A3B8-477B-4101-8439-A4246BE11E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35FCC-0CBF-4139-A817-ACD131E1E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B2C553-3059-45F1-B6EF-1234AA54FE80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ABF15FCE-0F78-412C-AAD3-E2BD9E8BF9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Interception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A25F9EF-52A7-478D-BA2E-99DABDF0F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Information disclosure/information leakage</a:t>
            </a:r>
          </a:p>
          <a:p>
            <a:r>
              <a:rPr lang="en-US" altLang="en-US" dirty="0"/>
              <a:t>An unauthorized party gains access to an asset.  </a:t>
            </a:r>
          </a:p>
          <a:p>
            <a:r>
              <a:rPr lang="en-US" altLang="en-US" dirty="0"/>
              <a:t>This is an attack on </a:t>
            </a:r>
            <a:r>
              <a:rPr lang="en-US" altLang="en-US" b="1" dirty="0"/>
              <a:t>confidentiality</a:t>
            </a:r>
            <a:r>
              <a:rPr lang="en-US" altLang="en-US" dirty="0"/>
              <a:t>.  </a:t>
            </a:r>
          </a:p>
          <a:p>
            <a:r>
              <a:rPr lang="en-US" altLang="en-US" dirty="0"/>
              <a:t>The unauthorized party could be a person, a program or a computer.  </a:t>
            </a:r>
          </a:p>
          <a:p>
            <a:r>
              <a:rPr lang="en-US" altLang="en-US" dirty="0"/>
              <a:t>Examples include monitoring to capture data in a network and the illegal copying of files or programs.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E9E3F-0091-4680-9F53-A38191A65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715709-E935-4EF4-AAFF-C8395A25A329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BF48EEE4-E4FC-45E9-BC4A-350F9F3E7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Interception</a:t>
            </a:r>
          </a:p>
        </p:txBody>
      </p:sp>
      <p:pic>
        <p:nvPicPr>
          <p:cNvPr id="31747" name="Picture 3">
            <a:extLst>
              <a:ext uri="{FF2B5EF4-FFF2-40B4-BE49-F238E27FC236}">
                <a16:creationId xmlns:a16="http://schemas.microsoft.com/office/drawing/2014/main" id="{A28B8574-5D29-4CA3-BE9F-EA1C8272CC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DC301-D564-462F-BDDF-1EF1A8980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1E9AAA-A046-440E-A8CE-402FB2B519E7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5F621A81-5BF2-411B-AB28-B95340947D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Modification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01AD7396-E59E-4B9F-9B4B-E95CD61242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Integrity violation</a:t>
            </a:r>
          </a:p>
          <a:p>
            <a:r>
              <a:rPr lang="en-US" altLang="en-US" dirty="0"/>
              <a:t>An unauthorized party not only gains access to but tampers with an asset.  </a:t>
            </a:r>
          </a:p>
          <a:p>
            <a:r>
              <a:rPr lang="en-US" altLang="en-US" dirty="0"/>
              <a:t>This is an attack on the </a:t>
            </a:r>
            <a:r>
              <a:rPr lang="en-US" altLang="en-US" b="1" dirty="0"/>
              <a:t>integrity</a:t>
            </a:r>
            <a:r>
              <a:rPr lang="en-US" altLang="en-US" dirty="0"/>
              <a:t>.  </a:t>
            </a:r>
          </a:p>
          <a:p>
            <a:r>
              <a:rPr lang="en-US" altLang="en-US" dirty="0"/>
              <a:t>Examples include changing values in a data file, altering a program so that it performs differently and modifying the content of a message being transmitted in a network. 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9E001-B3EF-4ECF-894B-981A98B32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D2A715-2772-4B8F-AE1B-661B1292062A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2E999357-A585-4CE0-8821-4E5CC131F8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Modification</a:t>
            </a:r>
          </a:p>
        </p:txBody>
      </p:sp>
      <p:pic>
        <p:nvPicPr>
          <p:cNvPr id="33795" name="Picture 3">
            <a:extLst>
              <a:ext uri="{FF2B5EF4-FFF2-40B4-BE49-F238E27FC236}">
                <a16:creationId xmlns:a16="http://schemas.microsoft.com/office/drawing/2014/main" id="{E8C1362C-2C65-43D6-9D65-136A1E1B326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9D8C4-8B50-4962-B346-610BFD76B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654F166-FE47-4FA9-8F32-E7A98FA329C1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FB670F55-308B-4BC2-AD84-B2258AA638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Fabrication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A5621E71-1498-4B30-A758-D01F27A285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An unauthorized party inserts fake objects into the system.  This is an attack on the </a:t>
            </a:r>
            <a:r>
              <a:rPr lang="en-US" altLang="en-US" b="1" dirty="0"/>
              <a:t>authenticity</a:t>
            </a:r>
            <a:r>
              <a:rPr lang="en-US" altLang="en-US" dirty="0"/>
              <a:t>. Examples include the insertion of false messages in a network or the addition of records to a file.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EE7CD-144C-4862-9643-792FDE42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746197-6D28-4342-BCF7-00045A6C752D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157F0137-DCBE-4DA4-8FB9-F9AE10500E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Fabrication</a:t>
            </a:r>
          </a:p>
        </p:txBody>
      </p:sp>
      <p:pic>
        <p:nvPicPr>
          <p:cNvPr id="35843" name="Picture 3">
            <a:extLst>
              <a:ext uri="{FF2B5EF4-FFF2-40B4-BE49-F238E27FC236}">
                <a16:creationId xmlns:a16="http://schemas.microsoft.com/office/drawing/2014/main" id="{14BFF7BA-7459-472A-BE68-B58492C0CF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3EC0D-EEC1-443C-9346-04F371CB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F3F6C1-9A2B-48AD-947B-DE61409CA4B8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0BFD6983-A48A-450F-9988-D3E37416A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Classification of Attacks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48694E0-48EC-49C7-A092-39FA122C79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Computer Security attacks can be classified into two broad categories:</a:t>
            </a:r>
          </a:p>
          <a:p>
            <a:pPr lvl="1"/>
            <a:r>
              <a:rPr lang="en-US" altLang="en-US" b="1" dirty="0"/>
              <a:t>Passive Attacks</a:t>
            </a:r>
            <a:r>
              <a:rPr lang="en-US" altLang="en-US" dirty="0"/>
              <a:t> can only observe communications or data</a:t>
            </a:r>
          </a:p>
          <a:p>
            <a:pPr lvl="1"/>
            <a:r>
              <a:rPr lang="en-US" altLang="en-US" b="1" dirty="0"/>
              <a:t>Active Attacks</a:t>
            </a:r>
            <a:r>
              <a:rPr lang="en-US" altLang="en-US" dirty="0"/>
              <a:t> can actively modify communications or data, Often difficult to perform, but very powerful</a:t>
            </a:r>
          </a:p>
          <a:p>
            <a:pPr lvl="2"/>
            <a:r>
              <a:rPr lang="en-US" altLang="en-US" dirty="0"/>
              <a:t>Mail forgery/modification</a:t>
            </a:r>
          </a:p>
          <a:p>
            <a:pPr lvl="2"/>
            <a:r>
              <a:rPr lang="en-US" altLang="en-US" dirty="0"/>
              <a:t>TCP/IP spoofing/session hijacking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6D8BD-2CBA-4514-B0A3-1FE43117C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6387C5-5292-4E82-92D2-5EB7F0819F43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5D5D60E7-FB48-4E39-9A47-2EAF5A152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Passive Attacks</a:t>
            </a:r>
            <a:r>
              <a:rPr lang="en-US" altLang="en-US"/>
              <a:t> and </a:t>
            </a:r>
            <a:r>
              <a:rPr lang="en-US" altLang="en-US" b="1"/>
              <a:t>Active Attacks</a:t>
            </a:r>
          </a:p>
        </p:txBody>
      </p:sp>
      <p:pic>
        <p:nvPicPr>
          <p:cNvPr id="56323" name="Picture 1027">
            <a:extLst>
              <a:ext uri="{FF2B5EF4-FFF2-40B4-BE49-F238E27FC236}">
                <a16:creationId xmlns:a16="http://schemas.microsoft.com/office/drawing/2014/main" id="{600CE13A-F5B4-4C1F-A2E8-CDD49A44D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2438400"/>
            <a:ext cx="72390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747581-9F17-4AD1-BDD0-C8C76BB0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0AD4D2-6EE2-4083-ABE9-1EDA7816E2B0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656CF3C9-249D-4870-9DF8-FA5D787E9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Passive Attacks</a:t>
            </a:r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5DE0C-3CCA-4A7B-9409-865CAA0AB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2" y="2019299"/>
            <a:ext cx="8542879" cy="35766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787" y="3000083"/>
            <a:ext cx="4887406" cy="27328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05486" y="744564"/>
            <a:ext cx="7407475" cy="1641864"/>
          </a:xfrm>
          <a:prstGeom prst="rect">
            <a:avLst/>
          </a:prstGeom>
        </p:spPr>
        <p:txBody>
          <a:bodyPr lIns="0" tIns="0" rIns="0" bIns="0">
            <a:normAutofit fontScale="25000" lnSpcReduction="20000"/>
          </a:bodyPr>
          <a:lstStyle/>
          <a:p>
            <a:pPr algn="ctr">
              <a:lnSpc>
                <a:spcPts val="5534"/>
              </a:lnSpc>
            </a:pPr>
            <a:endParaRPr lang="en-US" sz="14400" dirty="0">
              <a:solidFill>
                <a:srgbClr val="134B7B"/>
              </a:solidFill>
              <a:latin typeface="Arial"/>
            </a:endParaRPr>
          </a:p>
          <a:p>
            <a:pPr>
              <a:lnSpc>
                <a:spcPts val="2555"/>
              </a:lnSpc>
            </a:pPr>
            <a:r>
              <a:rPr lang="en-US" sz="2281" b="1" dirty="0">
                <a:solidFill>
                  <a:srgbClr val="5F6065"/>
                </a:solidFill>
                <a:latin typeface="Arial"/>
              </a:rPr>
              <a:t>• </a:t>
            </a:r>
          </a:p>
          <a:p>
            <a:pPr>
              <a:lnSpc>
                <a:spcPts val="2555"/>
              </a:lnSpc>
            </a:pPr>
            <a:r>
              <a:rPr lang="en-US" sz="9600" b="1" dirty="0">
                <a:solidFill>
                  <a:srgbClr val="5F6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Eavesdropping: </a:t>
            </a:r>
            <a:r>
              <a:rPr lang="en-US" sz="9600" dirty="0">
                <a:solidFill>
                  <a:srgbClr val="5F6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interception of information</a:t>
            </a:r>
          </a:p>
          <a:p>
            <a:pPr marL="329485">
              <a:lnSpc>
                <a:spcPts val="2555"/>
              </a:lnSpc>
            </a:pPr>
            <a:r>
              <a:rPr lang="en-US" sz="9600" dirty="0">
                <a:solidFill>
                  <a:srgbClr val="5F60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intended for someone else during its transmission over a communication channel</a:t>
            </a:r>
            <a:r>
              <a:rPr lang="en-US" sz="2380" dirty="0">
                <a:solidFill>
                  <a:srgbClr val="5F6065"/>
                </a:solidFill>
                <a:latin typeface="Arial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4658" y="5732886"/>
            <a:ext cx="606154" cy="380550"/>
          </a:xfrm>
          <a:prstGeom prst="rect">
            <a:avLst/>
          </a:prstGeom>
        </p:spPr>
        <p:txBody>
          <a:bodyPr wrap="none" lIns="0" tIns="0" rIns="0" bIns="0">
            <a:normAutofit fontScale="97500"/>
          </a:bodyPr>
          <a:lstStyle/>
          <a:p>
            <a:pPr>
              <a:lnSpc>
                <a:spcPts val="2420"/>
              </a:lnSpc>
            </a:pPr>
            <a:r>
              <a:rPr lang="en-US" sz="2182">
                <a:latin typeface="Times New Roman"/>
              </a:rPr>
              <a:t>Eve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6AB4E-27F3-4047-806A-57529D2FC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234BFE-6569-40CE-8EC5-967D68022665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DE94E05D-FD13-4C64-A039-F7F47243A2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Passive Attacks Problems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9698D1C2-E570-4F84-9664-F496884DAE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Difficult to detect because there is no modification of data</a:t>
            </a:r>
          </a:p>
          <a:p>
            <a:r>
              <a:rPr lang="en-US" altLang="en-US"/>
              <a:t>Protection approach should be based on prevention rather than detection.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55F54-CB80-48CE-984E-9B6FB563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135100-6866-4FFE-B80F-F353AFF0C158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8204415C-D43C-4463-B73E-A7C85CADE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Active Attacks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8ED20808-46F4-4255-AE67-2820239FA3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Active attacks involve some sort of modification of the data stream or the creation of a false stream.  Four sub-categories:</a:t>
            </a:r>
          </a:p>
          <a:p>
            <a:pPr lvl="1"/>
            <a:r>
              <a:rPr lang="en-US" altLang="en-US"/>
              <a:t>Masquerade</a:t>
            </a:r>
          </a:p>
          <a:p>
            <a:pPr lvl="1"/>
            <a:r>
              <a:rPr lang="en-US" altLang="en-US"/>
              <a:t>Replay</a:t>
            </a:r>
          </a:p>
          <a:p>
            <a:pPr lvl="1"/>
            <a:r>
              <a:rPr lang="en-US" altLang="en-US"/>
              <a:t>Modification of Messages</a:t>
            </a:r>
          </a:p>
          <a:p>
            <a:pPr lvl="1"/>
            <a:r>
              <a:rPr lang="en-US" altLang="en-US"/>
              <a:t>Denial of service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4CE5E-6967-4980-9360-60133420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AA1B69-7E28-4754-87A5-B0FBED4B2214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A9C178D3-F1C8-40A0-B13B-15FCB525AE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Masquerade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DF2BE4F0-AD88-463F-9237-37D41B4AB9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An entity pretends to be another</a:t>
            </a:r>
          </a:p>
          <a:p>
            <a:r>
              <a:rPr lang="en-US" altLang="en-US"/>
              <a:t>For the purpose of doing some other form of attack</a:t>
            </a:r>
          </a:p>
          <a:p>
            <a:r>
              <a:rPr lang="en-US" altLang="en-US"/>
              <a:t>Example a system claims its IP address to be what it is not, IP spoofing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9FF46-621C-47B1-A166-B6B03A1D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5DE78EB-B8AF-4D68-8B73-CE843F2741C3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BCCC915A-5AD6-4DBE-8F2E-3E9957B30C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Replay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223C61A8-2015-4372-9F03-44D12CD5F9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First passive capture of data and then its retransmission to produce an unauthorized effect.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274672-156B-47D4-893C-A9ABD716F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566A24-2D96-4FBA-8737-E212C3FA3B79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A8AD30BE-F4E8-40FB-B6D3-B72C1C877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Modification of Messages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9B0D658-969A-4FF1-8B41-53CB852074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Some portion of a legitimate message is altered or messages are delayed or reordered to produce an unauthorized effect.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26C05-29C9-4D23-8DF8-902A15BE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8AD32-7B29-4359-9FB5-EC22F7757FF9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34F1B0D3-DA24-4F10-93AA-9086C1BACC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Denial of Service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D436E273-6523-4144-B767-A6A15901F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interruption or degradation of</a:t>
            </a:r>
            <a:br>
              <a:rPr lang="en-US" dirty="0"/>
            </a:br>
            <a:r>
              <a:rPr lang="en-US" dirty="0"/>
              <a:t>a data service or information access.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37EAB4-1AA1-4D39-A420-037287AC2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E7E46C-D440-42C7-8626-16027ED9639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E574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E574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21C32808-AE31-4CFD-BA1E-B8E0081976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Problems with Active Attacks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0E911AE3-C40B-4D0C-BA4B-B8E3784727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Easy to detect but difficult to prevent</a:t>
            </a:r>
          </a:p>
          <a:p>
            <a:r>
              <a:rPr lang="en-US" altLang="en-US" dirty="0"/>
              <a:t>Efforts are directed to quickly recover from disruption or delays</a:t>
            </a:r>
          </a:p>
          <a:p>
            <a:r>
              <a:rPr lang="en-US" altLang="en-US" dirty="0"/>
              <a:t>Good thing is that detection will have a preventive effect.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94A4C-FCB2-472D-A0A9-B3298898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A1957-1BCA-4BE1-9D80-96B20ABEECAB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A8C45080-A6EE-4752-939C-DFA09DA5B9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Security Solutions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BAFC3FAC-8A87-4807-B69E-71AF8B2B1C4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800" dirty="0"/>
              <a:t>Physical security</a:t>
            </a:r>
          </a:p>
          <a:p>
            <a:r>
              <a:rPr lang="en-US" altLang="en-US" sz="2800" dirty="0"/>
              <a:t>Encryption</a:t>
            </a:r>
          </a:p>
          <a:p>
            <a:r>
              <a:rPr lang="en-US" altLang="en-US" sz="2800" dirty="0"/>
              <a:t>Access control</a:t>
            </a:r>
          </a:p>
          <a:p>
            <a:r>
              <a:rPr lang="en-US" altLang="en-US" sz="2800" dirty="0"/>
              <a:t>Automatic call back</a:t>
            </a:r>
          </a:p>
          <a:p>
            <a:r>
              <a:rPr lang="en-US" altLang="en-US" sz="2800" dirty="0"/>
              <a:t>Node authentication</a:t>
            </a:r>
          </a:p>
          <a:p>
            <a:r>
              <a:rPr lang="en-US" altLang="en-US" sz="2800" dirty="0"/>
              <a:t>Differentiated access rights</a:t>
            </a:r>
          </a:p>
        </p:txBody>
      </p:sp>
      <p:sp>
        <p:nvSpPr>
          <p:cNvPr id="111620" name="Rectangle 4">
            <a:extLst>
              <a:ext uri="{FF2B5EF4-FFF2-40B4-BE49-F238E27FC236}">
                <a16:creationId xmlns:a16="http://schemas.microsoft.com/office/drawing/2014/main" id="{B8B2C8F0-4D97-4CA9-B944-50DDC2046A8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 sz="2800" dirty="0"/>
              <a:t>User authentication</a:t>
            </a:r>
          </a:p>
          <a:p>
            <a:r>
              <a:rPr lang="en-US" altLang="en-US" sz="2800" dirty="0"/>
              <a:t>Passwords </a:t>
            </a:r>
          </a:p>
          <a:p>
            <a:r>
              <a:rPr lang="en-US" altLang="en-US" sz="2800" dirty="0"/>
              <a:t>Challenge-response systems</a:t>
            </a:r>
          </a:p>
          <a:p>
            <a:r>
              <a:rPr lang="en-US" altLang="en-US" sz="2800" dirty="0"/>
              <a:t>Token or smart cards</a:t>
            </a:r>
          </a:p>
          <a:p>
            <a:r>
              <a:rPr lang="en-US" altLang="en-US" sz="2800" dirty="0"/>
              <a:t>Exchange of secret protocol</a:t>
            </a:r>
          </a:p>
          <a:p>
            <a:r>
              <a:rPr lang="en-US" altLang="en-US" sz="2800" dirty="0"/>
              <a:t>Personal characteristics - Biometrics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CE2FB-4AC7-47F2-8A23-9BDE95F4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74C5-0679-42F9-815B-A3CFE1251B57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98C38D0A-867F-46DA-A18F-84F9D0DAB6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Security Mechanisms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348C702A-97A9-456F-A89D-3154885EF4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Three basic building blocks are used: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Encryption is used to provide confidentiality, can provide authentication and integrity protection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Digital signatures are used to provide authentication, integrity protection, and non-repudiation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Checksums/hash algorithms are used to provide integrity protection, can provide authentication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One or more security mechanisms are combined to provide a security service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BE414-9C7B-4BB5-8464-35D6E8F1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E656F-52C7-4605-AEB2-52E9CF025097}" type="slidenum">
              <a:rPr lang="en-US" altLang="en-US"/>
              <a:pPr/>
              <a:t>48</a:t>
            </a:fld>
            <a:endParaRPr lang="en-US" altLang="en-US"/>
          </a:p>
        </p:txBody>
      </p:sp>
      <p:pic>
        <p:nvPicPr>
          <p:cNvPr id="51202" name="Picture 2">
            <a:extLst>
              <a:ext uri="{FF2B5EF4-FFF2-40B4-BE49-F238E27FC236}">
                <a16:creationId xmlns:a16="http://schemas.microsoft.com/office/drawing/2014/main" id="{47F8A513-075E-4CB0-B696-0B1D46C121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1203" name="Rectangle 3">
            <a:extLst>
              <a:ext uri="{FF2B5EF4-FFF2-40B4-BE49-F238E27FC236}">
                <a16:creationId xmlns:a16="http://schemas.microsoft.com/office/drawing/2014/main" id="{3C5855D5-3EEB-4623-8397-734A01BD67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Model for Network Security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F91AF-8240-4780-A494-2996CC1D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03999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C1B6BD5C-E2FD-467F-9E86-A6F21C489B7F}" type="slidenum">
              <a:rPr lang="en-US" altLang="en-US" sz="1200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/>
              <a:t>49</a:t>
            </a:fld>
            <a:endParaRPr lang="en-US" alt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152C83-C94D-4137-A38F-BA176EB0A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489660"/>
            <a:ext cx="8178799" cy="3856063"/>
          </a:xfrm>
          <a:prstGeom prst="rect">
            <a:avLst/>
          </a:prstGeom>
          <a:ln>
            <a:noFill/>
          </a:ln>
        </p:spPr>
      </p:pic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68384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8EF54E5C-FBE3-41B3-9956-9DCABCFD3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2948"/>
            <a:ext cx="9144000" cy="45406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955A0A-FC31-3CC5-CCC8-26D50224A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Class Activity</a:t>
            </a:r>
          </a:p>
        </p:txBody>
      </p:sp>
    </p:spTree>
    <p:extLst>
      <p:ext uri="{BB962C8B-B14F-4D97-AF65-F5344CB8AC3E}">
        <p14:creationId xmlns:p14="http://schemas.microsoft.com/office/powerpoint/2010/main" val="320615865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F43FB73E-1D80-4F6B-AB76-826AA9C6D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6277"/>
            <a:ext cx="9144000" cy="44877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166F9A-F6D2-7085-AAE9-69CF8A4D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Class Activity</a:t>
            </a:r>
          </a:p>
        </p:txBody>
      </p:sp>
    </p:spTree>
    <p:extLst>
      <p:ext uri="{BB962C8B-B14F-4D97-AF65-F5344CB8AC3E}">
        <p14:creationId xmlns:p14="http://schemas.microsoft.com/office/powerpoint/2010/main" val="191059169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CNLectures">
  <a:themeElements>
    <a:clrScheme name="CCNLectures.pot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CCNLectures.pot">
      <a:majorFont>
        <a:latin typeface="Arial Black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CCNLectures.pot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CNLectures.pot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CNLectures.pot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CNLectures.pot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CNLectures.pot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CNLectures.pot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CNLectures.pot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CNLectures">
  <a:themeElements>
    <a:clrScheme name="CCNLectures.pot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CCNLectures.pot">
      <a:majorFont>
        <a:latin typeface="Arial Black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CCNLectures.pot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CNLectures.pot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CNLectures.pot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CNLectures.pot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CNLectures.pot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CNLectures.pot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CNLectures.pot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8B12885D91BB40A0BB99E2A50A1EE3" ma:contentTypeVersion="0" ma:contentTypeDescription="Create a new document." ma:contentTypeScope="" ma:versionID="7a24ff69d682fc178d78579960974b9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EBA833D-A79A-42DC-989C-09666DFD9A0D}"/>
</file>

<file path=customXml/itemProps2.xml><?xml version="1.0" encoding="utf-8"?>
<ds:datastoreItem xmlns:ds="http://schemas.openxmlformats.org/officeDocument/2006/customXml" ds:itemID="{1AE05D06-13A7-4DD2-A031-3DCA4EAB3FF6}"/>
</file>

<file path=customXml/itemProps3.xml><?xml version="1.0" encoding="utf-8"?>
<ds:datastoreItem xmlns:ds="http://schemas.openxmlformats.org/officeDocument/2006/customXml" ds:itemID="{21476499-1DE9-4866-BE5F-977D733B00D5}"/>
</file>

<file path=docProps/app.xml><?xml version="1.0" encoding="utf-8"?>
<Properties xmlns="http://schemas.openxmlformats.org/officeDocument/2006/extended-properties" xmlns:vt="http://schemas.openxmlformats.org/officeDocument/2006/docPropsVTypes">
  <TotalTime>12111</TotalTime>
  <Words>1120</Words>
  <Application>Microsoft Office PowerPoint</Application>
  <PresentationFormat>On-screen Show (4:3)</PresentationFormat>
  <Paragraphs>196</Paragraphs>
  <Slides>51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Arial</vt:lpstr>
      <vt:lpstr>Arial Black</vt:lpstr>
      <vt:lpstr>Calibri</vt:lpstr>
      <vt:lpstr>Droid Serif Bold</vt:lpstr>
      <vt:lpstr>Monotype Sorts</vt:lpstr>
      <vt:lpstr>Tahoma</vt:lpstr>
      <vt:lpstr>Times New Roman</vt:lpstr>
      <vt:lpstr>Office Theme</vt:lpstr>
      <vt:lpstr>CCNLectures</vt:lpstr>
      <vt:lpstr>1_CCNLectures</vt:lpstr>
      <vt:lpstr>PowerPoint Presentation</vt:lpstr>
      <vt:lpstr>PowerPoint Presentation</vt:lpstr>
      <vt:lpstr>PowerPoint Presentation</vt:lpstr>
      <vt:lpstr>PowerPoint Presentation</vt:lpstr>
      <vt:lpstr>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Computer Security Requirements</vt:lpstr>
      <vt:lpstr>Secrecy</vt:lpstr>
      <vt:lpstr>Integrity</vt:lpstr>
      <vt:lpstr>Availability</vt:lpstr>
      <vt:lpstr>Authenticity</vt:lpstr>
      <vt:lpstr>Non-repudiation</vt:lpstr>
      <vt:lpstr>Access Control</vt:lpstr>
      <vt:lpstr>Security Requirements are often Combined</vt:lpstr>
      <vt:lpstr>Type of Attacks/Threats in Computer Systems</vt:lpstr>
      <vt:lpstr>Type of Attacks in Computer Systems</vt:lpstr>
      <vt:lpstr>Normal Flow of Information</vt:lpstr>
      <vt:lpstr>Interruption</vt:lpstr>
      <vt:lpstr>Interruption</vt:lpstr>
      <vt:lpstr>Interception</vt:lpstr>
      <vt:lpstr>Interception</vt:lpstr>
      <vt:lpstr>Modification</vt:lpstr>
      <vt:lpstr>Modification</vt:lpstr>
      <vt:lpstr>Fabrication</vt:lpstr>
      <vt:lpstr>Fabrication</vt:lpstr>
      <vt:lpstr>Classification of Attacks</vt:lpstr>
      <vt:lpstr>Passive Attacks and Active Attacks</vt:lpstr>
      <vt:lpstr>Passive Attacks</vt:lpstr>
      <vt:lpstr>PowerPoint Presentation</vt:lpstr>
      <vt:lpstr>Passive Attacks Problems</vt:lpstr>
      <vt:lpstr>Active Attacks</vt:lpstr>
      <vt:lpstr>Masquerade</vt:lpstr>
      <vt:lpstr>Replay</vt:lpstr>
      <vt:lpstr>Modification of Messages</vt:lpstr>
      <vt:lpstr>Denial of Service</vt:lpstr>
      <vt:lpstr>Problems with Active Attacks</vt:lpstr>
      <vt:lpstr>Security Solutions</vt:lpstr>
      <vt:lpstr>Security Mechanisms</vt:lpstr>
      <vt:lpstr>Model for Network Security</vt:lpstr>
      <vt:lpstr>PowerPoint Presentation</vt:lpstr>
      <vt:lpstr>Class Activity</vt:lpstr>
      <vt:lpstr>Class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 Usman</dc:creator>
  <cp:lastModifiedBy>Hafiz Muhammad Attaullah</cp:lastModifiedBy>
  <cp:revision>8</cp:revision>
  <dcterms:created xsi:type="dcterms:W3CDTF">2021-03-01T07:04:41Z</dcterms:created>
  <dcterms:modified xsi:type="dcterms:W3CDTF">2024-09-18T07:13:54Z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0x010100C48B12885D91BB40A0BB99E2A50A1EE3</vt:lpwstr>
  </property>
  <property fmtid="{D5CDD505-2E9C-101B-9397-08002B2CF9AE}" pid="3" name="Order">
    <vt:r8>200</vt:r8>
  </property>
  <property fmtid="{D5CDD505-2E9C-101B-9397-08002B2CF9AE}" pid="4" name="xd_Signature">
    <vt:bool>false</vt:bool>
  </property>
  <property fmtid="{D5CDD505-2E9C-101B-9397-08002B2CF9AE}" pid="5" name="_ExtendedDescription">
    <vt:lpwstr/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