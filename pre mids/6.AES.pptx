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5" r:id="rId3"/>
    <p:sldId id="294" r:id="rId4"/>
    <p:sldId id="260" r:id="rId5"/>
    <p:sldId id="261" r:id="rId6"/>
    <p:sldId id="263" r:id="rId7"/>
    <p:sldId id="290" r:id="rId8"/>
    <p:sldId id="291" r:id="rId9"/>
    <p:sldId id="296" r:id="rId10"/>
    <p:sldId id="297" r:id="rId11"/>
    <p:sldId id="292" r:id="rId12"/>
    <p:sldId id="293" r:id="rId13"/>
    <p:sldId id="299" r:id="rId14"/>
    <p:sldId id="268" r:id="rId15"/>
    <p:sldId id="298" r:id="rId16"/>
    <p:sldId id="269" r:id="rId17"/>
    <p:sldId id="300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15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09472" y="3380232"/>
            <a:ext cx="7559040" cy="49987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lnSpc>
                <a:spcPts val="4430"/>
              </a:lnSpc>
            </a:pPr>
            <a:r>
              <a:rPr lang="en-US" sz="3600" u="sng" dirty="0">
                <a:solidFill>
                  <a:srgbClr val="D34817"/>
                </a:solidFill>
                <a:latin typeface="Times New Roman"/>
              </a:rPr>
              <a:t>Advance Encryption Standard (AES)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&#10;&#10;Description automatically generated">
            <a:extLst>
              <a:ext uri="{FF2B5EF4-FFF2-40B4-BE49-F238E27FC236}">
                <a16:creationId xmlns:a16="http://schemas.microsoft.com/office/drawing/2014/main" id="{52936311-BEE5-4E52-BDD6-1CEB4B1B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7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674856-A8B6-42BD-AD2D-035FBB8F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5289"/>
            <a:ext cx="9144000" cy="486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3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67056"/>
            <a:ext cx="9019032" cy="669950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46" y="188976"/>
            <a:ext cx="8467344" cy="57729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2400" y="2298192"/>
            <a:ext cx="67056" cy="134112"/>
          </a:xfrm>
          <a:prstGeom prst="rect">
            <a:avLst/>
          </a:prstGeom>
        </p:spPr>
        <p:txBody>
          <a:bodyPr wrap="none" lIns="0" tIns="0" rIns="0" bIns="0">
            <a:normAutofit fontScale="25000" lnSpcReduction="20000"/>
          </a:bodyPr>
          <a:lstStyle/>
          <a:p>
            <a:pPr indent="0">
              <a:lnSpc>
                <a:spcPts val="1660"/>
              </a:lnSpc>
            </a:pPr>
            <a:r>
              <a:rPr lang="en-US" sz="1500" b="1">
                <a:latin typeface="Times New Roman"/>
              </a:rPr>
              <a:t>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7381"/>
          <a:stretch/>
        </p:blipFill>
        <p:spPr>
          <a:xfrm>
            <a:off x="457200" y="1207008"/>
            <a:ext cx="7242048" cy="50249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0416" y="390144"/>
            <a:ext cx="4005072" cy="591312"/>
          </a:xfrm>
          <a:prstGeom prst="rect">
            <a:avLst/>
          </a:prstGeom>
        </p:spPr>
        <p:txBody>
          <a:bodyPr wrap="none" lIns="0" tIns="0" rIns="0" bIns="0">
            <a:normAutofit fontScale="97500"/>
          </a:bodyPr>
          <a:lstStyle/>
          <a:p>
            <a:pPr indent="0">
              <a:lnSpc>
                <a:spcPts val="4430"/>
              </a:lnSpc>
            </a:pPr>
            <a:r>
              <a:rPr lang="en-US" sz="4000">
                <a:latin typeface="Times New Roman"/>
              </a:rPr>
              <a:t>Encryption Process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839C14-832C-4A61-B4FA-845112E84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38" y="643466"/>
            <a:ext cx="801592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73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11AFCA-0AF5-446D-AA1C-C00EF4A1C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03" y="643466"/>
            <a:ext cx="79871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1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A6173C-FD8E-A506-3927-79551F001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35418"/>
            <a:ext cx="8178799" cy="398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070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ubstitution Bytes in AES | Inverse Substituion Bytes in AES | SubBytes in  AES">
            <a:extLst>
              <a:ext uri="{FF2B5EF4-FFF2-40B4-BE49-F238E27FC236}">
                <a16:creationId xmlns:a16="http://schemas.microsoft.com/office/drawing/2014/main" id="{55CD4C4E-D3EE-44DF-6791-C6133FDEE3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0"/>
          <a:stretch/>
        </p:blipFill>
        <p:spPr bwMode="auto">
          <a:xfrm>
            <a:off x="929390" y="1088192"/>
            <a:ext cx="9144000" cy="468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770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1A23EB-85FE-40C9-94C3-8F043FDB3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729996"/>
            <a:ext cx="8178799" cy="539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05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CE3F9B-A290-4DC6-B8A0-460F21B83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48208"/>
            <a:ext cx="8178799" cy="556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50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1C24-44F4-17B1-42AA-E6F75F116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164"/>
            <a:ext cx="9144000" cy="460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79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F71A000-0115-4AA9-B858-386996392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10462"/>
            <a:ext cx="8178799" cy="31079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F71401-0215-4689-8FD5-56BE7DCAD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775" y="3467934"/>
            <a:ext cx="3129534" cy="29182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F9833-C96C-B02D-A153-4C093919F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4679"/>
            <a:ext cx="9144000" cy="456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12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09800"/>
            <a:ext cx="5913120" cy="42702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4800" y="533400"/>
            <a:ext cx="2795016" cy="451104"/>
          </a:xfrm>
          <a:prstGeom prst="rect">
            <a:avLst/>
          </a:prstGeom>
        </p:spPr>
        <p:txBody>
          <a:bodyPr wrap="none" lIns="0" tIns="0" rIns="0" bIns="0">
            <a:normAutofit fontScale="75000" lnSpcReduction="20000"/>
          </a:bodyPr>
          <a:lstStyle/>
          <a:p>
            <a:pPr indent="0">
              <a:lnSpc>
                <a:spcPts val="3880"/>
              </a:lnSpc>
            </a:pPr>
            <a:r>
              <a:rPr lang="en-US" sz="3500" dirty="0" err="1">
                <a:latin typeface="Times New Roman"/>
              </a:rPr>
              <a:t>AddRoundKey</a:t>
            </a:r>
            <a:endParaRPr lang="en-US" sz="3500" dirty="0">
              <a:latin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" y="1542288"/>
            <a:ext cx="7190232" cy="57607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79400" indent="-279400">
              <a:lnSpc>
                <a:spcPts val="2400"/>
              </a:lnSpc>
            </a:pPr>
            <a:r>
              <a:rPr lang="en-US" dirty="0">
                <a:solidFill>
                  <a:srgbClr val="D348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AddRoundKey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step, each byte of the state is combined with a</a:t>
            </a:r>
            <a:br>
              <a:rPr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byte of the round subkey using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XORoperation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(©).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AFCC43-8C7E-7C1A-B873-5C593A2AF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51" y="1070939"/>
            <a:ext cx="7036356" cy="57870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323B81-182E-896E-D6F1-530D79B07986}"/>
              </a:ext>
            </a:extLst>
          </p:cNvPr>
          <p:cNvSpPr/>
          <p:nvPr/>
        </p:nvSpPr>
        <p:spPr>
          <a:xfrm>
            <a:off x="304800" y="533400"/>
            <a:ext cx="2795016" cy="451104"/>
          </a:xfrm>
          <a:prstGeom prst="rect">
            <a:avLst/>
          </a:prstGeom>
        </p:spPr>
        <p:txBody>
          <a:bodyPr wrap="none" lIns="0" tIns="0" rIns="0" bIns="0">
            <a:normAutofit fontScale="75000" lnSpcReduction="20000"/>
          </a:bodyPr>
          <a:lstStyle/>
          <a:p>
            <a:pPr indent="0">
              <a:lnSpc>
                <a:spcPts val="3880"/>
              </a:lnSpc>
            </a:pPr>
            <a:r>
              <a:rPr lang="en-US" sz="3500" dirty="0">
                <a:latin typeface="Times New Roman"/>
              </a:rPr>
              <a:t>Expansion Key</a:t>
            </a:r>
          </a:p>
        </p:txBody>
      </p:sp>
    </p:spTree>
    <p:extLst>
      <p:ext uri="{BB962C8B-B14F-4D97-AF65-F5344CB8AC3E}">
        <p14:creationId xmlns:p14="http://schemas.microsoft.com/office/powerpoint/2010/main" val="4054987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04" y="2279904"/>
            <a:ext cx="2511552" cy="25328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304" y="2279904"/>
            <a:ext cx="2606040" cy="25481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1648" y="685800"/>
            <a:ext cx="3020568" cy="451104"/>
          </a:xfrm>
          <a:prstGeom prst="rect">
            <a:avLst/>
          </a:prstGeom>
        </p:spPr>
        <p:txBody>
          <a:bodyPr wrap="none" lIns="0" tIns="0" rIns="0" bIns="0">
            <a:normAutofit fontScale="60000" lnSpcReduction="20000"/>
          </a:bodyPr>
          <a:lstStyle/>
          <a:p>
            <a:pPr indent="0">
              <a:lnSpc>
                <a:spcPts val="3990"/>
              </a:lnSpc>
            </a:pPr>
            <a:r>
              <a:rPr lang="en-US" sz="3600">
                <a:latin typeface="Times New Roman"/>
              </a:rPr>
              <a:t>Example (Input)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5715000" cy="10881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24" y="3200400"/>
            <a:ext cx="5108448" cy="1828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3810000"/>
            <a:ext cx="801624" cy="53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7096" y="560832"/>
            <a:ext cx="4803648" cy="499872"/>
          </a:xfrm>
          <a:prstGeom prst="rect">
            <a:avLst/>
          </a:prstGeom>
        </p:spPr>
        <p:txBody>
          <a:bodyPr wrap="none" lIns="0" tIns="0" rIns="0" bIns="0">
            <a:normAutofit fontScale="67500" lnSpcReduction="20000"/>
          </a:bodyPr>
          <a:lstStyle/>
          <a:p>
            <a:pPr indent="0">
              <a:lnSpc>
                <a:spcPts val="4430"/>
              </a:lnSpc>
            </a:pPr>
            <a:r>
              <a:rPr lang="en-US" sz="4000">
                <a:latin typeface="Times New Roman"/>
              </a:rPr>
              <a:t>Example (Initial round)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53200" y="3276600"/>
          <a:ext cx="2258568" cy="1776984"/>
        </p:xfrm>
        <a:graphic>
          <a:graphicData uri="http://schemas.openxmlformats.org/drawingml/2006/table">
            <a:tbl>
              <a:tblPr/>
              <a:tblGrid>
                <a:gridCol w="57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1397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19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aO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9a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e9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1397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3d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f 4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c6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f 8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1397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e3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e2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8d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48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1397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be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2b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2a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>
                        <a:lnSpc>
                          <a:spcPts val="2660"/>
                        </a:lnSpc>
                      </a:pPr>
                      <a:r>
                        <a:rPr lang="en-US" sz="2400" spc="200">
                          <a:latin typeface="Times New Roman"/>
                        </a:rPr>
                        <a:t>08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520" y="4876800"/>
            <a:ext cx="2240280" cy="17922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7848" y="609600"/>
            <a:ext cx="4495800" cy="451104"/>
          </a:xfrm>
          <a:prstGeom prst="rect">
            <a:avLst/>
          </a:prstGeom>
        </p:spPr>
        <p:txBody>
          <a:bodyPr wrap="none" lIns="0" tIns="0" rIns="0" bIns="0">
            <a:normAutofit fontScale="60000" lnSpcReduction="20000"/>
          </a:bodyPr>
          <a:lstStyle/>
          <a:p>
            <a:pPr indent="0">
              <a:lnSpc>
                <a:spcPts val="3990"/>
              </a:lnSpc>
            </a:pPr>
            <a:r>
              <a:rPr lang="en-US" sz="3600" dirty="0">
                <a:latin typeface="Times New Roman"/>
              </a:rPr>
              <a:t>Example (R1-SubBytes)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F17B55-26F9-42B1-A5FF-8893DD118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43359" y="4201277"/>
            <a:ext cx="828900" cy="4144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5D1E77-436C-48B5-A156-BC1862AD6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85" y="1060704"/>
            <a:ext cx="7488115" cy="293334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096" y="560832"/>
            <a:ext cx="5184648" cy="499872"/>
          </a:xfrm>
          <a:prstGeom prst="rect">
            <a:avLst/>
          </a:prstGeom>
        </p:spPr>
        <p:txBody>
          <a:bodyPr wrap="none" lIns="0" tIns="0" rIns="0" bIns="0">
            <a:normAutofit fontScale="67500" lnSpcReduction="20000"/>
          </a:bodyPr>
          <a:lstStyle/>
          <a:p>
            <a:pPr indent="0">
              <a:lnSpc>
                <a:spcPts val="4430"/>
              </a:lnSpc>
            </a:pPr>
            <a:r>
              <a:rPr lang="en-US" sz="4000">
                <a:latin typeface="Times New Roman"/>
              </a:rPr>
              <a:t>Example (Rl-ShiftRows)</a:t>
            </a:r>
            <a:endParaRPr lang="en-US" sz="4000" dirty="0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41A0B1-F90B-4A79-86B5-EA678E56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53" y="1772529"/>
            <a:ext cx="8017259" cy="33903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362200"/>
            <a:ext cx="2267712" cy="17922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2398776"/>
            <a:ext cx="3733800" cy="17922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63296" y="637032"/>
            <a:ext cx="5724144" cy="499872"/>
          </a:xfrm>
          <a:prstGeom prst="rect">
            <a:avLst/>
          </a:prstGeom>
        </p:spPr>
        <p:txBody>
          <a:bodyPr wrap="none" lIns="0" tIns="0" rIns="0" bIns="0">
            <a:normAutofit fontScale="67500" lnSpcReduction="20000"/>
          </a:bodyPr>
          <a:lstStyle/>
          <a:p>
            <a:pPr indent="0">
              <a:lnSpc>
                <a:spcPts val="4430"/>
              </a:lnSpc>
            </a:pPr>
            <a:r>
              <a:rPr lang="en-US" sz="4000">
                <a:latin typeface="Times New Roman"/>
              </a:rPr>
              <a:t>Example (Rl-MixColumns)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304" y="4203192"/>
            <a:ext cx="2377440" cy="189280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7096" y="484632"/>
            <a:ext cx="6117336" cy="499872"/>
          </a:xfrm>
          <a:prstGeom prst="rect">
            <a:avLst/>
          </a:prstGeom>
        </p:spPr>
        <p:txBody>
          <a:bodyPr wrap="none" lIns="0" tIns="0" rIns="0" bIns="0">
            <a:normAutofit fontScale="67500" lnSpcReduction="20000"/>
          </a:bodyPr>
          <a:lstStyle/>
          <a:p>
            <a:pPr indent="0">
              <a:lnSpc>
                <a:spcPts val="4430"/>
              </a:lnSpc>
            </a:pPr>
            <a:r>
              <a:rPr lang="en-US" sz="4000">
                <a:latin typeface="Times New Roman"/>
              </a:rPr>
              <a:t>Example (R1 -AddRoundKey)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3EC9-E2A3-4642-830E-088D94CF2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88" y="1415488"/>
            <a:ext cx="6980652" cy="278770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4C9AAB0DFD254DB47D1B9BB368BC6A" ma:contentTypeVersion="7" ma:contentTypeDescription="Create a new document." ma:contentTypeScope="" ma:versionID="5127d8103c52f81a100f22e916dd2a89">
  <xsd:schema xmlns:xsd="http://www.w3.org/2001/XMLSchema" xmlns:xs="http://www.w3.org/2001/XMLSchema" xmlns:p="http://schemas.microsoft.com/office/2006/metadata/properties" xmlns:ns2="81921d32-d511-46e0-8841-97bb0792e3c2" targetNamespace="http://schemas.microsoft.com/office/2006/metadata/properties" ma:root="true" ma:fieldsID="e617563db1c534bed4870bd8c8bf6dae" ns2:_="">
    <xsd:import namespace="81921d32-d511-46e0-8841-97bb0792e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21d32-d511-46e0-8841-97bb0792e3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9D8CFB-B49B-4717-9507-212A18B672E8}"/>
</file>

<file path=customXml/itemProps2.xml><?xml version="1.0" encoding="utf-8"?>
<ds:datastoreItem xmlns:ds="http://schemas.openxmlformats.org/officeDocument/2006/customXml" ds:itemID="{EF93A91E-1749-49B6-9675-40A42AB8B70E}"/>
</file>

<file path=customXml/itemProps3.xml><?xml version="1.0" encoding="utf-8"?>
<ds:datastoreItem xmlns:ds="http://schemas.openxmlformats.org/officeDocument/2006/customXml" ds:itemID="{84901264-CBED-4935-8079-A6D3FBE4C50F}"/>
</file>

<file path=docProps/app.xml><?xml version="1.0" encoding="utf-8"?>
<Properties xmlns="http://schemas.openxmlformats.org/officeDocument/2006/extended-properties" xmlns:vt="http://schemas.openxmlformats.org/officeDocument/2006/docPropsVTypes">
  <TotalTime>5769</TotalTime>
  <Words>82</Words>
  <Application>Microsoft Office PowerPoint</Application>
  <PresentationFormat>On-screen Show (4:3)</PresentationFormat>
  <Paragraphs>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 Usman</dc:creator>
  <cp:lastModifiedBy>HAFIZ MUHAMMAD ATTAULLAH MAHAR</cp:lastModifiedBy>
  <cp:revision>9</cp:revision>
  <dcterms:created xsi:type="dcterms:W3CDTF">2020-11-26T10:47:02Z</dcterms:created>
  <dcterms:modified xsi:type="dcterms:W3CDTF">2024-12-03T09:11:07Z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0x010100764C9AAB0DFD254DB47D1B9BB368BC6A</vt:lpwstr>
  </property>
</Properties>
</file>