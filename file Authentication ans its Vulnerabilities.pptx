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30" autoAdjust="0"/>
  </p:normalViewPr>
  <p:slideViewPr>
    <p:cSldViewPr>
      <p:cViewPr varScale="1">
        <p:scale>
          <a:sx n="35" d="100"/>
          <a:sy n="35" d="100"/>
        </p:scale>
        <p:origin x="121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Muhammad Attaullah" userId="bf45c098-9070-4672-8c16-0ac675faa24c" providerId="ADAL" clId="{A2A592A3-C27A-41F7-99EE-CCAD56DCC347}"/>
    <pc:docChg chg="undo custSel modSld">
      <pc:chgData name="Hafiz Muhammad Attaullah" userId="bf45c098-9070-4672-8c16-0ac675faa24c" providerId="ADAL" clId="{A2A592A3-C27A-41F7-99EE-CCAD56DCC347}" dt="2024-05-05T03:30:30.707" v="49" actId="20577"/>
      <pc:docMkLst>
        <pc:docMk/>
      </pc:docMkLst>
      <pc:sldChg chg="modSp mod">
        <pc:chgData name="Hafiz Muhammad Attaullah" userId="bf45c098-9070-4672-8c16-0ac675faa24c" providerId="ADAL" clId="{A2A592A3-C27A-41F7-99EE-CCAD56DCC347}" dt="2024-05-05T03:30:30.707" v="49" actId="20577"/>
        <pc:sldMkLst>
          <pc:docMk/>
          <pc:sldMk cId="0" sldId="276"/>
        </pc:sldMkLst>
        <pc:spChg chg="mod">
          <ac:chgData name="Hafiz Muhammad Attaullah" userId="bf45c098-9070-4672-8c16-0ac675faa24c" providerId="ADAL" clId="{A2A592A3-C27A-41F7-99EE-CCAD56DCC347}" dt="2024-05-05T03:30:30.707" v="49" actId="2057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Hafiz Muhammad Attaullah" userId="bf45c098-9070-4672-8c16-0ac675faa24c" providerId="ADAL" clId="{A2A592A3-C27A-41F7-99EE-CCAD56DCC347}" dt="2024-05-05T03:30:24.785" v="44" actId="20577"/>
          <ac:spMkLst>
            <pc:docMk/>
            <pc:sldMk cId="0" sldId="276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D8E58-7A63-4095-A012-6F827D592767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04235-672D-4465-9EE0-FD7E95C14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71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3e8214be51bdc25bJmltdHM9MTcxMTc1NjgwMCZpZ3VpZD0yODM2MDU0OS04MTA1LTZlODgtMTBkNS0xNjliODAxMTZmYjYmaW5zaWQ9NTQ4Mw&amp;ptn=3&amp;ver=2&amp;hsh=3&amp;fclid=28360549-8105-6e88-10d5-169b80116fb6&amp;psq=NTLM+or+Kerberos&amp;u=a1aHR0cHM6Ly9hbnN3ZXJzLm1pY3Jvc29mdC5jb20vZW4tdXMvbXNvZmZpY2UvZm9ydW0vYWxsL250bG0tdnMta2VyYmVyb3MvZDhiMTM5YmYtNmI1YS00YTUzLTlhMDAtYmI3NWQ0ZTIxOWVi&amp;ntb=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ing.com/ck/a?!&amp;&amp;p=de5fa1a74231d4c3JmltdHM9MTcxMTc1NjgwMCZpZ3VpZD0yODM2MDU0OS04MTA1LTZlODgtMTBkNS0xNjliODAxMTZmYjYmaW5zaWQ9NTQ4OQ&amp;ptn=3&amp;ver=2&amp;hsh=3&amp;fclid=28360549-8105-6e88-10d5-169b80116fb6&amp;psq=NTLM+or+Kerberos+&amp;u=a1aHR0cHM6Ly93d3cuZ2Vla3Nmb3JnZWVrcy5vcmcvZGlmZmVyZW5jZS1iZXR3ZWVuLWtlcmJlcm9zLWFuZC1udGxtLw&amp;ntb=1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NTLM (New Technology LAN Manager) is an authentication protocol that was introduced in Windows NT 4.0 and has been supported in all subsequent versions of Windows</a:t>
            </a:r>
            <a:r>
              <a:rPr lang="en-US" b="1" i="0" u="none" strike="noStrike" baseline="30000" dirty="0">
                <a:solidFill>
                  <a:srgbClr val="4007A2"/>
                </a:solidFill>
                <a:effectLst/>
                <a:latin typeface="Roboto" panose="02000000000000000000" pitchFamily="2" charset="0"/>
                <a:hlinkClick r:id="rId3"/>
              </a:rPr>
              <a:t>1</a:t>
            </a:r>
            <a:r>
              <a:rPr lang="en-US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. It is based on symmetric key cryptography and uses a challenge/response mechanism to authenticate users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Kerberos is an authentication protocol that is based on symmetric key cryptography and relies on a trusted third party, called the Key Distribution Center (KDC)</a:t>
            </a:r>
            <a:r>
              <a:rPr lang="en-US" b="1" i="0" u="none" strike="noStrike" baseline="30000" dirty="0">
                <a:solidFill>
                  <a:srgbClr val="4007A2"/>
                </a:solidFill>
                <a:effectLst/>
                <a:latin typeface="Roboto" panose="02000000000000000000" pitchFamily="2" charset="0"/>
                <a:hlinkClick r:id="rId4"/>
              </a:rPr>
              <a:t>2</a:t>
            </a:r>
            <a:r>
              <a:rPr lang="en-US" b="0" i="0" dirty="0">
                <a:solidFill>
                  <a:srgbClr val="666666"/>
                </a:solidFill>
                <a:effectLst/>
                <a:latin typeface="Roboto" panose="02000000000000000000" pitchFamily="2" charset="0"/>
              </a:rPr>
              <a:t>. It is the default authentication protocol on Windows versions above W2k, replacing the NTLM authentication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04235-672D-4465-9EE0-FD7E95C144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8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2145" y="743716"/>
            <a:ext cx="14563090" cy="123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0044" y="5282352"/>
            <a:ext cx="4960686" cy="461137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0922" y="743716"/>
            <a:ext cx="18532207" cy="1404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2145" y="2766691"/>
            <a:ext cx="13047344" cy="439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E2C4B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2843" cy="113085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27250" y="9135145"/>
            <a:ext cx="15468600" cy="1243930"/>
          </a:xfrm>
          <a:prstGeom prst="rect">
            <a:avLst/>
          </a:prstGeom>
          <a:ln w="7853">
            <a:solidFill>
              <a:srgbClr val="ED7D3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1630">
              <a:lnSpc>
                <a:spcPts val="9690"/>
              </a:lnSpc>
            </a:pPr>
            <a:r>
              <a:rPr sz="8250" b="1" spc="-285" dirty="0">
                <a:solidFill>
                  <a:srgbClr val="FFFFFF"/>
                </a:solidFill>
                <a:latin typeface="Carlito"/>
                <a:cs typeface="Carlito"/>
              </a:rPr>
              <a:t>Authentication</a:t>
            </a:r>
            <a:r>
              <a:rPr lang="en-US" sz="8250" b="1" spc="-285" dirty="0">
                <a:solidFill>
                  <a:srgbClr val="FFFFFF"/>
                </a:solidFill>
                <a:latin typeface="Carlito"/>
                <a:cs typeface="Carlito"/>
              </a:rPr>
              <a:t> and its</a:t>
            </a:r>
            <a:r>
              <a:rPr sz="8250" b="1" spc="-4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8250" b="1" spc="-300" dirty="0">
                <a:solidFill>
                  <a:srgbClr val="FFFFFF"/>
                </a:solidFill>
                <a:latin typeface="Carlito"/>
                <a:cs typeface="Carlito"/>
              </a:rPr>
              <a:t>Vulnerabilities</a:t>
            </a:r>
            <a:endParaRPr sz="8250" dirty="0">
              <a:latin typeface="Carlito"/>
              <a:cs typeface="Carli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17355" y="236223"/>
            <a:ext cx="14331950" cy="11061065"/>
            <a:chOff x="4317355" y="236223"/>
            <a:chExt cx="14331950" cy="1106106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4783" y="10932536"/>
              <a:ext cx="364379" cy="3643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7355" y="547836"/>
              <a:ext cx="2450187" cy="2450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1334" y="236223"/>
              <a:ext cx="7998918" cy="781295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41142" y="4587137"/>
            <a:ext cx="3479165" cy="558165"/>
          </a:xfrm>
          <a:prstGeom prst="rect">
            <a:avLst/>
          </a:prstGeom>
          <a:ln w="10470">
            <a:solidFill>
              <a:srgbClr val="FFFFFF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65"/>
              </a:spcBef>
            </a:pPr>
            <a:r>
              <a:rPr sz="2950" spc="-10" dirty="0">
                <a:solidFill>
                  <a:srgbClr val="FFFFFF"/>
                </a:solidFill>
                <a:latin typeface="Carlito"/>
                <a:cs typeface="Carlito"/>
              </a:rPr>
              <a:t>Password</a:t>
            </a:r>
            <a:endParaRPr sz="295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11394" y="3583555"/>
            <a:ext cx="4514215" cy="2543810"/>
            <a:chOff x="7511394" y="3583555"/>
            <a:chExt cx="4514215" cy="25438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1394" y="3583555"/>
              <a:ext cx="572966" cy="5604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11394" y="4586247"/>
              <a:ext cx="572966" cy="5604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41142" y="5564259"/>
              <a:ext cx="3479165" cy="558165"/>
            </a:xfrm>
            <a:custGeom>
              <a:avLst/>
              <a:gdLst/>
              <a:ahLst/>
              <a:cxnLst/>
              <a:rect l="l" t="t" r="r" b="b"/>
              <a:pathLst>
                <a:path w="3479165" h="558164">
                  <a:moveTo>
                    <a:pt x="3386137" y="0"/>
                  </a:moveTo>
                  <a:lnTo>
                    <a:pt x="92970" y="0"/>
                  </a:lnTo>
                  <a:lnTo>
                    <a:pt x="56781" y="7305"/>
                  </a:lnTo>
                  <a:lnTo>
                    <a:pt x="27229" y="27230"/>
                  </a:lnTo>
                  <a:lnTo>
                    <a:pt x="7305" y="56785"/>
                  </a:lnTo>
                  <a:lnTo>
                    <a:pt x="0" y="92981"/>
                  </a:lnTo>
                  <a:lnTo>
                    <a:pt x="0" y="464865"/>
                  </a:lnTo>
                  <a:lnTo>
                    <a:pt x="7305" y="501056"/>
                  </a:lnTo>
                  <a:lnTo>
                    <a:pt x="27229" y="530612"/>
                  </a:lnTo>
                  <a:lnTo>
                    <a:pt x="56781" y="550539"/>
                  </a:lnTo>
                  <a:lnTo>
                    <a:pt x="92970" y="557846"/>
                  </a:lnTo>
                  <a:lnTo>
                    <a:pt x="3386137" y="557846"/>
                  </a:lnTo>
                  <a:lnTo>
                    <a:pt x="3422311" y="550539"/>
                  </a:lnTo>
                  <a:lnTo>
                    <a:pt x="3451868" y="530612"/>
                  </a:lnTo>
                  <a:lnTo>
                    <a:pt x="3471805" y="501056"/>
                  </a:lnTo>
                  <a:lnTo>
                    <a:pt x="3479119" y="464865"/>
                  </a:lnTo>
                  <a:lnTo>
                    <a:pt x="3479119" y="92981"/>
                  </a:lnTo>
                  <a:lnTo>
                    <a:pt x="3471805" y="56785"/>
                  </a:lnTo>
                  <a:lnTo>
                    <a:pt x="3451868" y="27230"/>
                  </a:lnTo>
                  <a:lnTo>
                    <a:pt x="3422311" y="7305"/>
                  </a:lnTo>
                  <a:lnTo>
                    <a:pt x="33861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41142" y="5564259"/>
              <a:ext cx="3479165" cy="558165"/>
            </a:xfrm>
            <a:custGeom>
              <a:avLst/>
              <a:gdLst/>
              <a:ahLst/>
              <a:cxnLst/>
              <a:rect l="l" t="t" r="r" b="b"/>
              <a:pathLst>
                <a:path w="3479165" h="558164">
                  <a:moveTo>
                    <a:pt x="0" y="92978"/>
                  </a:moveTo>
                  <a:lnTo>
                    <a:pt x="7306" y="56786"/>
                  </a:lnTo>
                  <a:lnTo>
                    <a:pt x="27232" y="27232"/>
                  </a:lnTo>
                  <a:lnTo>
                    <a:pt x="56786" y="7306"/>
                  </a:lnTo>
                  <a:lnTo>
                    <a:pt x="92977" y="0"/>
                  </a:lnTo>
                  <a:lnTo>
                    <a:pt x="3386112" y="0"/>
                  </a:lnTo>
                  <a:lnTo>
                    <a:pt x="3422303" y="7306"/>
                  </a:lnTo>
                  <a:lnTo>
                    <a:pt x="3451856" y="27232"/>
                  </a:lnTo>
                  <a:lnTo>
                    <a:pt x="3471782" y="56786"/>
                  </a:lnTo>
                  <a:lnTo>
                    <a:pt x="3479089" y="92978"/>
                  </a:lnTo>
                  <a:lnTo>
                    <a:pt x="3479089" y="464870"/>
                  </a:lnTo>
                  <a:lnTo>
                    <a:pt x="3471782" y="501061"/>
                  </a:lnTo>
                  <a:lnTo>
                    <a:pt x="3451856" y="530615"/>
                  </a:lnTo>
                  <a:lnTo>
                    <a:pt x="3422303" y="550541"/>
                  </a:lnTo>
                  <a:lnTo>
                    <a:pt x="3386112" y="557848"/>
                  </a:lnTo>
                  <a:lnTo>
                    <a:pt x="92977" y="557848"/>
                  </a:lnTo>
                  <a:lnTo>
                    <a:pt x="56786" y="550541"/>
                  </a:lnTo>
                  <a:lnTo>
                    <a:pt x="27232" y="530615"/>
                  </a:lnTo>
                  <a:lnTo>
                    <a:pt x="7306" y="501061"/>
                  </a:lnTo>
                  <a:lnTo>
                    <a:pt x="0" y="464870"/>
                  </a:lnTo>
                  <a:lnTo>
                    <a:pt x="0" y="92978"/>
                  </a:lnTo>
                  <a:close/>
                </a:path>
              </a:pathLst>
            </a:custGeom>
            <a:ln w="1047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541142" y="3634978"/>
            <a:ext cx="3479165" cy="533400"/>
          </a:xfrm>
          <a:prstGeom prst="rect">
            <a:avLst/>
          </a:prstGeom>
          <a:ln w="7853">
            <a:solidFill>
              <a:srgbClr val="FFFFF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45"/>
              </a:spcBef>
            </a:pPr>
            <a:r>
              <a:rPr sz="2950" spc="-10" dirty="0">
                <a:solidFill>
                  <a:srgbClr val="FFFFFF"/>
                </a:solidFill>
              </a:rPr>
              <a:t>Username</a:t>
            </a:r>
            <a:endParaRPr sz="2950"/>
          </a:p>
        </p:txBody>
      </p:sp>
      <p:sp>
        <p:nvSpPr>
          <p:cNvPr id="17" name="object 17"/>
          <p:cNvSpPr txBox="1"/>
          <p:nvPr/>
        </p:nvSpPr>
        <p:spPr>
          <a:xfrm>
            <a:off x="9858308" y="5583778"/>
            <a:ext cx="84518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10" dirty="0">
                <a:latin typeface="Carlito"/>
                <a:cs typeface="Carlito"/>
              </a:rPr>
              <a:t>Login</a:t>
            </a:r>
            <a:endParaRPr sz="2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452" y="2417383"/>
            <a:ext cx="16662400" cy="32772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spc="-30" dirty="0">
                <a:solidFill>
                  <a:srgbClr val="F36825"/>
                </a:solidFill>
                <a:latin typeface="Carlito"/>
                <a:cs typeface="Carlito"/>
              </a:rPr>
              <a:t>Authentication</a:t>
            </a:r>
            <a:r>
              <a:rPr sz="4950" spc="-155" dirty="0">
                <a:solidFill>
                  <a:srgbClr val="F36825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identifies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user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confirms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that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they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say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who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they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say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they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are.</a:t>
            </a:r>
            <a:endParaRPr sz="4950">
              <a:latin typeface="Carlito"/>
              <a:cs typeface="Carlito"/>
            </a:endParaRPr>
          </a:p>
          <a:p>
            <a:pPr marL="843915" indent="-379095">
              <a:lnSpc>
                <a:spcPts val="5445"/>
              </a:lnSpc>
              <a:spcBef>
                <a:spcPts val="3829"/>
              </a:spcBef>
              <a:buFont typeface="Arial"/>
              <a:buChar char="•"/>
              <a:tabLst>
                <a:tab pos="84391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HTML</a:t>
            </a:r>
            <a:r>
              <a:rPr sz="4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65" dirty="0">
                <a:solidFill>
                  <a:srgbClr val="0E2C4B"/>
                </a:solidFill>
                <a:latin typeface="Carlito"/>
                <a:cs typeface="Carlito"/>
              </a:rPr>
              <a:t>form-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based</a:t>
            </a:r>
            <a:r>
              <a:rPr sz="4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endParaRPr sz="4950">
              <a:latin typeface="Carlito"/>
              <a:cs typeface="Carlito"/>
            </a:endParaRPr>
          </a:p>
          <a:p>
            <a:pPr marL="843915" indent="-379095">
              <a:lnSpc>
                <a:spcPts val="5445"/>
              </a:lnSpc>
              <a:buFont typeface="Arial"/>
              <a:buChar char="•"/>
              <a:tabLst>
                <a:tab pos="843915" algn="l"/>
              </a:tabLst>
            </a:pP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Multi-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factor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mechanisms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dirty="0"/>
              <a:t>Some</a:t>
            </a:r>
            <a:r>
              <a:rPr spc="5" dirty="0"/>
              <a:t> </a:t>
            </a:r>
            <a:r>
              <a:rPr spc="-1435" dirty="0"/>
              <a:t>T</a:t>
            </a:r>
            <a:r>
              <a:rPr spc="5" dirty="0"/>
              <a:t>e</a:t>
            </a:r>
            <a:r>
              <a:rPr spc="10" dirty="0"/>
              <a:t>r</a:t>
            </a:r>
            <a:r>
              <a:rPr spc="15" dirty="0"/>
              <a:t>m</a:t>
            </a:r>
            <a:r>
              <a:rPr spc="5" dirty="0"/>
              <a:t>i</a:t>
            </a:r>
            <a:r>
              <a:rPr spc="10" dirty="0"/>
              <a:t>n</a:t>
            </a:r>
            <a:r>
              <a:rPr spc="5" dirty="0"/>
              <a:t>olo</a:t>
            </a:r>
            <a:r>
              <a:rPr spc="15" dirty="0"/>
              <a:t>g</a:t>
            </a:r>
            <a:r>
              <a:rPr spc="-1055" dirty="0"/>
              <a:t>y</a:t>
            </a:r>
            <a:r>
              <a:rPr spc="10" dirty="0"/>
              <a:t>...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33794" y="5543570"/>
            <a:ext cx="9418320" cy="20358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391795" marR="5080" indent="-379730">
              <a:lnSpc>
                <a:spcPts val="4950"/>
              </a:lnSpc>
              <a:spcBef>
                <a:spcPts val="1085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Windows-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integrated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authentication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using</a:t>
            </a:r>
            <a:r>
              <a:rPr sz="4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NTLM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Kerberos</a:t>
            </a:r>
            <a:endParaRPr sz="4950" dirty="0">
              <a:latin typeface="Carlito"/>
              <a:cs typeface="Carlito"/>
            </a:endParaRPr>
          </a:p>
          <a:p>
            <a:pPr marL="391795" indent="-379095">
              <a:lnSpc>
                <a:spcPts val="4945"/>
              </a:lnSpc>
              <a:buFont typeface="Arial"/>
              <a:buChar char="•"/>
              <a:tabLst>
                <a:tab pos="391795" algn="l"/>
              </a:tabLst>
            </a:pP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...</a:t>
            </a:r>
            <a:endParaRPr sz="4950" dirty="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40363" y="3297072"/>
            <a:ext cx="6184900" cy="6184900"/>
            <a:chOff x="12140363" y="3297072"/>
            <a:chExt cx="6184900" cy="61849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40363" y="3297072"/>
              <a:ext cx="6184523" cy="61845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286192" y="5824702"/>
              <a:ext cx="2669540" cy="565785"/>
            </a:xfrm>
            <a:custGeom>
              <a:avLst/>
              <a:gdLst/>
              <a:ahLst/>
              <a:cxnLst/>
              <a:rect l="l" t="t" r="r" b="b"/>
              <a:pathLst>
                <a:path w="2669540" h="565785">
                  <a:moveTo>
                    <a:pt x="0" y="94238"/>
                  </a:moveTo>
                  <a:lnTo>
                    <a:pt x="7405" y="57556"/>
                  </a:lnTo>
                  <a:lnTo>
                    <a:pt x="27601" y="27601"/>
                  </a:lnTo>
                  <a:lnTo>
                    <a:pt x="57556" y="7405"/>
                  </a:lnTo>
                  <a:lnTo>
                    <a:pt x="94238" y="0"/>
                  </a:lnTo>
                  <a:lnTo>
                    <a:pt x="2574866" y="0"/>
                  </a:lnTo>
                  <a:lnTo>
                    <a:pt x="2611549" y="7405"/>
                  </a:lnTo>
                  <a:lnTo>
                    <a:pt x="2641503" y="27601"/>
                  </a:lnTo>
                  <a:lnTo>
                    <a:pt x="2661698" y="57556"/>
                  </a:lnTo>
                  <a:lnTo>
                    <a:pt x="2669104" y="94238"/>
                  </a:lnTo>
                  <a:lnTo>
                    <a:pt x="2669104" y="471189"/>
                  </a:lnTo>
                  <a:lnTo>
                    <a:pt x="2661698" y="507871"/>
                  </a:lnTo>
                  <a:lnTo>
                    <a:pt x="2641503" y="537826"/>
                  </a:lnTo>
                  <a:lnTo>
                    <a:pt x="2611549" y="558022"/>
                  </a:lnTo>
                  <a:lnTo>
                    <a:pt x="2574866" y="565428"/>
                  </a:lnTo>
                  <a:lnTo>
                    <a:pt x="94238" y="565428"/>
                  </a:lnTo>
                  <a:lnTo>
                    <a:pt x="57556" y="558022"/>
                  </a:lnTo>
                  <a:lnTo>
                    <a:pt x="27601" y="537826"/>
                  </a:lnTo>
                  <a:lnTo>
                    <a:pt x="7405" y="507871"/>
                  </a:lnTo>
                  <a:lnTo>
                    <a:pt x="0" y="471189"/>
                  </a:lnTo>
                  <a:lnTo>
                    <a:pt x="0" y="94238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376420" y="5898742"/>
            <a:ext cx="125158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262626"/>
                </a:solidFill>
                <a:latin typeface="Carlito"/>
                <a:cs typeface="Carlito"/>
              </a:rPr>
              <a:t>Username</a:t>
            </a:r>
            <a:endParaRPr sz="2300">
              <a:latin typeface="Carlito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286192" y="6818221"/>
            <a:ext cx="2669540" cy="565785"/>
          </a:xfrm>
          <a:custGeom>
            <a:avLst/>
            <a:gdLst/>
            <a:ahLst/>
            <a:cxnLst/>
            <a:rect l="l" t="t" r="r" b="b"/>
            <a:pathLst>
              <a:path w="2669540" h="565784">
                <a:moveTo>
                  <a:pt x="0" y="94238"/>
                </a:moveTo>
                <a:lnTo>
                  <a:pt x="7405" y="57556"/>
                </a:lnTo>
                <a:lnTo>
                  <a:pt x="27601" y="27601"/>
                </a:lnTo>
                <a:lnTo>
                  <a:pt x="57556" y="7405"/>
                </a:lnTo>
                <a:lnTo>
                  <a:pt x="94238" y="0"/>
                </a:lnTo>
                <a:lnTo>
                  <a:pt x="2574866" y="0"/>
                </a:lnTo>
                <a:lnTo>
                  <a:pt x="2611549" y="7405"/>
                </a:lnTo>
                <a:lnTo>
                  <a:pt x="2641503" y="27601"/>
                </a:lnTo>
                <a:lnTo>
                  <a:pt x="2661698" y="57556"/>
                </a:lnTo>
                <a:lnTo>
                  <a:pt x="2669104" y="94238"/>
                </a:lnTo>
                <a:lnTo>
                  <a:pt x="2669104" y="471189"/>
                </a:lnTo>
                <a:lnTo>
                  <a:pt x="2661698" y="507871"/>
                </a:lnTo>
                <a:lnTo>
                  <a:pt x="2641503" y="537826"/>
                </a:lnTo>
                <a:lnTo>
                  <a:pt x="2611549" y="558022"/>
                </a:lnTo>
                <a:lnTo>
                  <a:pt x="2574866" y="565428"/>
                </a:lnTo>
                <a:lnTo>
                  <a:pt x="94238" y="565428"/>
                </a:lnTo>
                <a:lnTo>
                  <a:pt x="57556" y="558022"/>
                </a:lnTo>
                <a:lnTo>
                  <a:pt x="27601" y="537826"/>
                </a:lnTo>
                <a:lnTo>
                  <a:pt x="7405" y="507871"/>
                </a:lnTo>
                <a:lnTo>
                  <a:pt x="0" y="471189"/>
                </a:lnTo>
                <a:lnTo>
                  <a:pt x="0" y="94238"/>
                </a:lnTo>
                <a:close/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376420" y="6891381"/>
            <a:ext cx="115379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262626"/>
                </a:solidFill>
                <a:latin typeface="Carlito"/>
                <a:cs typeface="Carlito"/>
              </a:rPr>
              <a:t>Password</a:t>
            </a:r>
            <a:endParaRPr sz="23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452273" y="6812986"/>
            <a:ext cx="959485" cy="575945"/>
            <a:chOff x="16452273" y="6812986"/>
            <a:chExt cx="959485" cy="575945"/>
          </a:xfrm>
        </p:grpSpPr>
        <p:sp>
          <p:nvSpPr>
            <p:cNvPr id="16" name="object 16"/>
            <p:cNvSpPr/>
            <p:nvPr/>
          </p:nvSpPr>
          <p:spPr>
            <a:xfrm>
              <a:off x="16457508" y="6818221"/>
              <a:ext cx="948690" cy="565785"/>
            </a:xfrm>
            <a:custGeom>
              <a:avLst/>
              <a:gdLst/>
              <a:ahLst/>
              <a:cxnLst/>
              <a:rect l="l" t="t" r="r" b="b"/>
              <a:pathLst>
                <a:path w="948690" h="565784">
                  <a:moveTo>
                    <a:pt x="854424" y="0"/>
                  </a:moveTo>
                  <a:lnTo>
                    <a:pt x="94237" y="0"/>
                  </a:lnTo>
                  <a:lnTo>
                    <a:pt x="57558" y="7406"/>
                  </a:lnTo>
                  <a:lnTo>
                    <a:pt x="27603" y="27605"/>
                  </a:lnTo>
                  <a:lnTo>
                    <a:pt x="7406" y="57563"/>
                  </a:lnTo>
                  <a:lnTo>
                    <a:pt x="0" y="94248"/>
                  </a:lnTo>
                  <a:lnTo>
                    <a:pt x="0" y="471189"/>
                  </a:lnTo>
                  <a:lnTo>
                    <a:pt x="7406" y="507873"/>
                  </a:lnTo>
                  <a:lnTo>
                    <a:pt x="27603" y="537827"/>
                  </a:lnTo>
                  <a:lnTo>
                    <a:pt x="57558" y="558022"/>
                  </a:lnTo>
                  <a:lnTo>
                    <a:pt x="94237" y="565427"/>
                  </a:lnTo>
                  <a:lnTo>
                    <a:pt x="854424" y="565427"/>
                  </a:lnTo>
                  <a:lnTo>
                    <a:pt x="891103" y="558022"/>
                  </a:lnTo>
                  <a:lnTo>
                    <a:pt x="921058" y="537827"/>
                  </a:lnTo>
                  <a:lnTo>
                    <a:pt x="941255" y="507873"/>
                  </a:lnTo>
                  <a:lnTo>
                    <a:pt x="948662" y="471189"/>
                  </a:lnTo>
                  <a:lnTo>
                    <a:pt x="948662" y="94248"/>
                  </a:lnTo>
                  <a:lnTo>
                    <a:pt x="941255" y="57563"/>
                  </a:lnTo>
                  <a:lnTo>
                    <a:pt x="921058" y="27605"/>
                  </a:lnTo>
                  <a:lnTo>
                    <a:pt x="891103" y="7406"/>
                  </a:lnTo>
                  <a:lnTo>
                    <a:pt x="854424" y="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457508" y="6818221"/>
              <a:ext cx="949325" cy="565785"/>
            </a:xfrm>
            <a:custGeom>
              <a:avLst/>
              <a:gdLst/>
              <a:ahLst/>
              <a:cxnLst/>
              <a:rect l="l" t="t" r="r" b="b"/>
              <a:pathLst>
                <a:path w="949325" h="565784">
                  <a:moveTo>
                    <a:pt x="0" y="94239"/>
                  </a:moveTo>
                  <a:lnTo>
                    <a:pt x="7405" y="57557"/>
                  </a:lnTo>
                  <a:lnTo>
                    <a:pt x="27602" y="27602"/>
                  </a:lnTo>
                  <a:lnTo>
                    <a:pt x="57557" y="7405"/>
                  </a:lnTo>
                  <a:lnTo>
                    <a:pt x="94239" y="0"/>
                  </a:lnTo>
                  <a:lnTo>
                    <a:pt x="854474" y="0"/>
                  </a:lnTo>
                  <a:lnTo>
                    <a:pt x="891153" y="7405"/>
                  </a:lnTo>
                  <a:lnTo>
                    <a:pt x="921108" y="27602"/>
                  </a:lnTo>
                  <a:lnTo>
                    <a:pt x="941305" y="57557"/>
                  </a:lnTo>
                  <a:lnTo>
                    <a:pt x="948712" y="94239"/>
                  </a:lnTo>
                  <a:lnTo>
                    <a:pt x="948712" y="471188"/>
                  </a:lnTo>
                  <a:lnTo>
                    <a:pt x="941305" y="507870"/>
                  </a:lnTo>
                  <a:lnTo>
                    <a:pt x="921108" y="537825"/>
                  </a:lnTo>
                  <a:lnTo>
                    <a:pt x="891153" y="558022"/>
                  </a:lnTo>
                  <a:lnTo>
                    <a:pt x="854474" y="565428"/>
                  </a:lnTo>
                  <a:lnTo>
                    <a:pt x="94239" y="565428"/>
                  </a:lnTo>
                  <a:lnTo>
                    <a:pt x="57557" y="558022"/>
                  </a:lnTo>
                  <a:lnTo>
                    <a:pt x="27602" y="537825"/>
                  </a:lnTo>
                  <a:lnTo>
                    <a:pt x="7405" y="507870"/>
                  </a:lnTo>
                  <a:lnTo>
                    <a:pt x="0" y="471188"/>
                  </a:lnTo>
                  <a:lnTo>
                    <a:pt x="0" y="94239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564387" y="6891381"/>
            <a:ext cx="73469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rlito"/>
                <a:cs typeface="Carlito"/>
              </a:rPr>
              <a:t>Log</a:t>
            </a:r>
            <a:r>
              <a:rPr sz="23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endParaRPr sz="2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0038" y="3697762"/>
            <a:ext cx="17063085" cy="291592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7659"/>
              </a:lnSpc>
              <a:spcBef>
                <a:spcPts val="155"/>
              </a:spcBef>
              <a:tabLst>
                <a:tab pos="5137785" algn="l"/>
                <a:tab pos="10064750" algn="l"/>
                <a:tab pos="12024360" algn="l"/>
                <a:tab pos="14408785" algn="l"/>
              </a:tabLst>
            </a:pPr>
            <a:r>
              <a:rPr sz="6150" i="1" spc="-10" dirty="0">
                <a:solidFill>
                  <a:srgbClr val="F36825"/>
                </a:solidFill>
                <a:latin typeface="Carlito"/>
                <a:cs typeface="Carlito"/>
              </a:rPr>
              <a:t>Authentication</a:t>
            </a:r>
            <a:r>
              <a:rPr sz="6150" i="1" dirty="0">
                <a:solidFill>
                  <a:srgbClr val="F36825"/>
                </a:solidFill>
                <a:latin typeface="Carlito"/>
                <a:cs typeface="Carlito"/>
              </a:rPr>
              <a:t>	</a:t>
            </a:r>
            <a:r>
              <a:rPr sz="6150" i="1" spc="-10" dirty="0">
                <a:solidFill>
                  <a:srgbClr val="F36825"/>
                </a:solidFill>
                <a:latin typeface="Carlito"/>
                <a:cs typeface="Carlito"/>
              </a:rPr>
              <a:t>Vulnerabilities</a:t>
            </a:r>
            <a:r>
              <a:rPr sz="6150" i="1" dirty="0">
                <a:solidFill>
                  <a:srgbClr val="F36825"/>
                </a:solidFill>
                <a:latin typeface="Carlito"/>
                <a:cs typeface="Carlito"/>
              </a:rPr>
              <a:t>	</a:t>
            </a:r>
            <a:r>
              <a:rPr sz="6150" i="1" spc="-10" dirty="0">
                <a:latin typeface="Carlito"/>
                <a:cs typeface="Carlito"/>
              </a:rPr>
              <a:t>arise</a:t>
            </a:r>
            <a:r>
              <a:rPr sz="6150" i="1" dirty="0">
                <a:latin typeface="Carlito"/>
                <a:cs typeface="Carlito"/>
              </a:rPr>
              <a:t>	</a:t>
            </a:r>
            <a:r>
              <a:rPr sz="6150" i="1" spc="-20" dirty="0">
                <a:latin typeface="Carlito"/>
                <a:cs typeface="Carlito"/>
              </a:rPr>
              <a:t>from</a:t>
            </a:r>
            <a:r>
              <a:rPr sz="6150" i="1" dirty="0">
                <a:latin typeface="Carlito"/>
                <a:cs typeface="Carlito"/>
              </a:rPr>
              <a:t>	</a:t>
            </a:r>
            <a:r>
              <a:rPr sz="6150" i="1" spc="-10" dirty="0">
                <a:latin typeface="Carlito"/>
                <a:cs typeface="Carlito"/>
              </a:rPr>
              <a:t>insecure </a:t>
            </a:r>
            <a:r>
              <a:rPr sz="6150" i="1" dirty="0">
                <a:latin typeface="Carlito"/>
                <a:cs typeface="Carlito"/>
              </a:rPr>
              <a:t>implementation</a:t>
            </a:r>
            <a:r>
              <a:rPr sz="6150" i="1" spc="265" dirty="0">
                <a:latin typeface="Carlito"/>
                <a:cs typeface="Carlito"/>
              </a:rPr>
              <a:t> </a:t>
            </a:r>
            <a:r>
              <a:rPr sz="6150" i="1" dirty="0">
                <a:latin typeface="Carlito"/>
                <a:cs typeface="Carlito"/>
              </a:rPr>
              <a:t>of</a:t>
            </a:r>
            <a:r>
              <a:rPr sz="6150" i="1" spc="265" dirty="0">
                <a:latin typeface="Carlito"/>
                <a:cs typeface="Carlito"/>
              </a:rPr>
              <a:t> </a:t>
            </a:r>
            <a:r>
              <a:rPr sz="6150" i="1" dirty="0">
                <a:latin typeface="Carlito"/>
                <a:cs typeface="Carlito"/>
              </a:rPr>
              <a:t>the</a:t>
            </a:r>
            <a:r>
              <a:rPr sz="6150" i="1" spc="265" dirty="0">
                <a:latin typeface="Carlito"/>
                <a:cs typeface="Carlito"/>
              </a:rPr>
              <a:t> </a:t>
            </a:r>
            <a:r>
              <a:rPr sz="6150" i="1" dirty="0">
                <a:latin typeface="Carlito"/>
                <a:cs typeface="Carlito"/>
              </a:rPr>
              <a:t>authentication</a:t>
            </a:r>
            <a:r>
              <a:rPr sz="6150" i="1" spc="270" dirty="0">
                <a:latin typeface="Carlito"/>
                <a:cs typeface="Carlito"/>
              </a:rPr>
              <a:t> </a:t>
            </a:r>
            <a:r>
              <a:rPr sz="6150" i="1" dirty="0">
                <a:latin typeface="Carlito"/>
                <a:cs typeface="Carlito"/>
              </a:rPr>
              <a:t>mechanisms</a:t>
            </a:r>
            <a:r>
              <a:rPr sz="6150" i="1" spc="254" dirty="0">
                <a:latin typeface="Carlito"/>
                <a:cs typeface="Carlito"/>
              </a:rPr>
              <a:t> </a:t>
            </a:r>
            <a:r>
              <a:rPr sz="6150" i="1" spc="-25" dirty="0">
                <a:latin typeface="Carlito"/>
                <a:cs typeface="Carlito"/>
              </a:rPr>
              <a:t>in</a:t>
            </a:r>
            <a:endParaRPr sz="6150">
              <a:latin typeface="Carlito"/>
              <a:cs typeface="Carlito"/>
            </a:endParaRPr>
          </a:p>
          <a:p>
            <a:pPr marL="12700">
              <a:lnSpc>
                <a:spcPts val="7375"/>
              </a:lnSpc>
            </a:pPr>
            <a:r>
              <a:rPr sz="6150" i="1" dirty="0">
                <a:latin typeface="Carlito"/>
                <a:cs typeface="Carlito"/>
              </a:rPr>
              <a:t>an</a:t>
            </a:r>
            <a:r>
              <a:rPr sz="6150" i="1" spc="-15" dirty="0">
                <a:latin typeface="Carlito"/>
                <a:cs typeface="Carlito"/>
              </a:rPr>
              <a:t> </a:t>
            </a:r>
            <a:r>
              <a:rPr sz="6150" i="1" spc="-10" dirty="0">
                <a:latin typeface="Carlito"/>
                <a:cs typeface="Carlito"/>
              </a:rPr>
              <a:t>application.</a:t>
            </a:r>
            <a:endParaRPr sz="615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8902700" cy="643382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Having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no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minimal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controls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over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quality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users’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passwords.</a:t>
            </a:r>
            <a:endParaRPr sz="4950">
              <a:latin typeface="Carlito"/>
              <a:cs typeface="Carlito"/>
            </a:endParaRPr>
          </a:p>
          <a:p>
            <a:pPr marL="954405" indent="-565150">
              <a:lnSpc>
                <a:spcPts val="5445"/>
              </a:lnSpc>
              <a:spcBef>
                <a:spcPts val="3950"/>
              </a:spcBef>
              <a:buFont typeface="Arial"/>
              <a:buChar char="•"/>
              <a:tabLst>
                <a:tab pos="954405" algn="l"/>
              </a:tabLst>
            </a:pPr>
            <a:r>
              <a:rPr sz="4950" spc="-490" dirty="0">
                <a:solidFill>
                  <a:srgbClr val="0E2C4B"/>
                </a:solidFill>
                <a:latin typeface="Carlito"/>
                <a:cs typeface="Carlito"/>
              </a:rPr>
              <a:t>V</a:t>
            </a:r>
            <a:r>
              <a:rPr sz="4950" spc="30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4950" spc="7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4950" spc="30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short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blank</a:t>
            </a:r>
            <a:endParaRPr sz="4950">
              <a:latin typeface="Carlito"/>
              <a:cs typeface="Carlito"/>
            </a:endParaRPr>
          </a:p>
          <a:p>
            <a:pPr marL="955040" marR="521334" indent="-565785">
              <a:lnSpc>
                <a:spcPts val="4950"/>
              </a:lnSpc>
              <a:spcBef>
                <a:spcPts val="495"/>
              </a:spcBef>
              <a:buFont typeface="Arial"/>
              <a:buChar char="•"/>
              <a:tabLst>
                <a:tab pos="955040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Common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dictionary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words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or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names</a:t>
            </a:r>
            <a:endParaRPr sz="4950">
              <a:latin typeface="Carlito"/>
              <a:cs typeface="Carlito"/>
            </a:endParaRPr>
          </a:p>
          <a:p>
            <a:pPr marL="954405" indent="-565150">
              <a:lnSpc>
                <a:spcPts val="4445"/>
              </a:lnSpc>
              <a:buFont typeface="Arial"/>
              <a:buChar char="•"/>
              <a:tabLst>
                <a:tab pos="954405" algn="l"/>
              </a:tabLst>
            </a:pP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same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as</a:t>
            </a:r>
            <a:r>
              <a:rPr sz="4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endParaRPr sz="4950">
              <a:latin typeface="Carlito"/>
              <a:cs typeface="Carlito"/>
            </a:endParaRPr>
          </a:p>
          <a:p>
            <a:pPr marL="955040">
              <a:lnSpc>
                <a:spcPts val="4945"/>
              </a:lnSpc>
            </a:pP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endParaRPr sz="4950">
              <a:latin typeface="Carlito"/>
              <a:cs typeface="Carlito"/>
            </a:endParaRPr>
          </a:p>
          <a:p>
            <a:pPr marL="954405" indent="-565150">
              <a:lnSpc>
                <a:spcPts val="4945"/>
              </a:lnSpc>
              <a:buFont typeface="Arial"/>
              <a:buChar char="•"/>
              <a:tabLst>
                <a:tab pos="954405" algn="l"/>
                <a:tab pos="4792980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</a:t>
            </a:r>
            <a:r>
              <a:rPr sz="4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4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default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	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endParaRPr sz="4950">
              <a:latin typeface="Carlito"/>
              <a:cs typeface="Carlito"/>
            </a:endParaRPr>
          </a:p>
          <a:p>
            <a:pPr marL="954405" indent="-565150">
              <a:lnSpc>
                <a:spcPts val="5445"/>
              </a:lnSpc>
              <a:buFont typeface="Arial"/>
              <a:buChar char="•"/>
              <a:tabLst>
                <a:tab pos="95440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Missing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50" dirty="0">
                <a:solidFill>
                  <a:srgbClr val="0E2C4B"/>
                </a:solidFill>
                <a:latin typeface="Carlito"/>
                <a:cs typeface="Carlito"/>
              </a:rPr>
              <a:t>ineffective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160" dirty="0">
                <a:solidFill>
                  <a:srgbClr val="0E2C4B"/>
                </a:solidFill>
                <a:latin typeface="Carlito"/>
                <a:cs typeface="Carlito"/>
              </a:rPr>
              <a:t>M</a:t>
            </a:r>
            <a:r>
              <a:rPr sz="4950" spc="-405" dirty="0">
                <a:solidFill>
                  <a:srgbClr val="0E2C4B"/>
                </a:solidFill>
                <a:latin typeface="Carlito"/>
                <a:cs typeface="Carlito"/>
              </a:rPr>
              <a:t>F</a:t>
            </a:r>
            <a:r>
              <a:rPr sz="4950" spc="17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505" dirty="0"/>
              <a:t>W</a:t>
            </a:r>
            <a:r>
              <a:rPr spc="90" dirty="0"/>
              <a:t>e</a:t>
            </a:r>
            <a:r>
              <a:rPr spc="95" dirty="0"/>
              <a:t>ak</a:t>
            </a:r>
            <a:r>
              <a:rPr spc="-390" dirty="0"/>
              <a:t> </a:t>
            </a:r>
            <a:r>
              <a:rPr spc="-55" dirty="0"/>
              <a:t>Password</a:t>
            </a:r>
            <a:r>
              <a:rPr spc="-370" dirty="0"/>
              <a:t> </a:t>
            </a:r>
            <a:r>
              <a:rPr spc="-35" dirty="0"/>
              <a:t>Requirements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609594" y="2910277"/>
            <a:ext cx="7654925" cy="7078980"/>
            <a:chOff x="11609594" y="2910277"/>
            <a:chExt cx="7654925" cy="70789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2665" y="3010305"/>
              <a:ext cx="7443059" cy="68669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613521" y="2914204"/>
              <a:ext cx="7647305" cy="7070725"/>
            </a:xfrm>
            <a:custGeom>
              <a:avLst/>
              <a:gdLst/>
              <a:ahLst/>
              <a:cxnLst/>
              <a:rect l="l" t="t" r="r" b="b"/>
              <a:pathLst>
                <a:path w="7647305" h="7070725">
                  <a:moveTo>
                    <a:pt x="0" y="0"/>
                  </a:moveTo>
                  <a:lnTo>
                    <a:pt x="7646808" y="0"/>
                  </a:lnTo>
                  <a:lnTo>
                    <a:pt x="7646808" y="7070720"/>
                  </a:lnTo>
                  <a:lnTo>
                    <a:pt x="0" y="7070720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617312" y="10180078"/>
            <a:ext cx="7347584" cy="6311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5"/>
              </a:spcBef>
            </a:pPr>
            <a:r>
              <a:rPr sz="1950" b="1" dirty="0">
                <a:solidFill>
                  <a:srgbClr val="0E2C4B"/>
                </a:solidFill>
                <a:latin typeface="Carlito"/>
                <a:cs typeface="Carlito"/>
              </a:rPr>
              <a:t>Link:</a:t>
            </a:r>
            <a:r>
              <a:rPr sz="1950" b="1" spc="1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h</a:t>
            </a:r>
            <a:r>
              <a:rPr sz="1950" spc="-6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1950" spc="-15" dirty="0">
                <a:solidFill>
                  <a:srgbClr val="0E2C4B"/>
                </a:solidFill>
                <a:latin typeface="Carlito"/>
                <a:cs typeface="Carlito"/>
              </a:rPr>
              <a:t>p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://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dan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lmi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ssl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spc="-40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om/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b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lo</a:t>
            </a:r>
            <a:r>
              <a:rPr sz="1950" spc="140" dirty="0">
                <a:solidFill>
                  <a:srgbClr val="0E2C4B"/>
                </a:solidFill>
                <a:latin typeface="Carlito"/>
                <a:cs typeface="Carlito"/>
              </a:rPr>
              <a:t>g</a:t>
            </a:r>
            <a:r>
              <a:rPr sz="1950" spc="-75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asmm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-</a:t>
            </a:r>
            <a:r>
              <a:rPr sz="1950" spc="-20" dirty="0">
                <a:solidFill>
                  <a:srgbClr val="0E2C4B"/>
                </a:solidFill>
                <a:latin typeface="Carlito"/>
                <a:cs typeface="Carlito"/>
              </a:rPr>
              <a:t>consumer-</a:t>
            </a:r>
            <a:r>
              <a:rPr sz="1950" spc="-10" dirty="0">
                <a:solidFill>
                  <a:srgbClr val="0E2C4B"/>
                </a:solidFill>
                <a:latin typeface="Carlito"/>
                <a:cs typeface="Carlito"/>
              </a:rPr>
              <a:t>authentication- security-</a:t>
            </a:r>
            <a:r>
              <a:rPr sz="1950" spc="-20" dirty="0">
                <a:solidFill>
                  <a:srgbClr val="0E2C4B"/>
                </a:solidFill>
                <a:latin typeface="Carlito"/>
                <a:cs typeface="Carlito"/>
              </a:rPr>
              <a:t>maturity-</a:t>
            </a:r>
            <a:r>
              <a:rPr sz="1950" spc="-10" dirty="0">
                <a:solidFill>
                  <a:srgbClr val="0E2C4B"/>
                </a:solidFill>
                <a:latin typeface="Carlito"/>
                <a:cs typeface="Carlito"/>
              </a:rPr>
              <a:t>model/</a:t>
            </a:r>
            <a:endParaRPr sz="19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0189845" cy="140779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permits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brute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other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automated</a:t>
            </a:r>
            <a:r>
              <a:rPr sz="4950" spc="-229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attacks.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9096" y="4525800"/>
            <a:ext cx="6557009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8820" indent="-706120">
              <a:lnSpc>
                <a:spcPts val="5445"/>
              </a:lnSpc>
              <a:spcBef>
                <a:spcPts val="95"/>
              </a:spcBef>
              <a:buFont typeface="Arial"/>
              <a:buChar char="•"/>
              <a:tabLst>
                <a:tab pos="718820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4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4950">
              <a:latin typeface="Carlito"/>
              <a:cs typeface="Carlito"/>
            </a:endParaRPr>
          </a:p>
          <a:p>
            <a:pPr marL="718820" indent="-706120">
              <a:lnSpc>
                <a:spcPts val="4945"/>
              </a:lnSpc>
              <a:buFont typeface="Arial"/>
              <a:buChar char="•"/>
              <a:tabLst>
                <a:tab pos="718820" algn="l"/>
              </a:tabLst>
            </a:pP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OTP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M</a:t>
            </a:r>
            <a:r>
              <a:rPr sz="4950" spc="-575" dirty="0">
                <a:solidFill>
                  <a:srgbClr val="0E2C4B"/>
                </a:solidFill>
                <a:latin typeface="Carlito"/>
                <a:cs typeface="Carlito"/>
              </a:rPr>
              <a:t>F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4950">
              <a:latin typeface="Carlito"/>
              <a:cs typeface="Carlito"/>
            </a:endParaRPr>
          </a:p>
          <a:p>
            <a:pPr marL="718820" indent="-706120">
              <a:lnSpc>
                <a:spcPts val="5445"/>
              </a:lnSpc>
              <a:buFont typeface="Arial"/>
              <a:buChar char="•"/>
              <a:tabLst>
                <a:tab pos="718820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Change</a:t>
            </a:r>
            <a:r>
              <a:rPr sz="4950" spc="-1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1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Improper</a:t>
            </a:r>
            <a:r>
              <a:rPr sz="7250" spc="-275" dirty="0"/>
              <a:t> </a:t>
            </a:r>
            <a:r>
              <a:rPr sz="7250" spc="-10" dirty="0"/>
              <a:t>Restriction</a:t>
            </a:r>
            <a:r>
              <a:rPr sz="7250" spc="-265" dirty="0"/>
              <a:t> </a:t>
            </a:r>
            <a:r>
              <a:rPr sz="7250" dirty="0"/>
              <a:t>of</a:t>
            </a:r>
            <a:r>
              <a:rPr sz="7250" spc="-265" dirty="0"/>
              <a:t> </a:t>
            </a:r>
            <a:r>
              <a:rPr sz="7250" spc="-20" dirty="0"/>
              <a:t>Authentication</a:t>
            </a:r>
            <a:r>
              <a:rPr sz="7250" spc="-265" dirty="0"/>
              <a:t> </a:t>
            </a:r>
            <a:r>
              <a:rPr sz="7250" spc="-45" dirty="0"/>
              <a:t>Attempts</a:t>
            </a:r>
            <a:endParaRPr sz="7250"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3989939" y="2656254"/>
            <a:ext cx="4606925" cy="4435475"/>
            <a:chOff x="13989939" y="2656254"/>
            <a:chExt cx="4606925" cy="44354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89939" y="2656254"/>
              <a:ext cx="4606351" cy="44354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9546" y="4558604"/>
              <a:ext cx="462394" cy="444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74520" y="5340151"/>
              <a:ext cx="462394" cy="44731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4891170" y="4556636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536575">
              <a:lnSpc>
                <a:spcPct val="100000"/>
              </a:lnSpc>
              <a:spcBef>
                <a:spcPts val="325"/>
              </a:spcBef>
            </a:pPr>
            <a:r>
              <a:rPr sz="145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88760" y="5329701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370"/>
              </a:spcBef>
            </a:pPr>
            <a:r>
              <a:rPr sz="145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9401" y="2693814"/>
            <a:ext cx="195389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3450" b="1" spc="-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3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345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949733" y="6471007"/>
            <a:ext cx="4667250" cy="4513580"/>
            <a:chOff x="13949733" y="6471007"/>
            <a:chExt cx="4667250" cy="451358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9733" y="6471007"/>
              <a:ext cx="4666664" cy="451337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767509" y="9208578"/>
              <a:ext cx="2549525" cy="373380"/>
            </a:xfrm>
            <a:custGeom>
              <a:avLst/>
              <a:gdLst/>
              <a:ahLst/>
              <a:cxnLst/>
              <a:rect l="l" t="t" r="r" b="b"/>
              <a:pathLst>
                <a:path w="2549525" h="373379">
                  <a:moveTo>
                    <a:pt x="0" y="0"/>
                  </a:moveTo>
                  <a:lnTo>
                    <a:pt x="2549191" y="0"/>
                  </a:lnTo>
                  <a:lnTo>
                    <a:pt x="2549191" y="372873"/>
                  </a:lnTo>
                  <a:lnTo>
                    <a:pt x="0" y="372873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705386" y="8247571"/>
            <a:ext cx="3068320" cy="6311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5"/>
              </a:spcBef>
            </a:pPr>
            <a:r>
              <a:rPr sz="1950" dirty="0">
                <a:latin typeface="Carlito"/>
                <a:cs typeface="Carlito"/>
              </a:rPr>
              <a:t>Enter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one-time</a:t>
            </a:r>
            <a:r>
              <a:rPr sz="1950" spc="15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code</a:t>
            </a:r>
            <a:r>
              <a:rPr sz="1950" spc="20" dirty="0">
                <a:latin typeface="Carlito"/>
                <a:cs typeface="Carlito"/>
              </a:rPr>
              <a:t> </a:t>
            </a:r>
            <a:r>
              <a:rPr sz="1950" spc="-10" dirty="0">
                <a:latin typeface="Carlito"/>
                <a:cs typeface="Carlito"/>
              </a:rPr>
              <a:t>available </a:t>
            </a:r>
            <a:r>
              <a:rPr sz="1950" dirty="0">
                <a:latin typeface="Carlito"/>
                <a:cs typeface="Carlito"/>
              </a:rPr>
              <a:t>on</a:t>
            </a:r>
            <a:r>
              <a:rPr sz="1950" spc="5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the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Authenticator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spc="-20" dirty="0">
                <a:latin typeface="Carlito"/>
                <a:cs typeface="Carlito"/>
              </a:rPr>
              <a:t>app.</a:t>
            </a:r>
            <a:endParaRPr sz="195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19082" y="6553801"/>
            <a:ext cx="1707514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OTP</a:t>
            </a:r>
            <a:r>
              <a:rPr sz="3450" b="1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3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34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6218535" cy="140779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outputs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verbose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error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message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that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allows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for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enumeration.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720" dirty="0"/>
              <a:t>V</a:t>
            </a:r>
            <a:r>
              <a:rPr sz="7250" spc="15" dirty="0"/>
              <a:t>e</a:t>
            </a:r>
            <a:r>
              <a:rPr sz="7250" spc="20" dirty="0"/>
              <a:t>r</a:t>
            </a:r>
            <a:r>
              <a:rPr sz="7250" spc="25" dirty="0"/>
              <a:t>b</a:t>
            </a:r>
            <a:r>
              <a:rPr sz="7250" spc="20" dirty="0"/>
              <a:t>os</a:t>
            </a:r>
            <a:r>
              <a:rPr sz="7250" spc="25" dirty="0"/>
              <a:t>e</a:t>
            </a:r>
            <a:r>
              <a:rPr sz="7250" spc="-275" dirty="0"/>
              <a:t> </a:t>
            </a:r>
            <a:r>
              <a:rPr sz="7250" dirty="0"/>
              <a:t>Error</a:t>
            </a:r>
            <a:r>
              <a:rPr sz="7250" spc="-270" dirty="0"/>
              <a:t> </a:t>
            </a:r>
            <a:r>
              <a:rPr sz="7250" spc="-10" dirty="0"/>
              <a:t>Message</a:t>
            </a:r>
            <a:endParaRPr sz="725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98609" y="7006980"/>
            <a:ext cx="991869" cy="113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50" b="1" spc="-35" dirty="0">
                <a:latin typeface="Carlito"/>
                <a:cs typeface="Carlito"/>
              </a:rPr>
              <a:t>VS</a:t>
            </a:r>
            <a:endParaRPr sz="725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8290" y="4387719"/>
            <a:ext cx="6416040" cy="6177280"/>
            <a:chOff x="1118290" y="4387719"/>
            <a:chExt cx="6416040" cy="61772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8290" y="4387719"/>
              <a:ext cx="6415720" cy="61769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4640" y="7506368"/>
              <a:ext cx="733799" cy="70866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96933" y="7564932"/>
            <a:ext cx="2788920" cy="619125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695"/>
              </a:spcBef>
            </a:pPr>
            <a:r>
              <a:rPr sz="260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3080" y="8398445"/>
            <a:ext cx="2788920" cy="619125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780"/>
              </a:spcBef>
            </a:pPr>
            <a:r>
              <a:rPr sz="260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2600">
              <a:latin typeface="Carlito"/>
              <a:cs typeface="Carli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4484" y="8353253"/>
            <a:ext cx="736312" cy="7086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36794" y="6812641"/>
            <a:ext cx="436181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Sign</a:t>
            </a:r>
            <a:r>
              <a:rPr sz="245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in</a:t>
            </a:r>
            <a:r>
              <a:rPr sz="245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failed.</a:t>
            </a:r>
            <a:r>
              <a:rPr sz="2450" spc="-1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Incorrect</a:t>
            </a:r>
            <a:r>
              <a:rPr sz="245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Carlito"/>
                <a:cs typeface="Carlito"/>
              </a:rPr>
              <a:t>username.</a:t>
            </a:r>
            <a:endParaRPr sz="245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9208" y="4571034"/>
            <a:ext cx="3624579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Incorrect</a:t>
            </a:r>
            <a:r>
              <a:rPr sz="3450" b="1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1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endParaRPr sz="345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91916" y="4405310"/>
            <a:ext cx="6416040" cy="6177280"/>
            <a:chOff x="10991916" y="4405310"/>
            <a:chExt cx="6416040" cy="617728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91916" y="4405310"/>
              <a:ext cx="6415720" cy="61769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15753" y="7526472"/>
              <a:ext cx="736312" cy="70615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3328076" y="7593245"/>
            <a:ext cx="2788920" cy="593725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15"/>
              </a:spcBef>
            </a:pPr>
            <a:r>
              <a:rPr sz="260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19176" y="8418958"/>
            <a:ext cx="2788920" cy="593725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760"/>
              </a:spcBef>
            </a:pPr>
            <a:r>
              <a:rPr sz="260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2600">
              <a:latin typeface="Carlito"/>
              <a:cs typeface="Carlit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88110" y="8370844"/>
            <a:ext cx="733799" cy="70866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2009342" y="6830232"/>
            <a:ext cx="4304665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Sign</a:t>
            </a:r>
            <a:r>
              <a:rPr sz="245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in</a:t>
            </a:r>
            <a:r>
              <a:rPr sz="245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failed.</a:t>
            </a:r>
            <a:r>
              <a:rPr sz="2450" spc="-1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dirty="0">
                <a:solidFill>
                  <a:srgbClr val="FF0000"/>
                </a:solidFill>
                <a:latin typeface="Carlito"/>
                <a:cs typeface="Carlito"/>
              </a:rPr>
              <a:t>Incorrect</a:t>
            </a:r>
            <a:r>
              <a:rPr sz="245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Carlito"/>
                <a:cs typeface="Carlito"/>
              </a:rPr>
              <a:t>password.</a:t>
            </a:r>
            <a:endParaRPr sz="245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58235" y="4588626"/>
            <a:ext cx="3472179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Incorrect</a:t>
            </a:r>
            <a:r>
              <a:rPr sz="3450" b="1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2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endParaRPr sz="34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6784955" cy="140779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uses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unencrypted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HTTP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connection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transmit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4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credentials.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55" dirty="0"/>
              <a:t>Vulnerable</a:t>
            </a:r>
            <a:r>
              <a:rPr sz="7250" spc="-220" dirty="0"/>
              <a:t> </a:t>
            </a:r>
            <a:r>
              <a:rPr sz="7250" spc="-915" dirty="0"/>
              <a:t>T</a:t>
            </a:r>
            <a:r>
              <a:rPr sz="7250" spc="-290" dirty="0"/>
              <a:t>r</a:t>
            </a:r>
            <a:r>
              <a:rPr sz="7250" spc="15" dirty="0"/>
              <a:t>a</a:t>
            </a:r>
            <a:r>
              <a:rPr sz="7250" spc="20" dirty="0"/>
              <a:t>n</a:t>
            </a:r>
            <a:r>
              <a:rPr sz="7250" spc="15" dirty="0"/>
              <a:t>sm</a:t>
            </a:r>
            <a:r>
              <a:rPr sz="7250" spc="20" dirty="0"/>
              <a:t>i</a:t>
            </a:r>
            <a:r>
              <a:rPr sz="7250" spc="15" dirty="0"/>
              <a:t>ss</a:t>
            </a:r>
            <a:r>
              <a:rPr sz="7250" spc="20" dirty="0"/>
              <a:t>i</a:t>
            </a:r>
            <a:r>
              <a:rPr sz="7250" spc="15" dirty="0"/>
              <a:t>o</a:t>
            </a:r>
            <a:r>
              <a:rPr sz="7250" spc="20" dirty="0"/>
              <a:t>n</a:t>
            </a:r>
            <a:r>
              <a:rPr sz="7250" spc="-204" dirty="0"/>
              <a:t> </a:t>
            </a:r>
            <a:r>
              <a:rPr sz="7250" dirty="0"/>
              <a:t>of</a:t>
            </a:r>
            <a:r>
              <a:rPr sz="7250" spc="-220" dirty="0"/>
              <a:t> </a:t>
            </a:r>
            <a:r>
              <a:rPr sz="7250" spc="-10" dirty="0"/>
              <a:t>Credentials</a:t>
            </a:r>
            <a:endParaRPr sz="725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745098" y="5338549"/>
            <a:ext cx="6447790" cy="4928870"/>
            <a:chOff x="1745098" y="5338549"/>
            <a:chExt cx="6447790" cy="49288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951" y="5346402"/>
              <a:ext cx="6431563" cy="49130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49025" y="5342476"/>
              <a:ext cx="6439535" cy="4921250"/>
            </a:xfrm>
            <a:custGeom>
              <a:avLst/>
              <a:gdLst/>
              <a:ahLst/>
              <a:cxnLst/>
              <a:rect l="l" t="t" r="r" b="b"/>
              <a:pathLst>
                <a:path w="6439534" h="4921250">
                  <a:moveTo>
                    <a:pt x="0" y="0"/>
                  </a:moveTo>
                  <a:lnTo>
                    <a:pt x="6439424" y="0"/>
                  </a:lnTo>
                  <a:lnTo>
                    <a:pt x="6439424" y="4920856"/>
                  </a:lnTo>
                  <a:lnTo>
                    <a:pt x="0" y="4920856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77383" y="4576060"/>
            <a:ext cx="982344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20" dirty="0">
                <a:solidFill>
                  <a:srgbClr val="0E2C4B"/>
                </a:solidFill>
                <a:latin typeface="Carlito"/>
                <a:cs typeface="Carlito"/>
              </a:rPr>
              <a:t>HTTP</a:t>
            </a:r>
            <a:endParaRPr sz="345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1958" y="7167813"/>
            <a:ext cx="991869" cy="113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50" b="1" spc="-35" dirty="0">
                <a:latin typeface="Carlito"/>
                <a:cs typeface="Carlito"/>
              </a:rPr>
              <a:t>VS</a:t>
            </a:r>
            <a:endParaRPr sz="725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110102" y="5338549"/>
            <a:ext cx="6447790" cy="4958715"/>
            <a:chOff x="12110102" y="5338549"/>
            <a:chExt cx="6447790" cy="49587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17955" y="5346402"/>
              <a:ext cx="6431531" cy="49425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114029" y="5342476"/>
              <a:ext cx="6439535" cy="4950460"/>
            </a:xfrm>
            <a:custGeom>
              <a:avLst/>
              <a:gdLst/>
              <a:ahLst/>
              <a:cxnLst/>
              <a:rect l="l" t="t" r="r" b="b"/>
              <a:pathLst>
                <a:path w="6439534" h="4950459">
                  <a:moveTo>
                    <a:pt x="0" y="0"/>
                  </a:moveTo>
                  <a:lnTo>
                    <a:pt x="6439424" y="0"/>
                  </a:lnTo>
                  <a:lnTo>
                    <a:pt x="6439424" y="4950406"/>
                  </a:lnTo>
                  <a:lnTo>
                    <a:pt x="0" y="4950406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738264" y="4483079"/>
            <a:ext cx="119062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0E2C4B"/>
                </a:solidFill>
                <a:latin typeface="Carlito"/>
                <a:cs typeface="Carlito"/>
              </a:rPr>
              <a:t>HTTPS</a:t>
            </a:r>
            <a:endParaRPr sz="34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6856710" cy="20358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085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Design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weaknesses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75" dirty="0">
                <a:solidFill>
                  <a:srgbClr val="0E2C4B"/>
                </a:solidFill>
                <a:latin typeface="Carlito"/>
                <a:cs typeface="Carlito"/>
              </a:rPr>
              <a:t>forgotten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functionality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usually </a:t>
            </a: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make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80" dirty="0">
                <a:solidFill>
                  <a:srgbClr val="0E2C4B"/>
                </a:solidFill>
                <a:latin typeface="Carlito"/>
                <a:cs typeface="Carlito"/>
              </a:rPr>
              <a:t>weakest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link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that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can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be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used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0" dirty="0">
                <a:solidFill>
                  <a:srgbClr val="0E2C4B"/>
                </a:solidFill>
                <a:latin typeface="Carlito"/>
                <a:cs typeface="Carlito"/>
              </a:rPr>
              <a:t>attack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55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45" dirty="0">
                <a:solidFill>
                  <a:srgbClr val="0E2C4B"/>
                </a:solidFill>
                <a:latin typeface="Carlito"/>
                <a:cs typeface="Carlito"/>
              </a:rPr>
              <a:t>ppli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55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4950" spc="45" dirty="0">
                <a:solidFill>
                  <a:srgbClr val="0E2C4B"/>
                </a:solidFill>
                <a:latin typeface="Carlito"/>
                <a:cs typeface="Carlito"/>
              </a:rPr>
              <a:t>io</a:t>
            </a:r>
            <a:r>
              <a:rPr sz="4950" spc="55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4950" spc="-575" dirty="0">
                <a:solidFill>
                  <a:srgbClr val="0E2C4B"/>
                </a:solidFill>
                <a:latin typeface="Carlito"/>
                <a:cs typeface="Carlito"/>
              </a:rPr>
              <a:t>’</a:t>
            </a:r>
            <a:r>
              <a:rPr sz="4950" spc="5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950" spc="-1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0" dirty="0">
                <a:solidFill>
                  <a:srgbClr val="0E2C4B"/>
                </a:solidFill>
                <a:latin typeface="Carlito"/>
                <a:cs typeface="Carlito"/>
              </a:rPr>
              <a:t>overall</a:t>
            </a:r>
            <a:r>
              <a:rPr sz="4950" spc="-1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4950" spc="-1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logic.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Insecure</a:t>
            </a:r>
            <a:r>
              <a:rPr sz="7250" spc="-370" dirty="0"/>
              <a:t> </a:t>
            </a:r>
            <a:r>
              <a:rPr sz="7250" spc="-30" dirty="0"/>
              <a:t>Forgot</a:t>
            </a:r>
            <a:r>
              <a:rPr sz="7250" spc="-350" dirty="0"/>
              <a:t> </a:t>
            </a:r>
            <a:r>
              <a:rPr sz="7250" spc="-70" dirty="0"/>
              <a:t>Password</a:t>
            </a:r>
            <a:r>
              <a:rPr sz="7250" spc="-340" dirty="0"/>
              <a:t> </a:t>
            </a:r>
            <a:r>
              <a:rPr sz="7250" spc="-10" dirty="0"/>
              <a:t>Functionality</a:t>
            </a:r>
            <a:endParaRPr sz="725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379542" y="5290791"/>
            <a:ext cx="10513695" cy="5041900"/>
            <a:chOff x="4379542" y="5290791"/>
            <a:chExt cx="10513695" cy="50419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7786" y="5407114"/>
              <a:ext cx="10304645" cy="48148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83468" y="5294718"/>
              <a:ext cx="10505440" cy="5033645"/>
            </a:xfrm>
            <a:custGeom>
              <a:avLst/>
              <a:gdLst/>
              <a:ahLst/>
              <a:cxnLst/>
              <a:rect l="l" t="t" r="r" b="b"/>
              <a:pathLst>
                <a:path w="10505440" h="5033645">
                  <a:moveTo>
                    <a:pt x="0" y="0"/>
                  </a:moveTo>
                  <a:lnTo>
                    <a:pt x="10505353" y="0"/>
                  </a:lnTo>
                  <a:lnTo>
                    <a:pt x="10505353" y="5033637"/>
                  </a:lnTo>
                  <a:lnTo>
                    <a:pt x="0" y="5033637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174496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Insecure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implementation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M</a:t>
            </a:r>
            <a:r>
              <a:rPr sz="4950" spc="-575" dirty="0">
                <a:solidFill>
                  <a:srgbClr val="0E2C4B"/>
                </a:solidFill>
                <a:latin typeface="Carlito"/>
                <a:cs typeface="Carlito"/>
              </a:rPr>
              <a:t>F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function.</a:t>
            </a:r>
            <a:endParaRPr sz="495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35" dirty="0"/>
              <a:t>Defects</a:t>
            </a:r>
            <a:r>
              <a:rPr sz="7250" spc="-190" dirty="0"/>
              <a:t> </a:t>
            </a:r>
            <a:r>
              <a:rPr sz="7250" dirty="0"/>
              <a:t>in</a:t>
            </a:r>
            <a:r>
              <a:rPr sz="7250" spc="-185" dirty="0"/>
              <a:t> </a:t>
            </a:r>
            <a:r>
              <a:rPr sz="7250" spc="-25" dirty="0"/>
              <a:t>Multistage</a:t>
            </a:r>
            <a:r>
              <a:rPr sz="7250" spc="-190" dirty="0"/>
              <a:t> </a:t>
            </a:r>
            <a:r>
              <a:rPr sz="7250" dirty="0"/>
              <a:t>Login</a:t>
            </a:r>
            <a:r>
              <a:rPr sz="7250" spc="-185" dirty="0"/>
              <a:t> </a:t>
            </a:r>
            <a:r>
              <a:rPr sz="7250" spc="-10" dirty="0"/>
              <a:t>Mechanism</a:t>
            </a:r>
            <a:endParaRPr sz="7250" dirty="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09194" y="4836732"/>
            <a:ext cx="8256270" cy="2367915"/>
            <a:chOff x="909194" y="4836732"/>
            <a:chExt cx="8256270" cy="2367915"/>
          </a:xfrm>
        </p:grpSpPr>
        <p:sp>
          <p:nvSpPr>
            <p:cNvPr id="9" name="object 9"/>
            <p:cNvSpPr/>
            <p:nvPr/>
          </p:nvSpPr>
          <p:spPr>
            <a:xfrm>
              <a:off x="913120" y="4840658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8248348" y="0"/>
                  </a:moveTo>
                  <a:lnTo>
                    <a:pt x="0" y="0"/>
                  </a:lnTo>
                  <a:lnTo>
                    <a:pt x="0" y="2359928"/>
                  </a:lnTo>
                  <a:lnTo>
                    <a:pt x="8248348" y="2359928"/>
                  </a:lnTo>
                  <a:lnTo>
                    <a:pt x="824834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3120" y="4840658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0" y="0"/>
                  </a:moveTo>
                  <a:lnTo>
                    <a:pt x="8248341" y="0"/>
                  </a:lnTo>
                  <a:lnTo>
                    <a:pt x="8248341" y="2359924"/>
                  </a:lnTo>
                  <a:lnTo>
                    <a:pt x="0" y="2359924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8504" y="6763124"/>
              <a:ext cx="3396615" cy="377190"/>
            </a:xfrm>
            <a:custGeom>
              <a:avLst/>
              <a:gdLst/>
              <a:ahLst/>
              <a:cxnLst/>
              <a:rect l="l" t="t" r="r" b="b"/>
              <a:pathLst>
                <a:path w="3396615" h="377190">
                  <a:moveTo>
                    <a:pt x="2037892" y="0"/>
                  </a:moveTo>
                  <a:lnTo>
                    <a:pt x="0" y="0"/>
                  </a:lnTo>
                  <a:lnTo>
                    <a:pt x="0" y="376948"/>
                  </a:lnTo>
                  <a:lnTo>
                    <a:pt x="2037892" y="376948"/>
                  </a:lnTo>
                  <a:lnTo>
                    <a:pt x="2037892" y="0"/>
                  </a:lnTo>
                  <a:close/>
                </a:path>
                <a:path w="3396615" h="377190">
                  <a:moveTo>
                    <a:pt x="3396500" y="0"/>
                  </a:moveTo>
                  <a:lnTo>
                    <a:pt x="2037905" y="0"/>
                  </a:lnTo>
                  <a:lnTo>
                    <a:pt x="2037905" y="376948"/>
                  </a:lnTo>
                  <a:lnTo>
                    <a:pt x="3396500" y="376948"/>
                  </a:lnTo>
                  <a:lnTo>
                    <a:pt x="3396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20686" y="4834901"/>
            <a:ext cx="6126480" cy="927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6060" marR="5080" indent="-226695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/login-steps/first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HTTP/1.1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vulnerable-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website.com</a:t>
            </a:r>
            <a:endParaRPr sz="295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8511" y="4834901"/>
            <a:ext cx="1144905" cy="1377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20" dirty="0">
                <a:solidFill>
                  <a:srgbClr val="333332"/>
                </a:solidFill>
                <a:latin typeface="Courier New"/>
                <a:cs typeface="Courier New"/>
              </a:rPr>
              <a:t>POST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Host: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950" spc="-25" dirty="0">
                <a:solidFill>
                  <a:srgbClr val="333332"/>
                </a:solidFill>
                <a:latin typeface="Courier New"/>
                <a:cs typeface="Courier New"/>
              </a:rPr>
              <a:t>...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8511" y="6634218"/>
            <a:ext cx="703262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username=carlos&amp;password=qwerty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937415" y="4836732"/>
            <a:ext cx="8256270" cy="2367915"/>
            <a:chOff x="10937415" y="4836732"/>
            <a:chExt cx="8256270" cy="2367915"/>
          </a:xfrm>
        </p:grpSpPr>
        <p:sp>
          <p:nvSpPr>
            <p:cNvPr id="16" name="object 16"/>
            <p:cNvSpPr/>
            <p:nvPr/>
          </p:nvSpPr>
          <p:spPr>
            <a:xfrm>
              <a:off x="10941341" y="4840658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8248335" y="0"/>
                  </a:moveTo>
                  <a:lnTo>
                    <a:pt x="0" y="0"/>
                  </a:lnTo>
                  <a:lnTo>
                    <a:pt x="0" y="2359928"/>
                  </a:lnTo>
                  <a:lnTo>
                    <a:pt x="8248335" y="2359928"/>
                  </a:lnTo>
                  <a:lnTo>
                    <a:pt x="824833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41341" y="4840658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0" y="0"/>
                  </a:moveTo>
                  <a:lnTo>
                    <a:pt x="8248341" y="0"/>
                  </a:lnTo>
                  <a:lnTo>
                    <a:pt x="8248341" y="2359924"/>
                  </a:lnTo>
                  <a:lnTo>
                    <a:pt x="0" y="2359924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016732" y="4834901"/>
            <a:ext cx="7485380" cy="927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POST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/login-steps/second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HTTP/1.1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Host: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vuln-website.com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Cookie: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16732" y="5862617"/>
            <a:ext cx="3183255" cy="3771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0"/>
              </a:lnSpc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account=carlos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16732" y="6184388"/>
            <a:ext cx="5447665" cy="9404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25" dirty="0">
                <a:solidFill>
                  <a:srgbClr val="333332"/>
                </a:solidFill>
                <a:latin typeface="Courier New"/>
                <a:cs typeface="Courier New"/>
              </a:rPr>
              <a:t>...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verification-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code=123456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63765" y="3896290"/>
            <a:ext cx="21475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00" b="1" spc="-25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3700" b="1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700" b="1" spc="-50" dirty="0">
                <a:solidFill>
                  <a:srgbClr val="0E2C4B"/>
                </a:solidFill>
                <a:latin typeface="Carlito"/>
                <a:cs typeface="Carlito"/>
              </a:rPr>
              <a:t>1</a:t>
            </a:r>
            <a:endParaRPr sz="37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74835" y="3994717"/>
            <a:ext cx="238125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b="1" spc="-20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4100" b="1" spc="-20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b="1" spc="-50" dirty="0">
                <a:solidFill>
                  <a:srgbClr val="0E2C4B"/>
                </a:solidFill>
                <a:latin typeface="Carlito"/>
                <a:cs typeface="Carlito"/>
              </a:rPr>
              <a:t>2</a:t>
            </a:r>
            <a:endParaRPr sz="41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2145" y="7683188"/>
            <a:ext cx="16012794" cy="2689860"/>
          </a:xfrm>
          <a:prstGeom prst="rect">
            <a:avLst/>
          </a:prstGeom>
        </p:spPr>
        <p:txBody>
          <a:bodyPr vert="horz" wrap="square" lIns="0" tIns="392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0"/>
              </a:spcBef>
            </a:pPr>
            <a:r>
              <a:rPr sz="4500" b="1" dirty="0">
                <a:solidFill>
                  <a:srgbClr val="0E2C4B"/>
                </a:solidFill>
                <a:latin typeface="Carlito"/>
                <a:cs typeface="Carlito"/>
              </a:rPr>
              <a:t>How</a:t>
            </a:r>
            <a:r>
              <a:rPr sz="4500" b="1" spc="-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500" b="1" dirty="0">
                <a:solidFill>
                  <a:srgbClr val="0E2C4B"/>
                </a:solidFill>
                <a:latin typeface="Carlito"/>
                <a:cs typeface="Carlito"/>
              </a:rPr>
              <a:t>can</a:t>
            </a:r>
            <a:r>
              <a:rPr sz="4500" b="1" spc="-1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500" b="1" dirty="0">
                <a:solidFill>
                  <a:srgbClr val="0E2C4B"/>
                </a:solidFill>
                <a:latin typeface="Carlito"/>
                <a:cs typeface="Carlito"/>
              </a:rPr>
              <a:t>this</a:t>
            </a:r>
            <a:r>
              <a:rPr sz="4500" b="1" spc="-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500" b="1" dirty="0">
                <a:solidFill>
                  <a:srgbClr val="0E2C4B"/>
                </a:solidFill>
                <a:latin typeface="Carlito"/>
                <a:cs typeface="Carlito"/>
              </a:rPr>
              <a:t>be</a:t>
            </a:r>
            <a:r>
              <a:rPr sz="4500" b="1" spc="-10" dirty="0">
                <a:solidFill>
                  <a:srgbClr val="0E2C4B"/>
                </a:solidFill>
                <a:latin typeface="Carlito"/>
                <a:cs typeface="Carlito"/>
              </a:rPr>
              <a:t> exploited?</a:t>
            </a:r>
            <a:endParaRPr sz="4500" dirty="0">
              <a:latin typeface="Carlito"/>
              <a:cs typeface="Carlito"/>
            </a:endParaRPr>
          </a:p>
          <a:p>
            <a:pPr marL="42545" marR="5080">
              <a:lnSpc>
                <a:spcPct val="100499"/>
              </a:lnSpc>
              <a:spcBef>
                <a:spcPts val="2690"/>
              </a:spcBef>
            </a:pP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Change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spc="-204" dirty="0">
                <a:solidFill>
                  <a:srgbClr val="0E2C4B"/>
                </a:solidFill>
                <a:latin typeface="Carlito"/>
                <a:cs typeface="Carlito"/>
              </a:rPr>
              <a:t>“</a:t>
            </a:r>
            <a:r>
              <a:rPr sz="4100" spc="1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100" spc="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4100" spc="-6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4100" spc="10" dirty="0">
                <a:solidFill>
                  <a:srgbClr val="0E2C4B"/>
                </a:solidFill>
                <a:latin typeface="Carlito"/>
                <a:cs typeface="Carlito"/>
              </a:rPr>
              <a:t>o</a:t>
            </a:r>
            <a:r>
              <a:rPr sz="4100" spc="5" dirty="0">
                <a:solidFill>
                  <a:srgbClr val="0E2C4B"/>
                </a:solidFill>
                <a:latin typeface="Carlito"/>
                <a:cs typeface="Carlito"/>
              </a:rPr>
              <a:t>u</a:t>
            </a:r>
            <a:r>
              <a:rPr sz="4100" spc="-70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4100" spc="30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4100" spc="10" dirty="0">
                <a:solidFill>
                  <a:srgbClr val="0E2C4B"/>
                </a:solidFill>
                <a:latin typeface="Carlito"/>
                <a:cs typeface="Carlito"/>
              </a:rPr>
              <a:t>”</a:t>
            </a:r>
            <a:r>
              <a:rPr sz="410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cookie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vi</a:t>
            </a:r>
            <a:r>
              <a:rPr sz="4100" spc="15" dirty="0">
                <a:solidFill>
                  <a:srgbClr val="0E2C4B"/>
                </a:solidFill>
                <a:latin typeface="Carlito"/>
                <a:cs typeface="Carlito"/>
              </a:rPr>
              <a:t>ct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im</a:t>
            </a:r>
            <a:r>
              <a:rPr sz="4100" spc="-495" dirty="0">
                <a:solidFill>
                  <a:srgbClr val="0E2C4B"/>
                </a:solidFill>
                <a:latin typeface="Carlito"/>
                <a:cs typeface="Carlito"/>
              </a:rPr>
              <a:t>’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10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r>
              <a:rPr sz="410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410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dirty="0">
                <a:solidFill>
                  <a:srgbClr val="0E2C4B"/>
                </a:solidFill>
                <a:latin typeface="Carlito"/>
                <a:cs typeface="Carlito"/>
              </a:rPr>
              <a:t>compromise</a:t>
            </a:r>
            <a:r>
              <a:rPr sz="410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spc="-25" dirty="0">
                <a:solidFill>
                  <a:srgbClr val="0E2C4B"/>
                </a:solidFill>
                <a:latin typeface="Carlito"/>
                <a:cs typeface="Carlito"/>
              </a:rPr>
              <a:t>the 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vi</a:t>
            </a:r>
            <a:r>
              <a:rPr sz="4100" spc="15" dirty="0">
                <a:solidFill>
                  <a:srgbClr val="0E2C4B"/>
                </a:solidFill>
                <a:latin typeface="Carlito"/>
                <a:cs typeface="Carlito"/>
              </a:rPr>
              <a:t>ct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im</a:t>
            </a:r>
            <a:r>
              <a:rPr sz="4100" spc="-495" dirty="0">
                <a:solidFill>
                  <a:srgbClr val="0E2C4B"/>
                </a:solidFill>
                <a:latin typeface="Carlito"/>
                <a:cs typeface="Carlito"/>
              </a:rPr>
              <a:t>’</a:t>
            </a:r>
            <a:r>
              <a:rPr sz="4100" spc="20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10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spc="-10" dirty="0">
                <a:solidFill>
                  <a:srgbClr val="0E2C4B"/>
                </a:solidFill>
                <a:latin typeface="Carlito"/>
                <a:cs typeface="Carlito"/>
              </a:rPr>
              <a:t>account.</a:t>
            </a:r>
            <a:endParaRPr sz="4100" dirty="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28526" y="6085490"/>
            <a:ext cx="1045844" cy="188595"/>
          </a:xfrm>
          <a:custGeom>
            <a:avLst/>
            <a:gdLst/>
            <a:ahLst/>
            <a:cxnLst/>
            <a:rect l="l" t="t" r="r" b="b"/>
            <a:pathLst>
              <a:path w="1045845" h="188595">
                <a:moveTo>
                  <a:pt x="857261" y="0"/>
                </a:moveTo>
                <a:lnTo>
                  <a:pt x="857261" y="188475"/>
                </a:lnTo>
                <a:lnTo>
                  <a:pt x="982891" y="125650"/>
                </a:lnTo>
                <a:lnTo>
                  <a:pt x="888674" y="125650"/>
                </a:lnTo>
                <a:lnTo>
                  <a:pt x="888674" y="62825"/>
                </a:lnTo>
                <a:lnTo>
                  <a:pt x="982891" y="62825"/>
                </a:lnTo>
                <a:lnTo>
                  <a:pt x="857261" y="0"/>
                </a:lnTo>
                <a:close/>
              </a:path>
              <a:path w="1045845" h="188595">
                <a:moveTo>
                  <a:pt x="857261" y="62825"/>
                </a:moveTo>
                <a:lnTo>
                  <a:pt x="0" y="62825"/>
                </a:lnTo>
                <a:lnTo>
                  <a:pt x="0" y="125650"/>
                </a:lnTo>
                <a:lnTo>
                  <a:pt x="857261" y="125650"/>
                </a:lnTo>
                <a:lnTo>
                  <a:pt x="857261" y="62825"/>
                </a:lnTo>
                <a:close/>
              </a:path>
              <a:path w="1045845" h="188595">
                <a:moveTo>
                  <a:pt x="982891" y="62825"/>
                </a:moveTo>
                <a:lnTo>
                  <a:pt x="888674" y="62825"/>
                </a:lnTo>
                <a:lnTo>
                  <a:pt x="888674" y="125650"/>
                </a:lnTo>
                <a:lnTo>
                  <a:pt x="982891" y="125650"/>
                </a:lnTo>
                <a:lnTo>
                  <a:pt x="1045706" y="94237"/>
                </a:lnTo>
                <a:lnTo>
                  <a:pt x="982891" y="62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1" grpId="0"/>
      <p:bldP spid="23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145" y="2641041"/>
            <a:ext cx="17027525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Uses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plain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text,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encrypted,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weekly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hashed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data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stores.</a:t>
            </a:r>
            <a:endParaRPr sz="49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Insecure</a:t>
            </a:r>
            <a:r>
              <a:rPr sz="7250" spc="-250" dirty="0"/>
              <a:t> </a:t>
            </a:r>
            <a:r>
              <a:rPr sz="7250" spc="-40" dirty="0"/>
              <a:t>Storage</a:t>
            </a:r>
            <a:r>
              <a:rPr sz="7250" spc="-245" dirty="0"/>
              <a:t> </a:t>
            </a:r>
            <a:r>
              <a:rPr sz="7250" dirty="0"/>
              <a:t>of</a:t>
            </a:r>
            <a:r>
              <a:rPr sz="7250" spc="-240" dirty="0"/>
              <a:t> </a:t>
            </a:r>
            <a:r>
              <a:rPr sz="7250" spc="-10" dirty="0"/>
              <a:t>Credentials</a:t>
            </a:r>
            <a:endParaRPr sz="725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23517" y="4677051"/>
          <a:ext cx="16259810" cy="3994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b="1" spc="-10" dirty="0">
                          <a:latin typeface="Carlito"/>
                          <a:cs typeface="Carlito"/>
                        </a:rPr>
                        <a:t>Algorithm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b="1" spc="-10" dirty="0">
                          <a:latin typeface="Carlito"/>
                          <a:cs typeface="Carlito"/>
                        </a:rPr>
                        <a:t>Password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20" dirty="0">
                          <a:latin typeface="Carlito"/>
                          <a:cs typeface="Carlito"/>
                        </a:rPr>
                        <a:t>None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Password1!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dirty="0">
                          <a:latin typeface="Carlito"/>
                          <a:cs typeface="Carlito"/>
                        </a:rPr>
                        <a:t>AES256</a:t>
                      </a:r>
                      <a:r>
                        <a:rPr sz="39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3950" dirty="0">
                          <a:latin typeface="Carlito"/>
                          <a:cs typeface="Carlito"/>
                        </a:rPr>
                        <a:t>and</a:t>
                      </a:r>
                      <a:r>
                        <a:rPr sz="395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3950" spc="-25" dirty="0">
                          <a:latin typeface="Carlito"/>
                          <a:cs typeface="Carlito"/>
                        </a:rPr>
                        <a:t>B64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jc2ZRviEVUuLV7Ljc2q7YQ==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25" dirty="0">
                          <a:latin typeface="Carlito"/>
                          <a:cs typeface="Carlito"/>
                        </a:rPr>
                        <a:t>MD5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0cef1fb10f60529028a71f58e54ed07b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143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SHA256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1D707811988069CA760826861D6D63A10E8C3B7F171C444</a:t>
                      </a:r>
                      <a:endParaRPr sz="3950">
                        <a:latin typeface="Carlito"/>
                        <a:cs typeface="Carlito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3950" spc="-10" dirty="0">
                          <a:latin typeface="Carlito"/>
                          <a:cs typeface="Carlito"/>
                        </a:rPr>
                        <a:t>1A6472EA58C11711B</a:t>
                      </a:r>
                      <a:endParaRPr sz="3950">
                        <a:latin typeface="Carlito"/>
                        <a:cs typeface="Carlito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2313" y="5277326"/>
            <a:ext cx="756416" cy="226171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2313" y="7692331"/>
            <a:ext cx="756416" cy="7564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73" y="10984022"/>
            <a:ext cx="321587" cy="3215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dirty="0"/>
              <a:t>Impact</a:t>
            </a:r>
            <a:r>
              <a:rPr spc="-140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Authentication</a:t>
            </a:r>
            <a:r>
              <a:rPr spc="-130" dirty="0"/>
              <a:t> </a:t>
            </a:r>
            <a:r>
              <a:rPr spc="-30" dirty="0"/>
              <a:t>Vulnerabilities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77104" y="2651093"/>
            <a:ext cx="15652115" cy="454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indent="-379095">
              <a:lnSpc>
                <a:spcPts val="5940"/>
              </a:lnSpc>
              <a:spcBef>
                <a:spcPts val="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Unauthorized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access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application.</a:t>
            </a:r>
            <a:endParaRPr sz="4950">
              <a:latin typeface="Carlito"/>
              <a:cs typeface="Carlito"/>
            </a:endParaRPr>
          </a:p>
          <a:p>
            <a:pPr marL="768350" lvl="1" indent="-379095">
              <a:lnSpc>
                <a:spcPts val="5935"/>
              </a:lnSpc>
              <a:buFont typeface="Arial"/>
              <a:buChar char="•"/>
              <a:tabLst>
                <a:tab pos="768350" algn="l"/>
              </a:tabLst>
            </a:pPr>
            <a:r>
              <a:rPr sz="4950" b="1" spc="-20" dirty="0">
                <a:solidFill>
                  <a:srgbClr val="ED7D31"/>
                </a:solidFill>
                <a:latin typeface="Carlito"/>
                <a:cs typeface="Carlito"/>
              </a:rPr>
              <a:t>C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onfidentiality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–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Access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other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users’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data.</a:t>
            </a:r>
            <a:endParaRPr sz="4950">
              <a:latin typeface="Carlito"/>
              <a:cs typeface="Carlito"/>
            </a:endParaRPr>
          </a:p>
          <a:p>
            <a:pPr marL="768350" lvl="1" indent="-379095">
              <a:lnSpc>
                <a:spcPts val="5935"/>
              </a:lnSpc>
              <a:buFont typeface="Arial"/>
              <a:buChar char="•"/>
              <a:tabLst>
                <a:tab pos="768350" algn="l"/>
              </a:tabLst>
            </a:pPr>
            <a:r>
              <a:rPr sz="4950" b="1" spc="-10" dirty="0">
                <a:solidFill>
                  <a:srgbClr val="ED7D31"/>
                </a:solidFill>
                <a:latin typeface="Carlito"/>
                <a:cs typeface="Carlito"/>
              </a:rPr>
              <a:t>I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ntegrity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–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Access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update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other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users’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data</a:t>
            </a:r>
            <a:endParaRPr sz="4950">
              <a:latin typeface="Carlito"/>
              <a:cs typeface="Carlito"/>
            </a:endParaRPr>
          </a:p>
          <a:p>
            <a:pPr marL="768350" lvl="1" indent="-379095">
              <a:lnSpc>
                <a:spcPts val="5935"/>
              </a:lnSpc>
              <a:buFont typeface="Arial"/>
              <a:buChar char="•"/>
              <a:tabLst>
                <a:tab pos="768350" algn="l"/>
              </a:tabLst>
            </a:pPr>
            <a:r>
              <a:rPr sz="4950" b="1" spc="-10" dirty="0">
                <a:solidFill>
                  <a:srgbClr val="ED7D31"/>
                </a:solidFill>
                <a:latin typeface="Carlito"/>
                <a:cs typeface="Carlito"/>
              </a:rPr>
              <a:t>A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vailability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–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Access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delete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users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their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data.</a:t>
            </a:r>
            <a:endParaRPr sz="4950">
              <a:latin typeface="Carlito"/>
              <a:cs typeface="Carlito"/>
            </a:endParaRPr>
          </a:p>
          <a:p>
            <a:pPr marL="391795" marR="5080" indent="-379730">
              <a:lnSpc>
                <a:spcPts val="5940"/>
              </a:lnSpc>
              <a:spcBef>
                <a:spcPts val="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Can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sometimes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be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chained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other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vulnerabilities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gain remote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code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execution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host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operating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system.</a:t>
            </a:r>
            <a:endParaRPr sz="4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621709" y="3141831"/>
          <a:ext cx="17034509" cy="730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9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2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950" b="1" spc="-10" dirty="0">
                          <a:latin typeface="Arial"/>
                          <a:cs typeface="Arial"/>
                        </a:rPr>
                        <a:t>OWASP</a:t>
                      </a:r>
                      <a:r>
                        <a:rPr sz="2950" b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10" dirty="0">
                          <a:latin typeface="Arial"/>
                          <a:cs typeface="Arial"/>
                        </a:rPr>
                        <a:t>Top</a:t>
                      </a:r>
                      <a:r>
                        <a:rPr sz="295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295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95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20" dirty="0">
                          <a:latin typeface="Arial"/>
                          <a:cs typeface="Arial"/>
                        </a:rPr>
                        <a:t>2013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950" b="1" spc="-10" dirty="0">
                          <a:latin typeface="Arial"/>
                          <a:cs typeface="Arial"/>
                        </a:rPr>
                        <a:t>OWASP</a:t>
                      </a:r>
                      <a:r>
                        <a:rPr sz="2950" b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10" dirty="0">
                          <a:latin typeface="Arial"/>
                          <a:cs typeface="Arial"/>
                        </a:rPr>
                        <a:t>Top</a:t>
                      </a:r>
                      <a:r>
                        <a:rPr sz="295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295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95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20" dirty="0">
                          <a:latin typeface="Arial"/>
                          <a:cs typeface="Arial"/>
                        </a:rPr>
                        <a:t>2017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950" b="1" spc="-10" dirty="0">
                          <a:latin typeface="Arial"/>
                          <a:cs typeface="Arial"/>
                        </a:rPr>
                        <a:t>OWASP</a:t>
                      </a:r>
                      <a:r>
                        <a:rPr sz="2950" b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10" dirty="0">
                          <a:latin typeface="Arial"/>
                          <a:cs typeface="Arial"/>
                        </a:rPr>
                        <a:t>Top</a:t>
                      </a:r>
                      <a:r>
                        <a:rPr sz="295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295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95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50" b="1" spc="-20" dirty="0">
                          <a:latin typeface="Arial"/>
                          <a:cs typeface="Arial"/>
                        </a:rPr>
                        <a:t>2021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Injection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Injection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9819">
                      <a:solidFill>
                        <a:srgbClr val="FFF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Broken</a:t>
                      </a:r>
                      <a:r>
                        <a:rPr sz="245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Control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430">
                <a:tc>
                  <a:txBody>
                    <a:bodyPr/>
                    <a:lstStyle/>
                    <a:p>
                      <a:pPr marL="74930" marR="617220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Broken</a:t>
                      </a:r>
                      <a:r>
                        <a:rPr sz="245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Authentication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Session Management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A3 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Cross-Site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Scripting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(XSS)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7620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Broken</a:t>
                      </a:r>
                      <a:r>
                        <a:rPr sz="24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Authentication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Sensitive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Exposure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9819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Cryptographic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Failures</a:t>
                      </a:r>
                      <a:endParaRPr sz="24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45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Injection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Insecure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Direct</a:t>
                      </a:r>
                      <a:r>
                        <a:rPr sz="24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245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References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XML</a:t>
                      </a:r>
                      <a:r>
                        <a:rPr sz="245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External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Entities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(XXE)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Insecure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Design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Security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Misconfiguration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Broken</a:t>
                      </a:r>
                      <a:r>
                        <a:rPr sz="245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Control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Security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Misconfiguration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Sensitive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Exposure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Security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Misconfiguration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1302385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24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Vulnerable</a:t>
                      </a:r>
                      <a:r>
                        <a:rPr sz="24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4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Outdated Components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Missing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Function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24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Control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A7 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Cross-Site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Scripting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(XSS)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349885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Identification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45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Authentication Failures</a:t>
                      </a:r>
                      <a:endParaRPr sz="2450" dirty="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00"/>
                      </a:solidFill>
                      <a:prstDash val="solid"/>
                    </a:lnL>
                    <a:lnR w="12700">
                      <a:solidFill>
                        <a:srgbClr val="FFFF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A8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Cross-Site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Forgery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(CSRF)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A8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Insecure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Deserialization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975994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A8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Software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 Data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Integrity Failures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74930" marR="1123315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A9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Using Components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Known Vulnerabilities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1015365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A9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Using Components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Known</a:t>
                      </a:r>
                      <a:r>
                        <a:rPr sz="24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Vulnerabilities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281940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A9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Security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Logging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Monitoring Failures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A10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Unvalidated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Redirects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Forwards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1160145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A10</a:t>
                      </a:r>
                      <a:r>
                        <a:rPr sz="24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Insufficient</a:t>
                      </a:r>
                      <a:r>
                        <a:rPr sz="24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Logging</a:t>
                      </a:r>
                      <a:r>
                        <a:rPr sz="24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50" dirty="0">
                          <a:latin typeface="Arial"/>
                          <a:cs typeface="Arial"/>
                        </a:rPr>
                        <a:t>&amp;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Monitoring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524510">
                        <a:lnSpc>
                          <a:spcPct val="101000"/>
                        </a:lnSpc>
                        <a:spcBef>
                          <a:spcPts val="204"/>
                        </a:spcBef>
                      </a:pPr>
                      <a:r>
                        <a:rPr sz="2450" dirty="0">
                          <a:latin typeface="Arial"/>
                          <a:cs typeface="Arial"/>
                        </a:rPr>
                        <a:t>A10</a:t>
                      </a:r>
                      <a:r>
                        <a:rPr sz="24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Server-Side</a:t>
                      </a:r>
                      <a:r>
                        <a:rPr sz="24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24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50" spc="-10" dirty="0">
                          <a:latin typeface="Arial"/>
                          <a:cs typeface="Arial"/>
                        </a:rPr>
                        <a:t>Forgery (SSRF)</a:t>
                      </a:r>
                      <a:endParaRPr sz="2450" dirty="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3430" y="983771"/>
            <a:ext cx="3069749" cy="10872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100" dirty="0"/>
              <a:t>O</a:t>
            </a:r>
            <a:r>
              <a:rPr spc="-680" dirty="0"/>
              <a:t>W</a:t>
            </a:r>
            <a:r>
              <a:rPr spc="55" dirty="0"/>
              <a:t>A</a:t>
            </a:r>
            <a:r>
              <a:rPr spc="65" dirty="0"/>
              <a:t>SP</a:t>
            </a:r>
            <a:r>
              <a:rPr spc="-315" dirty="0"/>
              <a:t> </a:t>
            </a:r>
            <a:r>
              <a:rPr spc="-1445" dirty="0"/>
              <a:t>T</a:t>
            </a:r>
            <a:r>
              <a:rPr dirty="0"/>
              <a:t>op</a:t>
            </a:r>
            <a:r>
              <a:rPr spc="10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3465" cy="11308715"/>
            <a:chOff x="0" y="0"/>
            <a:chExt cx="20103465" cy="11308715"/>
          </a:xfrm>
        </p:grpSpPr>
        <p:sp>
          <p:nvSpPr>
            <p:cNvPr id="3" name="object 3"/>
            <p:cNvSpPr/>
            <p:nvPr/>
          </p:nvSpPr>
          <p:spPr>
            <a:xfrm>
              <a:off x="11817964" y="207951"/>
              <a:ext cx="8285480" cy="11101070"/>
            </a:xfrm>
            <a:custGeom>
              <a:avLst/>
              <a:gdLst/>
              <a:ahLst/>
              <a:cxnLst/>
              <a:rect l="l" t="t" r="r" b="b"/>
              <a:pathLst>
                <a:path w="8285480" h="11101070">
                  <a:moveTo>
                    <a:pt x="0" y="0"/>
                  </a:moveTo>
                  <a:lnTo>
                    <a:pt x="8284878" y="0"/>
                  </a:lnTo>
                  <a:lnTo>
                    <a:pt x="8284878" y="11100604"/>
                  </a:lnTo>
                  <a:lnTo>
                    <a:pt x="0" y="11100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06490" y="3480522"/>
              <a:ext cx="4716924" cy="46113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0103465" cy="357505"/>
            </a:xfrm>
            <a:custGeom>
              <a:avLst/>
              <a:gdLst/>
              <a:ahLst/>
              <a:cxnLst/>
              <a:rect l="l" t="t" r="r" b="b"/>
              <a:pathLst>
                <a:path w="20103465" h="357505">
                  <a:moveTo>
                    <a:pt x="20102843" y="0"/>
                  </a:moveTo>
                  <a:lnTo>
                    <a:pt x="0" y="0"/>
                  </a:lnTo>
                  <a:lnTo>
                    <a:pt x="0" y="357057"/>
                  </a:lnTo>
                  <a:lnTo>
                    <a:pt x="20102843" y="357057"/>
                  </a:lnTo>
                  <a:lnTo>
                    <a:pt x="20102843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20553" y="4499833"/>
            <a:ext cx="9492615" cy="2035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6600" b="1" dirty="0">
                <a:latin typeface="Carlito"/>
                <a:cs typeface="Carlito"/>
              </a:rPr>
              <a:t>HOW</a:t>
            </a:r>
            <a:r>
              <a:rPr sz="6600" b="1" spc="-215" dirty="0">
                <a:latin typeface="Carlito"/>
                <a:cs typeface="Carlito"/>
              </a:rPr>
              <a:t> </a:t>
            </a:r>
            <a:r>
              <a:rPr sz="6600" spc="-90" dirty="0"/>
              <a:t>TO</a:t>
            </a:r>
            <a:r>
              <a:rPr sz="6600" spc="-210" dirty="0"/>
              <a:t> </a:t>
            </a:r>
            <a:r>
              <a:rPr sz="6600" dirty="0"/>
              <a:t>FIND</a:t>
            </a:r>
            <a:r>
              <a:rPr sz="6600" spc="-215" dirty="0"/>
              <a:t> </a:t>
            </a:r>
            <a:r>
              <a:rPr sz="6600" dirty="0"/>
              <a:t>AND</a:t>
            </a:r>
            <a:r>
              <a:rPr sz="6600" spc="-215" dirty="0"/>
              <a:t> </a:t>
            </a:r>
            <a:r>
              <a:rPr sz="6600" spc="-10" dirty="0"/>
              <a:t>EXPLOIT </a:t>
            </a:r>
            <a:r>
              <a:rPr sz="6600" spc="-235" dirty="0"/>
              <a:t>A</a:t>
            </a:r>
            <a:r>
              <a:rPr sz="6600" spc="-15" dirty="0"/>
              <a:t>U</a:t>
            </a:r>
            <a:r>
              <a:rPr sz="6600" spc="-20" dirty="0"/>
              <a:t>T</a:t>
            </a:r>
            <a:r>
              <a:rPr sz="6600" spc="-15" dirty="0"/>
              <a:t>H</a:t>
            </a:r>
            <a:r>
              <a:rPr sz="6600" spc="-10" dirty="0"/>
              <a:t>E</a:t>
            </a:r>
            <a:r>
              <a:rPr sz="6600" spc="-25" dirty="0"/>
              <a:t>N</a:t>
            </a:r>
            <a:r>
              <a:rPr sz="6600" spc="-20" dirty="0"/>
              <a:t>T</a:t>
            </a:r>
            <a:r>
              <a:rPr sz="6600" spc="-15" dirty="0"/>
              <a:t>I</a:t>
            </a:r>
            <a:r>
              <a:rPr sz="6600" spc="-25" dirty="0"/>
              <a:t>C</a:t>
            </a:r>
            <a:r>
              <a:rPr sz="6600" spc="-1090" dirty="0"/>
              <a:t>A</a:t>
            </a:r>
            <a:r>
              <a:rPr sz="6600" spc="-20" dirty="0"/>
              <a:t>T</a:t>
            </a:r>
            <a:r>
              <a:rPr sz="6600" spc="-15" dirty="0"/>
              <a:t>I</a:t>
            </a:r>
            <a:r>
              <a:rPr sz="6600" spc="-25" dirty="0"/>
              <a:t>O</a:t>
            </a:r>
            <a:r>
              <a:rPr sz="6600" spc="-15" dirty="0"/>
              <a:t>N</a:t>
            </a:r>
            <a:r>
              <a:rPr sz="6600" spc="-145" dirty="0"/>
              <a:t> </a:t>
            </a:r>
            <a:r>
              <a:rPr sz="6600" spc="85" dirty="0"/>
              <a:t>FL</a:t>
            </a:r>
            <a:r>
              <a:rPr sz="6600" spc="-450" dirty="0"/>
              <a:t>A</a:t>
            </a:r>
            <a:r>
              <a:rPr sz="6600" spc="20" dirty="0"/>
              <a:t>W</a:t>
            </a:r>
            <a:r>
              <a:rPr sz="6600" spc="85" dirty="0"/>
              <a:t>S</a:t>
            </a:r>
            <a:r>
              <a:rPr sz="6600" spc="95" dirty="0"/>
              <a:t>?</a:t>
            </a:r>
            <a:endParaRPr sz="6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145" y="2766691"/>
            <a:ext cx="9793605" cy="7539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marR="24765" indent="-565785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577850" algn="l"/>
              </a:tabLst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website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description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the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rules.</a:t>
            </a:r>
            <a:endParaRPr sz="3950">
              <a:latin typeface="Carlito"/>
              <a:cs typeface="Carlito"/>
            </a:endParaRPr>
          </a:p>
          <a:p>
            <a:pPr marL="577850" indent="-5651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7785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self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registration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possible,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endParaRPr sz="3950">
              <a:latin typeface="Carlito"/>
              <a:cs typeface="Carlito"/>
            </a:endParaRPr>
          </a:p>
          <a:p>
            <a:pPr marL="577850" marR="5080">
              <a:lnSpc>
                <a:spcPts val="4950"/>
              </a:lnSpc>
              <a:spcBef>
                <a:spcPts val="195"/>
              </a:spcBef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register</a:t>
            </a:r>
            <a:r>
              <a:rPr sz="3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several</a:t>
            </a:r>
            <a:r>
              <a:rPr sz="3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accounts</a:t>
            </a:r>
            <a:r>
              <a:rPr sz="3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3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different</a:t>
            </a:r>
            <a:r>
              <a:rPr sz="3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kinds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weak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passwords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discover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what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rules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are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place.</a:t>
            </a:r>
            <a:endParaRPr sz="3950">
              <a:latin typeface="Carlito"/>
              <a:cs typeface="Carlito"/>
            </a:endParaRPr>
          </a:p>
          <a:p>
            <a:pPr marL="1331595" lvl="1" indent="-565150">
              <a:lnSpc>
                <a:spcPct val="100000"/>
              </a:lnSpc>
              <a:buFont typeface="Wingdings"/>
              <a:buChar char=""/>
              <a:tabLst>
                <a:tab pos="1331595" algn="l"/>
              </a:tabLst>
            </a:pP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Very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short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blank.</a:t>
            </a:r>
            <a:endParaRPr sz="3950">
              <a:latin typeface="Carlito"/>
              <a:cs typeface="Carlito"/>
            </a:endParaRPr>
          </a:p>
          <a:p>
            <a:pPr marL="1331595" lvl="1" indent="-565150">
              <a:lnSpc>
                <a:spcPct val="100000"/>
              </a:lnSpc>
              <a:spcBef>
                <a:spcPts val="210"/>
              </a:spcBef>
              <a:buFont typeface="Wingdings"/>
              <a:buChar char=""/>
              <a:tabLst>
                <a:tab pos="133159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Common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dictionary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words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names.</a:t>
            </a:r>
            <a:endParaRPr sz="3950">
              <a:latin typeface="Carlito"/>
              <a:cs typeface="Carlito"/>
            </a:endParaRPr>
          </a:p>
          <a:p>
            <a:pPr marL="1331595" lvl="1" indent="-565150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1331595" algn="l"/>
              </a:tabLst>
            </a:pP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same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as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username.</a:t>
            </a:r>
            <a:endParaRPr sz="3950">
              <a:latin typeface="Carlito"/>
              <a:cs typeface="Carlito"/>
            </a:endParaRPr>
          </a:p>
          <a:p>
            <a:pPr marL="577850" marR="218440" indent="-565785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57785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control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single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change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possible,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change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the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3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various</a:t>
            </a:r>
            <a:r>
              <a:rPr sz="3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weak</a:t>
            </a:r>
            <a:r>
              <a:rPr sz="3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values.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505" dirty="0"/>
              <a:t>W</a:t>
            </a:r>
            <a:r>
              <a:rPr spc="90" dirty="0"/>
              <a:t>e</a:t>
            </a:r>
            <a:r>
              <a:rPr spc="95" dirty="0"/>
              <a:t>ak</a:t>
            </a:r>
            <a:r>
              <a:rPr spc="-340" dirty="0"/>
              <a:t> </a:t>
            </a:r>
            <a:r>
              <a:rPr spc="-55" dirty="0"/>
              <a:t>Password</a:t>
            </a:r>
            <a:r>
              <a:rPr spc="-335" dirty="0"/>
              <a:t> </a:t>
            </a:r>
            <a:r>
              <a:rPr dirty="0"/>
              <a:t>Complexity</a:t>
            </a:r>
            <a:r>
              <a:rPr spc="-330" dirty="0"/>
              <a:t> </a:t>
            </a:r>
            <a:r>
              <a:rPr spc="-25" dirty="0"/>
              <a:t>Requirements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609594" y="2910277"/>
            <a:ext cx="7654925" cy="7078980"/>
            <a:chOff x="11609594" y="2910277"/>
            <a:chExt cx="7654925" cy="70789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2665" y="3010305"/>
              <a:ext cx="7443059" cy="68669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613521" y="2914204"/>
              <a:ext cx="7647305" cy="7070725"/>
            </a:xfrm>
            <a:custGeom>
              <a:avLst/>
              <a:gdLst/>
              <a:ahLst/>
              <a:cxnLst/>
              <a:rect l="l" t="t" r="r" b="b"/>
              <a:pathLst>
                <a:path w="7647305" h="7070725">
                  <a:moveTo>
                    <a:pt x="0" y="0"/>
                  </a:moveTo>
                  <a:lnTo>
                    <a:pt x="7646808" y="0"/>
                  </a:lnTo>
                  <a:lnTo>
                    <a:pt x="7646808" y="7070720"/>
                  </a:lnTo>
                  <a:lnTo>
                    <a:pt x="0" y="7070720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617312" y="10180078"/>
            <a:ext cx="8218170" cy="6311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5"/>
              </a:spcBef>
            </a:pPr>
            <a:r>
              <a:rPr sz="1950" b="1" dirty="0">
                <a:solidFill>
                  <a:srgbClr val="0E2C4B"/>
                </a:solidFill>
                <a:latin typeface="Carlito"/>
                <a:cs typeface="Carlito"/>
              </a:rPr>
              <a:t>Link:</a:t>
            </a:r>
            <a:r>
              <a:rPr sz="1950" b="1" spc="3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h</a:t>
            </a:r>
            <a:r>
              <a:rPr sz="1950" spc="-6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1950" spc="-15" dirty="0">
                <a:solidFill>
                  <a:srgbClr val="0E2C4B"/>
                </a:solidFill>
                <a:latin typeface="Carlito"/>
                <a:cs typeface="Carlito"/>
              </a:rPr>
              <a:t>p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://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dan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lmi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ssl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1950" spc="-40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om/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b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lo</a:t>
            </a:r>
            <a:r>
              <a:rPr sz="1950" spc="140" dirty="0">
                <a:solidFill>
                  <a:srgbClr val="0E2C4B"/>
                </a:solidFill>
                <a:latin typeface="Carlito"/>
                <a:cs typeface="Carlito"/>
              </a:rPr>
              <a:t>g</a:t>
            </a:r>
            <a:r>
              <a:rPr sz="1950" spc="-75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1950" spc="-3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1950" dirty="0">
                <a:solidFill>
                  <a:srgbClr val="0E2C4B"/>
                </a:solidFill>
                <a:latin typeface="Carlito"/>
                <a:cs typeface="Carlito"/>
              </a:rPr>
              <a:t>asmm</a:t>
            </a:r>
            <a:r>
              <a:rPr sz="1950" spc="5" dirty="0">
                <a:solidFill>
                  <a:srgbClr val="0E2C4B"/>
                </a:solidFill>
                <a:latin typeface="Carlito"/>
                <a:cs typeface="Carlito"/>
              </a:rPr>
              <a:t>-</a:t>
            </a:r>
            <a:r>
              <a:rPr sz="1950" spc="-20" dirty="0">
                <a:solidFill>
                  <a:srgbClr val="0E2C4B"/>
                </a:solidFill>
                <a:latin typeface="Carlito"/>
                <a:cs typeface="Carlito"/>
              </a:rPr>
              <a:t>consumer-</a:t>
            </a:r>
            <a:r>
              <a:rPr sz="1950" spc="-10" dirty="0">
                <a:solidFill>
                  <a:srgbClr val="0E2C4B"/>
                </a:solidFill>
                <a:latin typeface="Carlito"/>
                <a:cs typeface="Carlito"/>
              </a:rPr>
              <a:t>authentication-security- </a:t>
            </a:r>
            <a:r>
              <a:rPr sz="1950" spc="-20" dirty="0">
                <a:solidFill>
                  <a:srgbClr val="0E2C4B"/>
                </a:solidFill>
                <a:latin typeface="Carlito"/>
                <a:cs typeface="Carlito"/>
              </a:rPr>
              <a:t>maturity-</a:t>
            </a:r>
            <a:r>
              <a:rPr sz="1950" spc="-10" dirty="0">
                <a:solidFill>
                  <a:srgbClr val="0E2C4B"/>
                </a:solidFill>
                <a:latin typeface="Carlito"/>
                <a:cs typeface="Carlito"/>
              </a:rPr>
              <a:t>model/</a:t>
            </a:r>
            <a:endParaRPr sz="1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145" y="2766691"/>
            <a:ext cx="12232005" cy="3769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 marR="1315720" indent="-707390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Manually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submit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several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bad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attempts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an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control.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After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10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failed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attempts,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does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not</a:t>
            </a:r>
            <a:endParaRPr sz="3950">
              <a:latin typeface="Carlito"/>
              <a:cs typeface="Carlito"/>
            </a:endParaRPr>
          </a:p>
          <a:p>
            <a:pPr marL="719455" marR="217804">
              <a:lnSpc>
                <a:spcPts val="4950"/>
              </a:lnSpc>
              <a:spcBef>
                <a:spcPts val="90"/>
              </a:spcBef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return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message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about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lockout,</a:t>
            </a:r>
            <a:r>
              <a:rPr sz="3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log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o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l</a:t>
            </a:r>
            <a:r>
              <a:rPr sz="3950" spc="-535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it</a:t>
            </a:r>
            <a:r>
              <a:rPr sz="3950" spc="-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works,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then</a:t>
            </a:r>
            <a:r>
              <a:rPr sz="3950" spc="-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there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no</a:t>
            </a:r>
            <a:r>
              <a:rPr sz="3950" spc="-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lockout mechanism.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2145" y="6536210"/>
            <a:ext cx="11609705" cy="314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73200" marR="426720" indent="-707390">
              <a:lnSpc>
                <a:spcPts val="4950"/>
              </a:lnSpc>
              <a:spcBef>
                <a:spcPts val="95"/>
              </a:spcBef>
              <a:buFont typeface="Wingdings"/>
              <a:buChar char=""/>
              <a:tabLst>
                <a:tab pos="1473200" algn="l"/>
                <a:tab pos="1586865" algn="l"/>
              </a:tabLst>
            </a:pPr>
            <a:r>
              <a:rPr sz="3950" dirty="0">
                <a:solidFill>
                  <a:srgbClr val="0E2C4B"/>
                </a:solidFill>
                <a:latin typeface="Times New Roman"/>
                <a:cs typeface="Times New Roman"/>
              </a:rPr>
              <a:t>	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Run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brute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attack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enumerate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valid password.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72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spc="10" dirty="0">
                <a:solidFill>
                  <a:srgbClr val="0E2C4B"/>
                </a:solidFill>
                <a:latin typeface="Carlito"/>
                <a:cs typeface="Carlito"/>
              </a:rPr>
              <a:t>oo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ls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: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Hydra,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Burp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ud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-69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,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etc.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locked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out,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monitor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endParaRPr sz="3950">
              <a:latin typeface="Carlito"/>
              <a:cs typeface="Carlito"/>
            </a:endParaRPr>
          </a:p>
          <a:p>
            <a:pPr marL="719455" marR="395605">
              <a:lnSpc>
                <a:spcPts val="4950"/>
              </a:lnSpc>
              <a:spcBef>
                <a:spcPts val="95"/>
              </a:spcBef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responses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determine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lockout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mechanism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is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insecure.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Improper</a:t>
            </a:r>
            <a:r>
              <a:rPr sz="7250" spc="-275" dirty="0"/>
              <a:t> </a:t>
            </a:r>
            <a:r>
              <a:rPr sz="7250" spc="-10" dirty="0"/>
              <a:t>Restriction</a:t>
            </a:r>
            <a:r>
              <a:rPr sz="7250" spc="-265" dirty="0"/>
              <a:t> </a:t>
            </a:r>
            <a:r>
              <a:rPr sz="7250" dirty="0"/>
              <a:t>of</a:t>
            </a:r>
            <a:r>
              <a:rPr sz="7250" spc="-265" dirty="0"/>
              <a:t> </a:t>
            </a:r>
            <a:r>
              <a:rPr sz="7250" spc="-20" dirty="0"/>
              <a:t>Authentication</a:t>
            </a:r>
            <a:r>
              <a:rPr sz="7250" spc="-265" dirty="0"/>
              <a:t> </a:t>
            </a:r>
            <a:r>
              <a:rPr sz="7250" spc="-45" dirty="0"/>
              <a:t>Attempts</a:t>
            </a:r>
            <a:endParaRPr sz="7250"/>
          </a:p>
        </p:txBody>
      </p:sp>
      <p:sp>
        <p:nvSpPr>
          <p:cNvPr id="7" name="object 7"/>
          <p:cNvSpPr txBox="1"/>
          <p:nvPr/>
        </p:nvSpPr>
        <p:spPr>
          <a:xfrm>
            <a:off x="18683668" y="16618"/>
            <a:ext cx="134810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8830" algn="l"/>
              </a:tabLst>
            </a:pPr>
            <a:r>
              <a:rPr lang="en-US" sz="1650" b="1" spc="-10" dirty="0">
                <a:latin typeface="Carlito"/>
                <a:cs typeface="Carlito"/>
              </a:rPr>
              <a:t>\</a:t>
            </a:r>
            <a:endParaRPr sz="1650" dirty="0">
              <a:latin typeface="Carlito"/>
              <a:cs typeface="Carlito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3989939" y="2656254"/>
            <a:ext cx="4606925" cy="4435475"/>
            <a:chOff x="13989939" y="2656254"/>
            <a:chExt cx="4606925" cy="44354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89939" y="2656254"/>
              <a:ext cx="4606351" cy="44354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9546" y="4558604"/>
              <a:ext cx="462394" cy="444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74520" y="5340151"/>
              <a:ext cx="462394" cy="44731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4891170" y="4556636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536575">
              <a:lnSpc>
                <a:spcPct val="100000"/>
              </a:lnSpc>
              <a:spcBef>
                <a:spcPts val="325"/>
              </a:spcBef>
            </a:pPr>
            <a:r>
              <a:rPr sz="145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88760" y="5329701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370"/>
              </a:spcBef>
            </a:pPr>
            <a:r>
              <a:rPr sz="145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145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9401" y="2693814"/>
            <a:ext cx="195389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3450" b="1" spc="-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3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345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949733" y="6471007"/>
            <a:ext cx="4667250" cy="4513580"/>
            <a:chOff x="13949733" y="6471007"/>
            <a:chExt cx="4667250" cy="451358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9733" y="6471007"/>
              <a:ext cx="4666664" cy="451337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767509" y="9208578"/>
              <a:ext cx="2549525" cy="373380"/>
            </a:xfrm>
            <a:custGeom>
              <a:avLst/>
              <a:gdLst/>
              <a:ahLst/>
              <a:cxnLst/>
              <a:rect l="l" t="t" r="r" b="b"/>
              <a:pathLst>
                <a:path w="2549525" h="373379">
                  <a:moveTo>
                    <a:pt x="0" y="0"/>
                  </a:moveTo>
                  <a:lnTo>
                    <a:pt x="2549191" y="0"/>
                  </a:lnTo>
                  <a:lnTo>
                    <a:pt x="2549191" y="372873"/>
                  </a:lnTo>
                  <a:lnTo>
                    <a:pt x="0" y="372873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705386" y="8247571"/>
            <a:ext cx="3068320" cy="6311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75"/>
              </a:spcBef>
            </a:pPr>
            <a:r>
              <a:rPr sz="1950" dirty="0">
                <a:latin typeface="Carlito"/>
                <a:cs typeface="Carlito"/>
              </a:rPr>
              <a:t>Enter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one-time</a:t>
            </a:r>
            <a:r>
              <a:rPr sz="1950" spc="15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code</a:t>
            </a:r>
            <a:r>
              <a:rPr sz="1950" spc="20" dirty="0">
                <a:latin typeface="Carlito"/>
                <a:cs typeface="Carlito"/>
              </a:rPr>
              <a:t> </a:t>
            </a:r>
            <a:r>
              <a:rPr sz="1950" spc="-10" dirty="0">
                <a:latin typeface="Carlito"/>
                <a:cs typeface="Carlito"/>
              </a:rPr>
              <a:t>available </a:t>
            </a:r>
            <a:r>
              <a:rPr sz="1950" dirty="0">
                <a:latin typeface="Carlito"/>
                <a:cs typeface="Carlito"/>
              </a:rPr>
              <a:t>on</a:t>
            </a:r>
            <a:r>
              <a:rPr sz="1950" spc="5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the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dirty="0">
                <a:latin typeface="Carlito"/>
                <a:cs typeface="Carlito"/>
              </a:rPr>
              <a:t>Authenticator</a:t>
            </a:r>
            <a:r>
              <a:rPr sz="1950" spc="10" dirty="0">
                <a:latin typeface="Carlito"/>
                <a:cs typeface="Carlito"/>
              </a:rPr>
              <a:t> </a:t>
            </a:r>
            <a:r>
              <a:rPr sz="1950" spc="-20" dirty="0">
                <a:latin typeface="Carlito"/>
                <a:cs typeface="Carlito"/>
              </a:rPr>
              <a:t>app.</a:t>
            </a:r>
            <a:endParaRPr sz="195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19082" y="6553801"/>
            <a:ext cx="1707514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E2C4B"/>
                </a:solidFill>
                <a:latin typeface="Carlito"/>
                <a:cs typeface="Carlito"/>
              </a:rPr>
              <a:t>OTP</a:t>
            </a:r>
            <a:r>
              <a:rPr sz="3450" b="1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450" b="1" spc="-3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endParaRPr sz="345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97535" y="10170026"/>
            <a:ext cx="1005713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solidFill>
                  <a:srgbClr val="0E2C4B"/>
                </a:solidFill>
                <a:latin typeface="Carlito"/>
                <a:cs typeface="Carlito"/>
              </a:rPr>
              <a:t>NOTE:</a:t>
            </a:r>
            <a:r>
              <a:rPr sz="3950" b="1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Apply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this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test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all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pages.</a:t>
            </a:r>
            <a:endParaRPr sz="3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2145" y="2766691"/>
            <a:ext cx="12232005" cy="565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 marR="526415" indent="-707390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Submit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valid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invalid password.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Submit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invalid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username.</a:t>
            </a:r>
            <a:endParaRPr sz="3950">
              <a:latin typeface="Carlito"/>
              <a:cs typeface="Carlito"/>
            </a:endParaRPr>
          </a:p>
          <a:p>
            <a:pPr marL="719455" marR="5080" indent="-707390">
              <a:lnSpc>
                <a:spcPts val="4950"/>
              </a:lnSpc>
              <a:spcBef>
                <a:spcPts val="1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both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responses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differences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status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code,</a:t>
            </a:r>
            <a:r>
              <a:rPr sz="3950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redirects,</a:t>
            </a:r>
            <a:r>
              <a:rPr sz="3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information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displayed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screen,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HTML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page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source,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even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time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process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the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ts val="4740"/>
              </a:lnSpc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there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difference,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run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brute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attack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endParaRPr sz="3950">
              <a:latin typeface="Carlito"/>
              <a:cs typeface="Carlito"/>
            </a:endParaRPr>
          </a:p>
          <a:p>
            <a:pPr marL="719455">
              <a:lnSpc>
                <a:spcPct val="100000"/>
              </a:lnSpc>
              <a:spcBef>
                <a:spcPts val="210"/>
              </a:spcBef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enumerate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list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valid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usernames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application.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720" dirty="0"/>
              <a:t>V</a:t>
            </a:r>
            <a:r>
              <a:rPr sz="7250" spc="15" dirty="0"/>
              <a:t>e</a:t>
            </a:r>
            <a:r>
              <a:rPr sz="7250" spc="20" dirty="0"/>
              <a:t>r</a:t>
            </a:r>
            <a:r>
              <a:rPr sz="7250" spc="25" dirty="0"/>
              <a:t>b</a:t>
            </a:r>
            <a:r>
              <a:rPr sz="7250" spc="20" dirty="0"/>
              <a:t>os</a:t>
            </a:r>
            <a:r>
              <a:rPr sz="7250" spc="25" dirty="0"/>
              <a:t>e</a:t>
            </a:r>
            <a:r>
              <a:rPr sz="7250" spc="-275" dirty="0"/>
              <a:t> </a:t>
            </a:r>
            <a:r>
              <a:rPr sz="7250" dirty="0"/>
              <a:t>Error</a:t>
            </a:r>
            <a:r>
              <a:rPr sz="7250" spc="-270" dirty="0"/>
              <a:t> </a:t>
            </a:r>
            <a:r>
              <a:rPr sz="7250" spc="-10" dirty="0"/>
              <a:t>Message</a:t>
            </a:r>
            <a:endParaRPr sz="72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9939" y="2656254"/>
            <a:ext cx="4606351" cy="443546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597953" y="2704285"/>
            <a:ext cx="302831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1" dirty="0">
                <a:solidFill>
                  <a:srgbClr val="0E2C4B"/>
                </a:solidFill>
                <a:latin typeface="Carlito"/>
                <a:cs typeface="Carlito"/>
              </a:rPr>
              <a:t>Incorrect</a:t>
            </a:r>
            <a:r>
              <a:rPr sz="2850" b="1" spc="-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2850" b="1" spc="-1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endParaRPr sz="2850">
              <a:latin typeface="Carlito"/>
              <a:cs typeface="Carli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49733" y="6471007"/>
            <a:ext cx="4666664" cy="451337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6907" y="9436227"/>
            <a:ext cx="1005713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solidFill>
                  <a:srgbClr val="0E2C4B"/>
                </a:solidFill>
                <a:latin typeface="Carlito"/>
                <a:cs typeface="Carlito"/>
              </a:rPr>
              <a:t>NOTE:</a:t>
            </a:r>
            <a:r>
              <a:rPr sz="3950" b="1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Apply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this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test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all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pages.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61931" y="6619559"/>
            <a:ext cx="290004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1" dirty="0">
                <a:solidFill>
                  <a:srgbClr val="0E2C4B"/>
                </a:solidFill>
                <a:latin typeface="Carlito"/>
                <a:cs typeface="Carlito"/>
              </a:rPr>
              <a:t>Incorrect</a:t>
            </a:r>
            <a:r>
              <a:rPr sz="2850" b="1" spc="-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2850" b="1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endParaRPr sz="285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78057" y="4336487"/>
            <a:ext cx="292481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Sign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in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failed.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Incorrect</a:t>
            </a:r>
            <a:r>
              <a:rPr sz="1650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FF0000"/>
                </a:solidFill>
                <a:latin typeface="Carlito"/>
                <a:cs typeface="Carlito"/>
              </a:rPr>
              <a:t>username.</a:t>
            </a:r>
            <a:endParaRPr sz="1650">
              <a:latin typeface="Carlito"/>
              <a:cs typeface="Carli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12216" y="4840061"/>
            <a:ext cx="462394" cy="44480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891170" y="4824156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470"/>
              </a:spcBef>
            </a:pPr>
            <a:r>
              <a:rPr sz="195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1950">
              <a:latin typeface="Carlito"/>
              <a:cs typeface="Carlito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89599" y="5483393"/>
            <a:ext cx="464907" cy="44480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895253" y="5460514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465"/>
              </a:spcBef>
            </a:pPr>
            <a:r>
              <a:rPr sz="195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195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78057" y="8234169"/>
            <a:ext cx="288353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Sign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in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failed.</a:t>
            </a:r>
            <a:r>
              <a:rPr sz="165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dirty="0">
                <a:solidFill>
                  <a:srgbClr val="FF0000"/>
                </a:solidFill>
                <a:latin typeface="Carlito"/>
                <a:cs typeface="Carlito"/>
              </a:rPr>
              <a:t>Incorrect</a:t>
            </a:r>
            <a:r>
              <a:rPr sz="1650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650" spc="-10" dirty="0">
                <a:solidFill>
                  <a:srgbClr val="FF0000"/>
                </a:solidFill>
                <a:latin typeface="Carlito"/>
                <a:cs typeface="Carlito"/>
              </a:rPr>
              <a:t>password.</a:t>
            </a:r>
            <a:endParaRPr sz="1650">
              <a:latin typeface="Carlito"/>
              <a:cs typeface="Carlito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14729" y="8710101"/>
            <a:ext cx="464907" cy="44731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4895253" y="8695002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464"/>
              </a:spcBef>
            </a:pPr>
            <a:r>
              <a:rPr sz="1950" spc="-10" dirty="0">
                <a:solidFill>
                  <a:srgbClr val="7F7F7F"/>
                </a:solidFill>
                <a:latin typeface="Carlito"/>
                <a:cs typeface="Carlito"/>
              </a:rPr>
              <a:t>Username</a:t>
            </a:r>
            <a:endParaRPr sz="1950">
              <a:latin typeface="Carlito"/>
              <a:cs typeface="Carlito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94625" y="9353432"/>
            <a:ext cx="462394" cy="44731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4899231" y="9331359"/>
            <a:ext cx="2767965" cy="444500"/>
          </a:xfrm>
          <a:prstGeom prst="rect">
            <a:avLst/>
          </a:prstGeom>
          <a:ln w="1047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680720">
              <a:lnSpc>
                <a:spcPct val="100000"/>
              </a:lnSpc>
              <a:spcBef>
                <a:spcPts val="480"/>
              </a:spcBef>
            </a:pPr>
            <a:r>
              <a:rPr sz="1950" spc="-10" dirty="0">
                <a:solidFill>
                  <a:srgbClr val="7F7F7F"/>
                </a:solidFill>
                <a:latin typeface="Carlito"/>
                <a:cs typeface="Carlito"/>
              </a:rPr>
              <a:t>Password</a:t>
            </a:r>
            <a:endParaRPr sz="1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 marR="5080" indent="-707390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pc="-30" dirty="0"/>
              <a:t>Perform</a:t>
            </a:r>
            <a:r>
              <a:rPr spc="-8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successful</a:t>
            </a:r>
            <a:r>
              <a:rPr spc="-85" dirty="0"/>
              <a:t> </a:t>
            </a:r>
            <a:r>
              <a:rPr dirty="0"/>
              <a:t>login</a:t>
            </a:r>
            <a:r>
              <a:rPr spc="-80" dirty="0"/>
              <a:t> </a:t>
            </a:r>
            <a:r>
              <a:rPr dirty="0"/>
              <a:t>while</a:t>
            </a:r>
            <a:r>
              <a:rPr spc="-85" dirty="0"/>
              <a:t> </a:t>
            </a:r>
            <a:r>
              <a:rPr dirty="0"/>
              <a:t>monitoring</a:t>
            </a:r>
            <a:r>
              <a:rPr spc="-80" dirty="0"/>
              <a:t> </a:t>
            </a:r>
            <a:r>
              <a:rPr dirty="0"/>
              <a:t>all</a:t>
            </a:r>
            <a:r>
              <a:rPr spc="-85" dirty="0"/>
              <a:t> </a:t>
            </a:r>
            <a:r>
              <a:rPr spc="-25" dirty="0"/>
              <a:t>traffic</a:t>
            </a:r>
            <a:r>
              <a:rPr spc="-8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20" dirty="0"/>
              <a:t>both </a:t>
            </a:r>
            <a:r>
              <a:rPr dirty="0"/>
              <a:t>directions</a:t>
            </a:r>
            <a:r>
              <a:rPr spc="-95" dirty="0"/>
              <a:t> </a:t>
            </a:r>
            <a:r>
              <a:rPr dirty="0"/>
              <a:t>between</a:t>
            </a:r>
            <a:r>
              <a:rPr spc="-8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client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100" dirty="0"/>
              <a:t>s</a:t>
            </a:r>
            <a:r>
              <a:rPr spc="105" dirty="0"/>
              <a:t>e</a:t>
            </a:r>
            <a:r>
              <a:rPr spc="185" dirty="0"/>
              <a:t>r</a:t>
            </a:r>
            <a:r>
              <a:rPr spc="15" dirty="0"/>
              <a:t>v</a:t>
            </a:r>
            <a:r>
              <a:rPr spc="105" dirty="0"/>
              <a:t>e</a:t>
            </a:r>
            <a:r>
              <a:rPr spc="-705" dirty="0"/>
              <a:t>r</a:t>
            </a:r>
            <a:r>
              <a:rPr spc="110" dirty="0"/>
              <a:t>.</a:t>
            </a:r>
          </a:p>
          <a:p>
            <a:pPr marL="718820" indent="-706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18820" algn="l"/>
              </a:tabLst>
            </a:pPr>
            <a:r>
              <a:rPr dirty="0"/>
              <a:t>Look</a:t>
            </a:r>
            <a:r>
              <a:rPr spc="-10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spc="-10" dirty="0"/>
              <a:t>instances</a:t>
            </a:r>
            <a:r>
              <a:rPr spc="-105" dirty="0"/>
              <a:t> </a:t>
            </a:r>
            <a:r>
              <a:rPr dirty="0"/>
              <a:t>where</a:t>
            </a:r>
            <a:r>
              <a:rPr spc="-110" dirty="0"/>
              <a:t> </a:t>
            </a:r>
            <a:r>
              <a:rPr spc="-10" dirty="0"/>
              <a:t>credentials</a:t>
            </a:r>
            <a:r>
              <a:rPr spc="-105" dirty="0"/>
              <a:t> </a:t>
            </a:r>
            <a:r>
              <a:rPr dirty="0"/>
              <a:t>are</a:t>
            </a:r>
            <a:r>
              <a:rPr spc="-105" dirty="0"/>
              <a:t> </a:t>
            </a:r>
            <a:r>
              <a:rPr spc="-10" dirty="0"/>
              <a:t>submitted</a:t>
            </a:r>
            <a:r>
              <a:rPr spc="-100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25" dirty="0"/>
              <a:t>URL</a:t>
            </a:r>
          </a:p>
          <a:p>
            <a:pPr marL="719455" marR="90170">
              <a:lnSpc>
                <a:spcPts val="4950"/>
              </a:lnSpc>
              <a:spcBef>
                <a:spcPts val="195"/>
              </a:spcBef>
            </a:pPr>
            <a:r>
              <a:rPr dirty="0"/>
              <a:t>query</a:t>
            </a:r>
            <a:r>
              <a:rPr spc="-65" dirty="0"/>
              <a:t> </a:t>
            </a:r>
            <a:r>
              <a:rPr dirty="0"/>
              <a:t>string</a:t>
            </a:r>
            <a:r>
              <a:rPr spc="-60" dirty="0"/>
              <a:t> </a:t>
            </a:r>
            <a:r>
              <a:rPr dirty="0"/>
              <a:t>or</a:t>
            </a:r>
            <a:r>
              <a:rPr spc="-6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cookie,</a:t>
            </a:r>
            <a:r>
              <a:rPr spc="-70" dirty="0"/>
              <a:t> </a:t>
            </a:r>
            <a:r>
              <a:rPr dirty="0"/>
              <a:t>or</a:t>
            </a:r>
            <a:r>
              <a:rPr spc="-65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spc="-25" dirty="0"/>
              <a:t>transmitted</a:t>
            </a:r>
            <a:r>
              <a:rPr spc="-60" dirty="0"/>
              <a:t> </a:t>
            </a:r>
            <a:r>
              <a:rPr dirty="0"/>
              <a:t>back</a:t>
            </a:r>
            <a:r>
              <a:rPr spc="-65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spc="-25" dirty="0"/>
              <a:t>the </a:t>
            </a:r>
            <a:r>
              <a:rPr dirty="0"/>
              <a:t>server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client.</a:t>
            </a:r>
          </a:p>
          <a:p>
            <a:pPr marL="718820" indent="-706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18820" algn="l"/>
              </a:tabLst>
            </a:pPr>
            <a:r>
              <a:rPr spc="-40" dirty="0"/>
              <a:t>Attempt</a:t>
            </a:r>
            <a:r>
              <a:rPr spc="-7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access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application</a:t>
            </a:r>
            <a:r>
              <a:rPr spc="-75" dirty="0"/>
              <a:t> </a:t>
            </a:r>
            <a:r>
              <a:rPr dirty="0"/>
              <a:t>over</a:t>
            </a:r>
            <a:r>
              <a:rPr spc="-70" dirty="0"/>
              <a:t> </a:t>
            </a:r>
            <a:r>
              <a:rPr dirty="0"/>
              <a:t>HTTP</a:t>
            </a:r>
            <a:r>
              <a:rPr spc="-8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if</a:t>
            </a:r>
            <a:r>
              <a:rPr spc="-80" dirty="0"/>
              <a:t> </a:t>
            </a:r>
            <a:r>
              <a:rPr dirty="0"/>
              <a:t>there</a:t>
            </a:r>
            <a:r>
              <a:rPr spc="-75" dirty="0"/>
              <a:t> </a:t>
            </a:r>
            <a:r>
              <a:rPr spc="-25" dirty="0"/>
              <a:t>are</a:t>
            </a:r>
          </a:p>
          <a:p>
            <a:pPr marL="719455">
              <a:lnSpc>
                <a:spcPct val="100000"/>
              </a:lnSpc>
              <a:spcBef>
                <a:spcPts val="204"/>
              </a:spcBef>
            </a:pPr>
            <a:r>
              <a:rPr dirty="0"/>
              <a:t>any</a:t>
            </a:r>
            <a:r>
              <a:rPr spc="-145" dirty="0"/>
              <a:t> </a:t>
            </a:r>
            <a:r>
              <a:rPr spc="-10" dirty="0"/>
              <a:t>redirections</a:t>
            </a:r>
            <a:r>
              <a:rPr spc="-145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10" dirty="0"/>
              <a:t>HTTPS.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55" dirty="0"/>
              <a:t>Vulnerable</a:t>
            </a:r>
            <a:r>
              <a:rPr sz="7250" spc="-220" dirty="0"/>
              <a:t> </a:t>
            </a:r>
            <a:r>
              <a:rPr sz="7250" spc="-915" dirty="0"/>
              <a:t>T</a:t>
            </a:r>
            <a:r>
              <a:rPr sz="7250" spc="-290" dirty="0"/>
              <a:t>r</a:t>
            </a:r>
            <a:r>
              <a:rPr sz="7250" spc="15" dirty="0"/>
              <a:t>a</a:t>
            </a:r>
            <a:r>
              <a:rPr sz="7250" spc="20" dirty="0"/>
              <a:t>n</a:t>
            </a:r>
            <a:r>
              <a:rPr sz="7250" spc="15" dirty="0"/>
              <a:t>sm</a:t>
            </a:r>
            <a:r>
              <a:rPr sz="7250" spc="20" dirty="0"/>
              <a:t>i</a:t>
            </a:r>
            <a:r>
              <a:rPr sz="7250" spc="15" dirty="0"/>
              <a:t>ss</a:t>
            </a:r>
            <a:r>
              <a:rPr sz="7250" spc="20" dirty="0"/>
              <a:t>i</a:t>
            </a:r>
            <a:r>
              <a:rPr sz="7250" spc="15" dirty="0"/>
              <a:t>o</a:t>
            </a:r>
            <a:r>
              <a:rPr sz="7250" spc="20" dirty="0"/>
              <a:t>n</a:t>
            </a:r>
            <a:r>
              <a:rPr sz="7250" spc="-204" dirty="0"/>
              <a:t> </a:t>
            </a:r>
            <a:r>
              <a:rPr sz="7250" dirty="0"/>
              <a:t>of</a:t>
            </a:r>
            <a:r>
              <a:rPr sz="7250" spc="-220" dirty="0"/>
              <a:t> </a:t>
            </a:r>
            <a:r>
              <a:rPr sz="7250" spc="-10" dirty="0"/>
              <a:t>Credentials</a:t>
            </a:r>
            <a:endParaRPr sz="72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5090954" y="3467664"/>
            <a:ext cx="3640454" cy="2784475"/>
            <a:chOff x="15090954" y="3467664"/>
            <a:chExt cx="3640454" cy="27844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98807" y="3475517"/>
              <a:ext cx="3624423" cy="27686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094881" y="3471590"/>
              <a:ext cx="3632835" cy="2776855"/>
            </a:xfrm>
            <a:custGeom>
              <a:avLst/>
              <a:gdLst/>
              <a:ahLst/>
              <a:cxnLst/>
              <a:rect l="l" t="t" r="r" b="b"/>
              <a:pathLst>
                <a:path w="3632834" h="2776854">
                  <a:moveTo>
                    <a:pt x="0" y="0"/>
                  </a:moveTo>
                  <a:lnTo>
                    <a:pt x="3632277" y="0"/>
                  </a:lnTo>
                  <a:lnTo>
                    <a:pt x="3632277" y="2776509"/>
                  </a:lnTo>
                  <a:lnTo>
                    <a:pt x="0" y="2776509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419679" y="2776743"/>
            <a:ext cx="982344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20" dirty="0">
                <a:solidFill>
                  <a:srgbClr val="0E2C4B"/>
                </a:solidFill>
                <a:latin typeface="Carlito"/>
                <a:cs typeface="Carlito"/>
              </a:rPr>
              <a:t>HTTP</a:t>
            </a:r>
            <a:endParaRPr sz="345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090954" y="7408612"/>
            <a:ext cx="3606165" cy="2774950"/>
            <a:chOff x="15090954" y="7408612"/>
            <a:chExt cx="3606165" cy="27749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98807" y="7416465"/>
              <a:ext cx="3590026" cy="27588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094881" y="7412538"/>
              <a:ext cx="3597910" cy="2767330"/>
            </a:xfrm>
            <a:custGeom>
              <a:avLst/>
              <a:gdLst/>
              <a:ahLst/>
              <a:cxnLst/>
              <a:rect l="l" t="t" r="r" b="b"/>
              <a:pathLst>
                <a:path w="3597909" h="2767329">
                  <a:moveTo>
                    <a:pt x="0" y="0"/>
                  </a:moveTo>
                  <a:lnTo>
                    <a:pt x="3597888" y="0"/>
                  </a:lnTo>
                  <a:lnTo>
                    <a:pt x="3597888" y="2766730"/>
                  </a:lnTo>
                  <a:lnTo>
                    <a:pt x="0" y="2766730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298426" y="6752329"/>
            <a:ext cx="119062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0E2C4B"/>
                </a:solidFill>
                <a:latin typeface="Carlito"/>
                <a:cs typeface="Carlito"/>
              </a:rPr>
              <a:t>HTTPS</a:t>
            </a:r>
            <a:endParaRPr sz="34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145" y="2766691"/>
            <a:ext cx="18138140" cy="5654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8820" indent="-7061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Identify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has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45" dirty="0">
                <a:solidFill>
                  <a:srgbClr val="0E2C4B"/>
                </a:solidFill>
                <a:latin typeface="Carlito"/>
                <a:cs typeface="Carlito"/>
              </a:rPr>
              <a:t>forgotten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20" dirty="0">
                <a:solidFill>
                  <a:srgbClr val="0E2C4B"/>
                </a:solidFill>
                <a:latin typeface="Carlito"/>
                <a:cs typeface="Carlito"/>
              </a:rPr>
              <a:t>f</a:t>
            </a:r>
            <a:r>
              <a:rPr sz="3950" spc="25" dirty="0">
                <a:solidFill>
                  <a:srgbClr val="0E2C4B"/>
                </a:solidFill>
                <a:latin typeface="Carlito"/>
                <a:cs typeface="Carlito"/>
              </a:rPr>
              <a:t>un</a:t>
            </a:r>
            <a:r>
              <a:rPr sz="3950" spc="2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spc="25" dirty="0">
                <a:solidFill>
                  <a:srgbClr val="0E2C4B"/>
                </a:solidFill>
                <a:latin typeface="Carlito"/>
                <a:cs typeface="Carlito"/>
              </a:rPr>
              <a:t>ti</a:t>
            </a:r>
            <a:r>
              <a:rPr sz="3950" spc="30" dirty="0">
                <a:solidFill>
                  <a:srgbClr val="0E2C4B"/>
                </a:solidFill>
                <a:latin typeface="Carlito"/>
                <a:cs typeface="Carlito"/>
              </a:rPr>
              <a:t>o</a:t>
            </a:r>
            <a:r>
              <a:rPr sz="3950" spc="25" dirty="0">
                <a:solidFill>
                  <a:srgbClr val="0E2C4B"/>
                </a:solidFill>
                <a:latin typeface="Carlito"/>
                <a:cs typeface="Carlito"/>
              </a:rPr>
              <a:t>nalit</a:t>
            </a:r>
            <a:r>
              <a:rPr sz="3950" spc="-509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25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3950">
              <a:latin typeface="Carlito"/>
              <a:cs typeface="Carlito"/>
            </a:endParaRPr>
          </a:p>
          <a:p>
            <a:pPr marL="719455" marR="234950" indent="-707390">
              <a:lnSpc>
                <a:spcPts val="4950"/>
              </a:lnSpc>
              <a:spcBef>
                <a:spcPts val="200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it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does,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perform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complete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walk-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through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forgot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functionality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using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have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control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while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intercepting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responses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a </a:t>
            </a:r>
            <a:r>
              <a:rPr sz="3950" spc="130" dirty="0">
                <a:solidFill>
                  <a:srgbClr val="0E2C4B"/>
                </a:solidFill>
                <a:latin typeface="Carlito"/>
                <a:cs typeface="Carlito"/>
              </a:rPr>
              <a:t>p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o</a:t>
            </a:r>
            <a:r>
              <a:rPr sz="3950" spc="120" dirty="0">
                <a:solidFill>
                  <a:srgbClr val="0E2C4B"/>
                </a:solidFill>
                <a:latin typeface="Carlito"/>
                <a:cs typeface="Carlito"/>
              </a:rPr>
              <a:t>x</a:t>
            </a:r>
            <a:r>
              <a:rPr sz="3950" spc="-409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125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buFont typeface="Arial"/>
              <a:buChar char="•"/>
              <a:tabLst>
                <a:tab pos="718820" algn="l"/>
              </a:tabLst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functionality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determine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it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allows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enumeration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brute-</a:t>
            </a:r>
            <a:endParaRPr sz="3950">
              <a:latin typeface="Carlito"/>
              <a:cs typeface="Carlito"/>
            </a:endParaRPr>
          </a:p>
          <a:p>
            <a:pPr marL="719455">
              <a:lnSpc>
                <a:spcPct val="100000"/>
              </a:lnSpc>
              <a:spcBef>
                <a:spcPts val="204"/>
              </a:spcBef>
            </a:pP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3950" spc="-1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attacks.</a:t>
            </a:r>
            <a:endParaRPr sz="3950">
              <a:latin typeface="Carlito"/>
              <a:cs typeface="Carlito"/>
            </a:endParaRPr>
          </a:p>
          <a:p>
            <a:pPr marL="719455" marR="344805" indent="-707390" algn="just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generates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email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containing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recovery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URL,</a:t>
            </a:r>
            <a:r>
              <a:rPr sz="3950" spc="-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obtain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number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of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these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URLs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attempt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identify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predictable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patterns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sensitive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information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included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URL.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Also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check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URL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long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lived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3950" spc="-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does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not</a:t>
            </a:r>
            <a:r>
              <a:rPr sz="3950" spc="-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expire.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Insecure</a:t>
            </a:r>
            <a:r>
              <a:rPr sz="7250" spc="-370" dirty="0"/>
              <a:t> </a:t>
            </a:r>
            <a:r>
              <a:rPr sz="7250" spc="-30" dirty="0"/>
              <a:t>Forgot</a:t>
            </a:r>
            <a:r>
              <a:rPr sz="7250" spc="-350" dirty="0"/>
              <a:t> </a:t>
            </a:r>
            <a:r>
              <a:rPr sz="7250" spc="-70" dirty="0"/>
              <a:t>Password</a:t>
            </a:r>
            <a:r>
              <a:rPr sz="7250" spc="-340" dirty="0"/>
              <a:t> </a:t>
            </a:r>
            <a:r>
              <a:rPr sz="7250" spc="-10" dirty="0"/>
              <a:t>Functionality</a:t>
            </a:r>
            <a:endParaRPr sz="72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spc="-35" dirty="0"/>
              <a:t>Defects</a:t>
            </a:r>
            <a:r>
              <a:rPr sz="7250" spc="-190" dirty="0"/>
              <a:t> </a:t>
            </a:r>
            <a:r>
              <a:rPr sz="7250" dirty="0"/>
              <a:t>in</a:t>
            </a:r>
            <a:r>
              <a:rPr sz="7250" spc="-185" dirty="0"/>
              <a:t> </a:t>
            </a:r>
            <a:r>
              <a:rPr sz="7250" spc="-25" dirty="0"/>
              <a:t>Multistage</a:t>
            </a:r>
            <a:r>
              <a:rPr sz="7250" spc="-190" dirty="0"/>
              <a:t> </a:t>
            </a:r>
            <a:r>
              <a:rPr sz="7250" dirty="0"/>
              <a:t>Login</a:t>
            </a:r>
            <a:r>
              <a:rPr sz="7250" spc="-185" dirty="0"/>
              <a:t> </a:t>
            </a:r>
            <a:r>
              <a:rPr sz="7250" spc="-10" dirty="0"/>
              <a:t>Mechanism</a:t>
            </a:r>
            <a:endParaRPr sz="72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2145" y="2766691"/>
            <a:ext cx="18138140" cy="3141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8820" indent="-7061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Identify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application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uses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multistage</a:t>
            </a:r>
            <a:r>
              <a:rPr sz="3950" spc="-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3950" spc="-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mechanism.</a:t>
            </a:r>
            <a:endParaRPr sz="3950" dirty="0">
              <a:latin typeface="Carlito"/>
              <a:cs typeface="Carlito"/>
            </a:endParaRPr>
          </a:p>
          <a:p>
            <a:pPr marL="719455" marR="1037590" indent="-707390">
              <a:lnSpc>
                <a:spcPts val="4950"/>
              </a:lnSpc>
              <a:spcBef>
                <a:spcPts val="200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it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does,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perform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complete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walk-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through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using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account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have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control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of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while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intercepting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requests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responses</a:t>
            </a:r>
            <a:r>
              <a:rPr sz="3950" spc="-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130" dirty="0">
                <a:solidFill>
                  <a:srgbClr val="0E2C4B"/>
                </a:solidFill>
                <a:latin typeface="Carlito"/>
                <a:cs typeface="Carlito"/>
              </a:rPr>
              <a:t>p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-40" dirty="0">
                <a:solidFill>
                  <a:srgbClr val="0E2C4B"/>
                </a:solidFill>
                <a:latin typeface="Carlito"/>
                <a:cs typeface="Carlito"/>
              </a:rPr>
              <a:t>o</a:t>
            </a:r>
            <a:r>
              <a:rPr sz="3950" spc="120" dirty="0">
                <a:solidFill>
                  <a:srgbClr val="0E2C4B"/>
                </a:solidFill>
                <a:latin typeface="Carlito"/>
                <a:cs typeface="Carlito"/>
              </a:rPr>
              <a:t>x</a:t>
            </a:r>
            <a:r>
              <a:rPr sz="3950" spc="-409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125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3950" dirty="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buFont typeface="Arial"/>
              <a:buChar char="•"/>
              <a:tabLst>
                <a:tab pos="718820" algn="l"/>
              </a:tabLst>
            </a:pP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functionality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determine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it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allows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username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enumeration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brute-</a:t>
            </a:r>
            <a:endParaRPr sz="3950" dirty="0">
              <a:latin typeface="Carlito"/>
              <a:cs typeface="Carlito"/>
            </a:endParaRPr>
          </a:p>
          <a:p>
            <a:pPr marL="719455">
              <a:lnSpc>
                <a:spcPct val="100000"/>
              </a:lnSpc>
              <a:spcBef>
                <a:spcPts val="210"/>
              </a:spcBef>
            </a:pP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3950" spc="-1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attacks.</a:t>
            </a:r>
            <a:endParaRPr sz="3950" dirty="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09194" y="7378466"/>
            <a:ext cx="8256270" cy="2367915"/>
            <a:chOff x="909194" y="7378466"/>
            <a:chExt cx="8256270" cy="2367915"/>
          </a:xfrm>
        </p:grpSpPr>
        <p:sp>
          <p:nvSpPr>
            <p:cNvPr id="9" name="object 9"/>
            <p:cNvSpPr/>
            <p:nvPr/>
          </p:nvSpPr>
          <p:spPr>
            <a:xfrm>
              <a:off x="913120" y="7382393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8248348" y="0"/>
                  </a:moveTo>
                  <a:lnTo>
                    <a:pt x="0" y="0"/>
                  </a:lnTo>
                  <a:lnTo>
                    <a:pt x="0" y="2359928"/>
                  </a:lnTo>
                  <a:lnTo>
                    <a:pt x="8248348" y="2359928"/>
                  </a:lnTo>
                  <a:lnTo>
                    <a:pt x="824834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3120" y="7382393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0" y="0"/>
                  </a:moveTo>
                  <a:lnTo>
                    <a:pt x="8248341" y="0"/>
                  </a:lnTo>
                  <a:lnTo>
                    <a:pt x="8248341" y="2359924"/>
                  </a:lnTo>
                  <a:lnTo>
                    <a:pt x="0" y="2359924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8504" y="9304852"/>
              <a:ext cx="3396615" cy="377190"/>
            </a:xfrm>
            <a:custGeom>
              <a:avLst/>
              <a:gdLst/>
              <a:ahLst/>
              <a:cxnLst/>
              <a:rect l="l" t="t" r="r" b="b"/>
              <a:pathLst>
                <a:path w="3396615" h="377190">
                  <a:moveTo>
                    <a:pt x="2037892" y="0"/>
                  </a:moveTo>
                  <a:lnTo>
                    <a:pt x="0" y="0"/>
                  </a:lnTo>
                  <a:lnTo>
                    <a:pt x="0" y="376948"/>
                  </a:lnTo>
                  <a:lnTo>
                    <a:pt x="2037892" y="376948"/>
                  </a:lnTo>
                  <a:lnTo>
                    <a:pt x="2037892" y="0"/>
                  </a:lnTo>
                  <a:close/>
                </a:path>
                <a:path w="3396615" h="377190">
                  <a:moveTo>
                    <a:pt x="3396500" y="0"/>
                  </a:moveTo>
                  <a:lnTo>
                    <a:pt x="2037905" y="0"/>
                  </a:lnTo>
                  <a:lnTo>
                    <a:pt x="2037905" y="376948"/>
                  </a:lnTo>
                  <a:lnTo>
                    <a:pt x="3396500" y="376948"/>
                  </a:lnTo>
                  <a:lnTo>
                    <a:pt x="33965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20686" y="7375556"/>
            <a:ext cx="6126480" cy="927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6060" marR="5080" indent="-226695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/login-steps/first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HTTP/1.1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vulnerable-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website.com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8511" y="7375556"/>
            <a:ext cx="1144905" cy="13804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20" dirty="0">
                <a:solidFill>
                  <a:srgbClr val="333332"/>
                </a:solidFill>
                <a:latin typeface="Courier New"/>
                <a:cs typeface="Courier New"/>
              </a:rPr>
              <a:t>POST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Host: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2950" spc="-25" dirty="0">
                <a:solidFill>
                  <a:srgbClr val="333332"/>
                </a:solidFill>
                <a:latin typeface="Courier New"/>
                <a:cs typeface="Courier New"/>
              </a:rPr>
              <a:t>...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8511" y="9177386"/>
            <a:ext cx="7032625" cy="46871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username=</a:t>
            </a:r>
            <a:r>
              <a:rPr lang="en-US" sz="2950" spc="-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lang="en-US" sz="2950" spc="-10" dirty="0" err="1">
                <a:solidFill>
                  <a:srgbClr val="333332"/>
                </a:solidFill>
                <a:latin typeface="Courier New"/>
                <a:cs typeface="Courier New"/>
              </a:rPr>
              <a:t>jamal</a:t>
            </a:r>
            <a:r>
              <a:rPr sz="2950" spc="-10" dirty="0" err="1">
                <a:solidFill>
                  <a:srgbClr val="333332"/>
                </a:solidFill>
                <a:latin typeface="Courier New"/>
                <a:cs typeface="Courier New"/>
              </a:rPr>
              <a:t>&amp;password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=qwerty</a:t>
            </a:r>
            <a:endParaRPr sz="2950" dirty="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937415" y="7378466"/>
            <a:ext cx="8256270" cy="2367915"/>
            <a:chOff x="10937415" y="7378466"/>
            <a:chExt cx="8256270" cy="2367915"/>
          </a:xfrm>
        </p:grpSpPr>
        <p:sp>
          <p:nvSpPr>
            <p:cNvPr id="16" name="object 16"/>
            <p:cNvSpPr/>
            <p:nvPr/>
          </p:nvSpPr>
          <p:spPr>
            <a:xfrm>
              <a:off x="10941341" y="7382393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8248335" y="0"/>
                  </a:moveTo>
                  <a:lnTo>
                    <a:pt x="0" y="0"/>
                  </a:lnTo>
                  <a:lnTo>
                    <a:pt x="0" y="2359928"/>
                  </a:lnTo>
                  <a:lnTo>
                    <a:pt x="8248335" y="2359928"/>
                  </a:lnTo>
                  <a:lnTo>
                    <a:pt x="824833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41341" y="7382393"/>
              <a:ext cx="8248650" cy="2360295"/>
            </a:xfrm>
            <a:custGeom>
              <a:avLst/>
              <a:gdLst/>
              <a:ahLst/>
              <a:cxnLst/>
              <a:rect l="l" t="t" r="r" b="b"/>
              <a:pathLst>
                <a:path w="8248650" h="2360295">
                  <a:moveTo>
                    <a:pt x="0" y="0"/>
                  </a:moveTo>
                  <a:lnTo>
                    <a:pt x="8248341" y="0"/>
                  </a:lnTo>
                  <a:lnTo>
                    <a:pt x="8248341" y="2359924"/>
                  </a:lnTo>
                  <a:lnTo>
                    <a:pt x="0" y="2359924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016732" y="7375556"/>
            <a:ext cx="7485380" cy="927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POST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/login-steps/second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HTTP/1.1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Host: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vuln-website.com</a:t>
            </a:r>
            <a:r>
              <a:rPr sz="2950" spc="10" dirty="0">
                <a:solidFill>
                  <a:srgbClr val="333332"/>
                </a:solidFill>
                <a:latin typeface="Courier New"/>
                <a:cs typeface="Courier New"/>
              </a:rPr>
              <a:t> 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Cookie: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16732" y="8404351"/>
            <a:ext cx="3183255" cy="3771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account=</a:t>
            </a:r>
            <a:r>
              <a:rPr lang="en-US" sz="2950" spc="-10" dirty="0" err="1">
                <a:solidFill>
                  <a:srgbClr val="333332"/>
                </a:solidFill>
                <a:latin typeface="Courier New"/>
                <a:cs typeface="Courier New"/>
              </a:rPr>
              <a:t>jamal</a:t>
            </a:r>
            <a:endParaRPr sz="2950" dirty="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16732" y="8727557"/>
            <a:ext cx="5447665" cy="9378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-25" dirty="0">
                <a:solidFill>
                  <a:srgbClr val="333332"/>
                </a:solidFill>
                <a:latin typeface="Courier New"/>
                <a:cs typeface="Courier New"/>
              </a:rPr>
              <a:t>...</a:t>
            </a:r>
            <a:endParaRPr sz="2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2950" dirty="0">
                <a:solidFill>
                  <a:srgbClr val="333332"/>
                </a:solidFill>
                <a:latin typeface="Courier New"/>
                <a:cs typeface="Courier New"/>
              </a:rPr>
              <a:t>verification-</a:t>
            </a:r>
            <a:r>
              <a:rPr sz="2950" spc="-10" dirty="0">
                <a:solidFill>
                  <a:srgbClr val="333332"/>
                </a:solidFill>
                <a:latin typeface="Courier New"/>
                <a:cs typeface="Courier New"/>
              </a:rPr>
              <a:t>code=123456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63765" y="6436946"/>
            <a:ext cx="21475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00" b="1" spc="-25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3700" b="1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700" b="1" spc="-50" dirty="0">
                <a:solidFill>
                  <a:srgbClr val="0E2C4B"/>
                </a:solidFill>
                <a:latin typeface="Carlito"/>
                <a:cs typeface="Carlito"/>
              </a:rPr>
              <a:t>1</a:t>
            </a:r>
            <a:endParaRPr sz="37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74835" y="6535373"/>
            <a:ext cx="238125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b="1" spc="-20" dirty="0">
                <a:solidFill>
                  <a:srgbClr val="0E2C4B"/>
                </a:solidFill>
                <a:latin typeface="Carlito"/>
                <a:cs typeface="Carlito"/>
              </a:rPr>
              <a:t>REQUEST</a:t>
            </a:r>
            <a:r>
              <a:rPr sz="4100" b="1" spc="-20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100" b="1" spc="-50" dirty="0">
                <a:solidFill>
                  <a:srgbClr val="0E2C4B"/>
                </a:solidFill>
                <a:latin typeface="Carlito"/>
                <a:cs typeface="Carlito"/>
              </a:rPr>
              <a:t>2</a:t>
            </a:r>
            <a:endParaRPr sz="4100">
              <a:latin typeface="Carlito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28526" y="8627224"/>
            <a:ext cx="1045844" cy="188595"/>
          </a:xfrm>
          <a:custGeom>
            <a:avLst/>
            <a:gdLst/>
            <a:ahLst/>
            <a:cxnLst/>
            <a:rect l="l" t="t" r="r" b="b"/>
            <a:pathLst>
              <a:path w="1045845" h="188595">
                <a:moveTo>
                  <a:pt x="857261" y="0"/>
                </a:moveTo>
                <a:lnTo>
                  <a:pt x="857261" y="188475"/>
                </a:lnTo>
                <a:lnTo>
                  <a:pt x="982891" y="125650"/>
                </a:lnTo>
                <a:lnTo>
                  <a:pt x="888674" y="125650"/>
                </a:lnTo>
                <a:lnTo>
                  <a:pt x="888674" y="62825"/>
                </a:lnTo>
                <a:lnTo>
                  <a:pt x="982891" y="62825"/>
                </a:lnTo>
                <a:lnTo>
                  <a:pt x="857261" y="0"/>
                </a:lnTo>
                <a:close/>
              </a:path>
              <a:path w="1045845" h="188595">
                <a:moveTo>
                  <a:pt x="857261" y="62825"/>
                </a:moveTo>
                <a:lnTo>
                  <a:pt x="0" y="62825"/>
                </a:lnTo>
                <a:lnTo>
                  <a:pt x="0" y="125650"/>
                </a:lnTo>
                <a:lnTo>
                  <a:pt x="857261" y="125650"/>
                </a:lnTo>
                <a:lnTo>
                  <a:pt x="857261" y="62825"/>
                </a:lnTo>
                <a:close/>
              </a:path>
              <a:path w="1045845" h="188595">
                <a:moveTo>
                  <a:pt x="982891" y="62825"/>
                </a:moveTo>
                <a:lnTo>
                  <a:pt x="888674" y="62825"/>
                </a:lnTo>
                <a:lnTo>
                  <a:pt x="888674" y="125650"/>
                </a:lnTo>
                <a:lnTo>
                  <a:pt x="982891" y="125650"/>
                </a:lnTo>
                <a:lnTo>
                  <a:pt x="1045706" y="94237"/>
                </a:lnTo>
                <a:lnTo>
                  <a:pt x="982891" y="62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145" y="2766691"/>
            <a:ext cx="16763365" cy="439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9455" marR="208915" indent="-707390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all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app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li</a:t>
            </a:r>
            <a:r>
              <a:rPr sz="3950" spc="-70" dirty="0">
                <a:solidFill>
                  <a:srgbClr val="0E2C4B"/>
                </a:solidFill>
                <a:latin typeface="Carlito"/>
                <a:cs typeface="Carlito"/>
              </a:rPr>
              <a:t>ca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3950" spc="-495" dirty="0">
                <a:solidFill>
                  <a:srgbClr val="0E2C4B"/>
                </a:solidFill>
                <a:latin typeface="Carlito"/>
                <a:cs typeface="Carlito"/>
              </a:rPr>
              <a:t>’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related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fun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ona</a:t>
            </a:r>
            <a:r>
              <a:rPr sz="3950" spc="-5" dirty="0">
                <a:solidFill>
                  <a:srgbClr val="0E2C4B"/>
                </a:solidFill>
                <a:latin typeface="Carlito"/>
                <a:cs typeface="Carlito"/>
              </a:rPr>
              <a:t>li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3950" spc="-530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find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any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instances</a:t>
            </a:r>
            <a:r>
              <a:rPr sz="3950" spc="-21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where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user</a:t>
            </a:r>
            <a:r>
              <a:rPr sz="3950" spc="-5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60" dirty="0">
                <a:solidFill>
                  <a:srgbClr val="0E2C4B"/>
                </a:solidFill>
                <a:latin typeface="Carlito"/>
                <a:cs typeface="Carlito"/>
              </a:rPr>
              <a:t>’s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transmitted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client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(plaintext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or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obfuscated,</a:t>
            </a:r>
            <a:r>
              <a:rPr sz="3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this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indicates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are</a:t>
            </a:r>
            <a:r>
              <a:rPr sz="3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being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stored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3950" spc="4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u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4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l</a:t>
            </a:r>
            <a:r>
              <a:rPr sz="3950" spc="-484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3950">
              <a:latin typeface="Carlito"/>
              <a:cs typeface="Carlito"/>
            </a:endParaRPr>
          </a:p>
          <a:p>
            <a:pPr marL="718820" indent="-706120">
              <a:lnSpc>
                <a:spcPct val="100000"/>
              </a:lnSpc>
              <a:buFont typeface="Arial"/>
              <a:buChar char="•"/>
              <a:tabLst>
                <a:tab pos="718820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you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gain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remote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code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execution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(RCE)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8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-80" dirty="0">
                <a:solidFill>
                  <a:srgbClr val="0E2C4B"/>
                </a:solidFill>
                <a:latin typeface="Carlito"/>
                <a:cs typeface="Carlito"/>
              </a:rPr>
              <a:t>v</a:t>
            </a:r>
            <a:r>
              <a:rPr sz="3950" spc="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-69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10" dirty="0">
                <a:solidFill>
                  <a:srgbClr val="0E2C4B"/>
                </a:solidFill>
                <a:latin typeface="Carlito"/>
                <a:cs typeface="Carlito"/>
              </a:rPr>
              <a:t>,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10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database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endParaRPr sz="3950">
              <a:latin typeface="Carlito"/>
              <a:cs typeface="Carlito"/>
            </a:endParaRPr>
          </a:p>
          <a:p>
            <a:pPr marL="719455">
              <a:lnSpc>
                <a:spcPct val="100000"/>
              </a:lnSpc>
              <a:spcBef>
                <a:spcPts val="210"/>
              </a:spcBef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determine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if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passwords</a:t>
            </a:r>
            <a:r>
              <a:rPr sz="3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are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stored</a:t>
            </a:r>
            <a:r>
              <a:rPr sz="3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3950" spc="4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c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u</a:t>
            </a:r>
            <a:r>
              <a:rPr sz="3950" spc="-6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3950" spc="4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3950" spc="40" dirty="0">
                <a:solidFill>
                  <a:srgbClr val="0E2C4B"/>
                </a:solidFill>
                <a:latin typeface="Carlito"/>
                <a:cs typeface="Carlito"/>
              </a:rPr>
              <a:t>l</a:t>
            </a:r>
            <a:r>
              <a:rPr sz="3950" spc="-484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3950" spc="5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3950">
              <a:latin typeface="Carlito"/>
              <a:cs typeface="Carlito"/>
            </a:endParaRPr>
          </a:p>
          <a:p>
            <a:pPr marL="719455" marR="5080" indent="-707390">
              <a:lnSpc>
                <a:spcPts val="4950"/>
              </a:lnSpc>
              <a:spcBef>
                <a:spcPts val="95"/>
              </a:spcBef>
              <a:buFont typeface="Arial"/>
              <a:buChar char="•"/>
              <a:tabLst>
                <a:tab pos="719455" algn="l"/>
              </a:tabLst>
            </a:pP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Conduct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technical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interviews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developers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review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how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passwords</a:t>
            </a:r>
            <a:r>
              <a:rPr sz="3950" spc="-9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5" dirty="0">
                <a:solidFill>
                  <a:srgbClr val="0E2C4B"/>
                </a:solidFill>
                <a:latin typeface="Carlito"/>
                <a:cs typeface="Carlito"/>
              </a:rPr>
              <a:t>are stored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in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3950" spc="-9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20" dirty="0">
                <a:solidFill>
                  <a:srgbClr val="0E2C4B"/>
                </a:solidFill>
                <a:latin typeface="Carlito"/>
                <a:cs typeface="Carlito"/>
              </a:rPr>
              <a:t>backend</a:t>
            </a:r>
            <a:r>
              <a:rPr sz="3950" spc="-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3950" spc="-10" dirty="0">
                <a:solidFill>
                  <a:srgbClr val="0E2C4B"/>
                </a:solidFill>
                <a:latin typeface="Carlito"/>
                <a:cs typeface="Carlito"/>
              </a:rPr>
              <a:t>database.</a:t>
            </a:r>
            <a:endParaRPr sz="395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101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250" dirty="0"/>
              <a:t>Insecure</a:t>
            </a:r>
            <a:r>
              <a:rPr sz="7250" spc="-250" dirty="0"/>
              <a:t> </a:t>
            </a:r>
            <a:r>
              <a:rPr sz="7250" spc="-40" dirty="0"/>
              <a:t>Storage</a:t>
            </a:r>
            <a:r>
              <a:rPr sz="7250" spc="-245" dirty="0"/>
              <a:t> </a:t>
            </a:r>
            <a:r>
              <a:rPr sz="7250" dirty="0"/>
              <a:t>of</a:t>
            </a:r>
            <a:r>
              <a:rPr sz="7250" spc="-240" dirty="0"/>
              <a:t> </a:t>
            </a:r>
            <a:r>
              <a:rPr sz="7250" spc="-10" dirty="0"/>
              <a:t>Credentials</a:t>
            </a:r>
            <a:endParaRPr sz="72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23517" y="7689105"/>
          <a:ext cx="15422244" cy="2392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3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884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b="1" spc="-10" dirty="0">
                          <a:latin typeface="Carlito"/>
                          <a:cs typeface="Carlito"/>
                        </a:rPr>
                        <a:t>Algorithm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b="1" spc="-10" dirty="0">
                          <a:latin typeface="Carlito"/>
                          <a:cs typeface="Carlito"/>
                        </a:rPr>
                        <a:t>Password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884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20" dirty="0">
                          <a:latin typeface="Carlito"/>
                          <a:cs typeface="Carlito"/>
                        </a:rPr>
                        <a:t>None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10" dirty="0">
                          <a:latin typeface="Carlito"/>
                          <a:cs typeface="Carlito"/>
                        </a:rPr>
                        <a:t>Password1!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884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dirty="0">
                          <a:latin typeface="Carlito"/>
                          <a:cs typeface="Carlito"/>
                        </a:rPr>
                        <a:t>AES256</a:t>
                      </a:r>
                      <a:r>
                        <a:rPr sz="2600" spc="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600" dirty="0">
                          <a:latin typeface="Carlito"/>
                          <a:cs typeface="Carlito"/>
                        </a:rPr>
                        <a:t>and</a:t>
                      </a:r>
                      <a:r>
                        <a:rPr sz="2600" spc="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600" spc="-25" dirty="0">
                          <a:latin typeface="Carlito"/>
                          <a:cs typeface="Carlito"/>
                        </a:rPr>
                        <a:t>B64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10" dirty="0">
                          <a:latin typeface="Carlito"/>
                          <a:cs typeface="Carlito"/>
                        </a:rPr>
                        <a:t>jc2ZRviEVUuLV7Ljc2q7YQ==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884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25" dirty="0">
                          <a:latin typeface="Carlito"/>
                          <a:cs typeface="Carlito"/>
                        </a:rPr>
                        <a:t>MD5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10" dirty="0">
                          <a:latin typeface="Carlito"/>
                          <a:cs typeface="Carlito"/>
                        </a:rPr>
                        <a:t>0cef1fb10f60529028a71f58e54ed07b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10" dirty="0">
                          <a:latin typeface="Carlito"/>
                          <a:cs typeface="Carlito"/>
                        </a:rPr>
                        <a:t>SHA256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600" spc="-10" dirty="0">
                          <a:latin typeface="Carlito"/>
                          <a:cs typeface="Carlito"/>
                        </a:rPr>
                        <a:t>1D707811988069CA760826861D6D63A10E8C3B7F171C4441A6472EA58C11711B</a:t>
                      </a:r>
                      <a:endParaRPr sz="2600">
                        <a:latin typeface="Carlito"/>
                        <a:cs typeface="Carlito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4499" y="8179855"/>
            <a:ext cx="379464" cy="3794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4499" y="8677432"/>
            <a:ext cx="379464" cy="3794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4499" y="9157417"/>
            <a:ext cx="379464" cy="3794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4499" y="9665045"/>
            <a:ext cx="379464" cy="379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1790"/>
          </a:xfrm>
          <a:custGeom>
            <a:avLst/>
            <a:gdLst/>
            <a:ahLst/>
            <a:cxnLst/>
            <a:rect l="l" t="t" r="r" b="b"/>
            <a:pathLst>
              <a:path w="20103465" h="351790">
                <a:moveTo>
                  <a:pt x="0" y="351193"/>
                </a:moveTo>
                <a:lnTo>
                  <a:pt x="0" y="0"/>
                </a:lnTo>
                <a:lnTo>
                  <a:pt x="20102843" y="0"/>
                </a:lnTo>
                <a:lnTo>
                  <a:pt x="20102843" y="351193"/>
                </a:lnTo>
                <a:lnTo>
                  <a:pt x="0" y="351193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dirty="0"/>
              <a:t>Exploiting</a:t>
            </a:r>
            <a:r>
              <a:rPr spc="-200" dirty="0"/>
              <a:t> </a:t>
            </a:r>
            <a:r>
              <a:rPr spc="-10" dirty="0"/>
              <a:t>Authentication</a:t>
            </a:r>
            <a:r>
              <a:rPr spc="-190" dirty="0"/>
              <a:t> </a:t>
            </a:r>
            <a:r>
              <a:rPr dirty="0"/>
              <a:t>Flaws</a:t>
            </a:r>
            <a:r>
              <a:rPr spc="-204" dirty="0"/>
              <a:t> </a:t>
            </a:r>
            <a:r>
              <a:rPr spc="-20" dirty="0"/>
              <a:t>Labs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2060" y="3032637"/>
            <a:ext cx="8227524" cy="67466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5866" y="2985209"/>
            <a:ext cx="8313221" cy="68169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2145" y="3550751"/>
            <a:ext cx="10478135" cy="1231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b="1" spc="-459" dirty="0">
                <a:latin typeface="Carlito"/>
                <a:cs typeface="Carlito"/>
              </a:rPr>
              <a:t>W</a:t>
            </a:r>
            <a:r>
              <a:rPr b="1" spc="120" dirty="0">
                <a:latin typeface="Carlito"/>
                <a:cs typeface="Carlito"/>
              </a:rPr>
              <a:t>eb</a:t>
            </a:r>
            <a:r>
              <a:rPr b="1" spc="-325" dirty="0">
                <a:latin typeface="Carlito"/>
                <a:cs typeface="Carlito"/>
              </a:rPr>
              <a:t> </a:t>
            </a:r>
            <a:r>
              <a:rPr b="1" dirty="0">
                <a:latin typeface="Carlito"/>
                <a:cs typeface="Carlito"/>
              </a:rPr>
              <a:t>Application</a:t>
            </a:r>
            <a:r>
              <a:rPr b="1" spc="-310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Security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2145" y="4387584"/>
            <a:ext cx="8830310" cy="23729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900" b="1" spc="-137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7900" b="1" spc="35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7900" b="1" spc="-15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7900" b="1" spc="3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7900" b="1" spc="35" dirty="0">
                <a:solidFill>
                  <a:srgbClr val="0E2C4B"/>
                </a:solidFill>
                <a:latin typeface="Carlito"/>
                <a:cs typeface="Carlito"/>
              </a:rPr>
              <a:t>i</a:t>
            </a:r>
            <a:r>
              <a:rPr sz="7900" b="1" spc="30" dirty="0">
                <a:solidFill>
                  <a:srgbClr val="0E2C4B"/>
                </a:solidFill>
                <a:latin typeface="Carlito"/>
                <a:cs typeface="Carlito"/>
              </a:rPr>
              <a:t>n</a:t>
            </a:r>
            <a:r>
              <a:rPr sz="7900" b="1" spc="35" dirty="0">
                <a:solidFill>
                  <a:srgbClr val="0E2C4B"/>
                </a:solidFill>
                <a:latin typeface="Carlito"/>
                <a:cs typeface="Carlito"/>
              </a:rPr>
              <a:t>g</a:t>
            </a:r>
            <a:r>
              <a:rPr sz="7900" b="1" spc="-2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7900" b="1" spc="-50" dirty="0">
                <a:solidFill>
                  <a:srgbClr val="0E2C4B"/>
                </a:solidFill>
                <a:latin typeface="Carlito"/>
                <a:cs typeface="Carlito"/>
              </a:rPr>
              <a:t>(WSTG)</a:t>
            </a:r>
            <a:r>
              <a:rPr sz="7900" b="1" spc="-3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7900" b="1" spc="-10" dirty="0">
                <a:solidFill>
                  <a:srgbClr val="0E2C4B"/>
                </a:solidFill>
                <a:latin typeface="Carlito"/>
                <a:cs typeface="Carlito"/>
              </a:rPr>
              <a:t>Guide</a:t>
            </a:r>
            <a:endParaRPr sz="79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645"/>
              </a:spcBef>
            </a:pPr>
            <a:r>
              <a:rPr sz="4450" i="1" dirty="0">
                <a:solidFill>
                  <a:srgbClr val="0E2C4B"/>
                </a:solidFill>
                <a:latin typeface="Carlito"/>
                <a:cs typeface="Carlito"/>
              </a:rPr>
              <a:t>4.4</a:t>
            </a:r>
            <a:r>
              <a:rPr sz="4450" i="1" spc="-12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450" i="1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4450" i="1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450" i="1" spc="-650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4450" i="1" spc="110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4450" i="1" spc="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450" i="1" spc="114" dirty="0">
                <a:solidFill>
                  <a:srgbClr val="0E2C4B"/>
                </a:solidFill>
                <a:latin typeface="Carlito"/>
                <a:cs typeface="Carlito"/>
              </a:rPr>
              <a:t>t</a:t>
            </a:r>
            <a:r>
              <a:rPr sz="4450" i="1" spc="110" dirty="0">
                <a:solidFill>
                  <a:srgbClr val="0E2C4B"/>
                </a:solidFill>
                <a:latin typeface="Carlito"/>
                <a:cs typeface="Carlito"/>
              </a:rPr>
              <a:t>ing</a:t>
            </a:r>
            <a:endParaRPr sz="445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2145" y="10151178"/>
            <a:ext cx="114287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20" dirty="0">
                <a:solidFill>
                  <a:srgbClr val="0E2C4B"/>
                </a:solidFill>
                <a:latin typeface="Carlito"/>
                <a:cs typeface="Carlito"/>
              </a:rPr>
              <a:t>Testing</a:t>
            </a:r>
            <a:r>
              <a:rPr sz="1700" b="1" spc="2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b="1" dirty="0">
                <a:solidFill>
                  <a:srgbClr val="0E2C4B"/>
                </a:solidFill>
                <a:latin typeface="Carlito"/>
                <a:cs typeface="Carlito"/>
              </a:rPr>
              <a:t>Guide</a:t>
            </a:r>
            <a:r>
              <a:rPr sz="1700" b="1" spc="2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b="1" dirty="0">
                <a:solidFill>
                  <a:srgbClr val="0E2C4B"/>
                </a:solidFill>
                <a:latin typeface="Carlito"/>
                <a:cs typeface="Carlito"/>
              </a:rPr>
              <a:t>Link:</a:t>
            </a:r>
            <a:r>
              <a:rPr sz="1700" b="1" spc="229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0E2C4B"/>
                </a:solidFill>
                <a:latin typeface="Carlito"/>
                <a:cs typeface="Carlito"/>
              </a:rPr>
              <a:t>:</a:t>
            </a:r>
            <a:r>
              <a:rPr sz="1700" spc="2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i="1" dirty="0">
                <a:solidFill>
                  <a:srgbClr val="0E2C4B"/>
                </a:solidFill>
                <a:latin typeface="Carlito"/>
                <a:cs typeface="Carlito"/>
              </a:rPr>
              <a:t>https://owasp.org/www-</a:t>
            </a:r>
            <a:r>
              <a:rPr sz="1700" i="1" spc="-10" dirty="0">
                <a:solidFill>
                  <a:srgbClr val="0E2C4B"/>
                </a:solidFill>
                <a:latin typeface="Carlito"/>
                <a:cs typeface="Carlito"/>
              </a:rPr>
              <a:t>project-</a:t>
            </a:r>
            <a:r>
              <a:rPr sz="1700" i="1" dirty="0">
                <a:solidFill>
                  <a:srgbClr val="0E2C4B"/>
                </a:solidFill>
                <a:latin typeface="Carlito"/>
                <a:cs typeface="Carlito"/>
              </a:rPr>
              <a:t>web-security-testing-</a:t>
            </a:r>
            <a:r>
              <a:rPr sz="1700" i="1" spc="-10" dirty="0">
                <a:solidFill>
                  <a:srgbClr val="0E2C4B"/>
                </a:solidFill>
                <a:latin typeface="Carlito"/>
                <a:cs typeface="Carlito"/>
              </a:rPr>
              <a:t>guide/assets/archive/OWASP_Testing_Guide_v4.pdf</a:t>
            </a:r>
            <a:endParaRPr sz="1700">
              <a:latin typeface="Carlito"/>
              <a:cs typeface="Carli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0874" y="1133211"/>
            <a:ext cx="6407029" cy="82929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3465" cy="11308715"/>
            <a:chOff x="0" y="0"/>
            <a:chExt cx="20103465" cy="11308715"/>
          </a:xfrm>
        </p:grpSpPr>
        <p:sp>
          <p:nvSpPr>
            <p:cNvPr id="3" name="object 3"/>
            <p:cNvSpPr/>
            <p:nvPr/>
          </p:nvSpPr>
          <p:spPr>
            <a:xfrm>
              <a:off x="11817964" y="190779"/>
              <a:ext cx="8285480" cy="11118215"/>
            </a:xfrm>
            <a:custGeom>
              <a:avLst/>
              <a:gdLst/>
              <a:ahLst/>
              <a:cxnLst/>
              <a:rect l="l" t="t" r="r" b="b"/>
              <a:pathLst>
                <a:path w="8285480" h="11118215">
                  <a:moveTo>
                    <a:pt x="0" y="0"/>
                  </a:moveTo>
                  <a:lnTo>
                    <a:pt x="8284878" y="0"/>
                  </a:lnTo>
                  <a:lnTo>
                    <a:pt x="8284878" y="11117776"/>
                  </a:lnTo>
                  <a:lnTo>
                    <a:pt x="0" y="11117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7337" y="3689102"/>
              <a:ext cx="5196909" cy="44781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0103465" cy="357505"/>
            </a:xfrm>
            <a:custGeom>
              <a:avLst/>
              <a:gdLst/>
              <a:ahLst/>
              <a:cxnLst/>
              <a:rect l="l" t="t" r="r" b="b"/>
              <a:pathLst>
                <a:path w="20103465" h="357505">
                  <a:moveTo>
                    <a:pt x="20102843" y="0"/>
                  </a:moveTo>
                  <a:lnTo>
                    <a:pt x="0" y="0"/>
                  </a:lnTo>
                  <a:lnTo>
                    <a:pt x="0" y="357057"/>
                  </a:lnTo>
                  <a:lnTo>
                    <a:pt x="20102843" y="357057"/>
                  </a:lnTo>
                  <a:lnTo>
                    <a:pt x="2010284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18849" y="4321409"/>
            <a:ext cx="6296025" cy="304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6600" b="1" dirty="0">
                <a:latin typeface="Carlito"/>
                <a:cs typeface="Carlito"/>
              </a:rPr>
              <a:t>HOW</a:t>
            </a:r>
            <a:r>
              <a:rPr sz="6600" b="1" spc="-305" dirty="0">
                <a:latin typeface="Carlito"/>
                <a:cs typeface="Carlito"/>
              </a:rPr>
              <a:t> </a:t>
            </a:r>
            <a:r>
              <a:rPr sz="6600" spc="-90" dirty="0"/>
              <a:t>TO</a:t>
            </a:r>
            <a:r>
              <a:rPr sz="6600" spc="-280" dirty="0"/>
              <a:t> </a:t>
            </a:r>
            <a:r>
              <a:rPr sz="6600" spc="-10" dirty="0"/>
              <a:t>PREVENT </a:t>
            </a:r>
            <a:r>
              <a:rPr sz="6600" spc="-160" dirty="0"/>
              <a:t>A</a:t>
            </a:r>
            <a:r>
              <a:rPr sz="6600" spc="60" dirty="0"/>
              <a:t>U</a:t>
            </a:r>
            <a:r>
              <a:rPr sz="6600" spc="55" dirty="0"/>
              <a:t>T</a:t>
            </a:r>
            <a:r>
              <a:rPr sz="6600" spc="60" dirty="0"/>
              <a:t>H</a:t>
            </a:r>
            <a:r>
              <a:rPr sz="6600" spc="65" dirty="0"/>
              <a:t>E</a:t>
            </a:r>
            <a:r>
              <a:rPr sz="6600" spc="50" dirty="0"/>
              <a:t>N</a:t>
            </a:r>
            <a:r>
              <a:rPr sz="6600" spc="55" dirty="0"/>
              <a:t>T</a:t>
            </a:r>
            <a:r>
              <a:rPr sz="6600" spc="60" dirty="0"/>
              <a:t>I</a:t>
            </a:r>
            <a:r>
              <a:rPr sz="6600" spc="50" dirty="0"/>
              <a:t>C</a:t>
            </a:r>
            <a:r>
              <a:rPr sz="6600" spc="-1015" dirty="0"/>
              <a:t>A</a:t>
            </a:r>
            <a:r>
              <a:rPr sz="6600" spc="55" dirty="0"/>
              <a:t>T</a:t>
            </a:r>
            <a:r>
              <a:rPr sz="6600" spc="60" dirty="0"/>
              <a:t>I</a:t>
            </a:r>
            <a:r>
              <a:rPr sz="6600" spc="50" dirty="0"/>
              <a:t>O</a:t>
            </a:r>
            <a:r>
              <a:rPr sz="6600" spc="60" dirty="0"/>
              <a:t>N</a:t>
            </a:r>
            <a:r>
              <a:rPr sz="6600" spc="-40" dirty="0"/>
              <a:t> </a:t>
            </a:r>
            <a:r>
              <a:rPr sz="6600" spc="-20" dirty="0"/>
              <a:t>VULNERABILITIES?</a:t>
            </a:r>
            <a:endParaRPr sz="6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25" dirty="0"/>
              <a:t>Preventing</a:t>
            </a:r>
            <a:r>
              <a:rPr spc="-350" dirty="0"/>
              <a:t> </a:t>
            </a:r>
            <a:r>
              <a:rPr spc="-10" dirty="0"/>
              <a:t>Authentication</a:t>
            </a:r>
            <a:r>
              <a:rPr spc="-345" dirty="0"/>
              <a:t> </a:t>
            </a:r>
            <a:r>
              <a:rPr spc="-30" dirty="0"/>
              <a:t>Vulnerabilities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46295" y="2535494"/>
            <a:ext cx="16961485" cy="7564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indent="-379095">
              <a:lnSpc>
                <a:spcPts val="5940"/>
              </a:lnSpc>
              <a:spcBef>
                <a:spcPts val="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Wherever</a:t>
            </a:r>
            <a:r>
              <a:rPr sz="4950" spc="-21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possible,</a:t>
            </a:r>
            <a:r>
              <a:rPr sz="4950" spc="-20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implement</a:t>
            </a:r>
            <a:r>
              <a:rPr sz="4950" spc="-2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0" dirty="0">
                <a:solidFill>
                  <a:srgbClr val="0E2C4B"/>
                </a:solidFill>
                <a:latin typeface="Carlito"/>
                <a:cs typeface="Carlito"/>
              </a:rPr>
              <a:t>multi-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factor</a:t>
            </a:r>
            <a:r>
              <a:rPr sz="4950" spc="-2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authentication.</a:t>
            </a:r>
            <a:endParaRPr sz="4950">
              <a:latin typeface="Carlito"/>
              <a:cs typeface="Carlito"/>
            </a:endParaRPr>
          </a:p>
          <a:p>
            <a:pPr marL="391795" indent="-379095">
              <a:lnSpc>
                <a:spcPts val="5935"/>
              </a:lnSpc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Change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all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default</a:t>
            </a:r>
            <a:r>
              <a:rPr sz="4950" spc="-14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credentials.</a:t>
            </a:r>
            <a:endParaRPr sz="4950">
              <a:latin typeface="Carlito"/>
              <a:cs typeface="Carlito"/>
            </a:endParaRPr>
          </a:p>
          <a:p>
            <a:pPr marL="391795" marR="1043305" indent="-379730">
              <a:lnSpc>
                <a:spcPts val="5940"/>
              </a:lnSpc>
              <a:spcBef>
                <a:spcPts val="1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Always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encrypted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channel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/</a:t>
            </a:r>
            <a:r>
              <a:rPr sz="4950" spc="-12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connection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(HTTPS)</a:t>
            </a:r>
            <a:r>
              <a:rPr sz="4950" spc="-11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when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sending</a:t>
            </a:r>
            <a:r>
              <a:rPr sz="4950" spc="-1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user</a:t>
            </a:r>
            <a:r>
              <a:rPr sz="4950" spc="-10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credentials.</a:t>
            </a:r>
            <a:endParaRPr sz="4950">
              <a:latin typeface="Carlito"/>
              <a:cs typeface="Carlito"/>
            </a:endParaRPr>
          </a:p>
          <a:p>
            <a:pPr marL="391795" indent="-379095">
              <a:lnSpc>
                <a:spcPts val="5735"/>
              </a:lnSpc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Only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POST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requests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should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be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used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transmit</a:t>
            </a:r>
            <a:r>
              <a:rPr sz="4950" spc="-13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credentials</a:t>
            </a:r>
            <a:r>
              <a:rPr sz="4950" spc="-13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4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endParaRPr sz="4950">
              <a:latin typeface="Carlito"/>
              <a:cs typeface="Carlito"/>
            </a:endParaRPr>
          </a:p>
          <a:p>
            <a:pPr marL="391795">
              <a:lnSpc>
                <a:spcPts val="5935"/>
              </a:lnSpc>
            </a:pPr>
            <a:r>
              <a:rPr sz="4950" spc="13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950" spc="130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4950" spc="21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4950" spc="25" dirty="0">
                <a:solidFill>
                  <a:srgbClr val="0E2C4B"/>
                </a:solidFill>
                <a:latin typeface="Carlito"/>
                <a:cs typeface="Carlito"/>
              </a:rPr>
              <a:t>v</a:t>
            </a:r>
            <a:r>
              <a:rPr sz="4950" spc="130" dirty="0">
                <a:solidFill>
                  <a:srgbClr val="0E2C4B"/>
                </a:solidFill>
                <a:latin typeface="Carlito"/>
                <a:cs typeface="Carlito"/>
              </a:rPr>
              <a:t>e</a:t>
            </a:r>
            <a:r>
              <a:rPr sz="4950" spc="-91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4950" spc="130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4950">
              <a:latin typeface="Carlito"/>
              <a:cs typeface="Carlito"/>
            </a:endParaRPr>
          </a:p>
          <a:p>
            <a:pPr marL="391795" marR="3070225" indent="-379730">
              <a:lnSpc>
                <a:spcPts val="5940"/>
              </a:lnSpc>
              <a:spcBef>
                <a:spcPts val="200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Stored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credentials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should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hashed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and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salted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using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cryptographically</a:t>
            </a:r>
            <a:r>
              <a:rPr sz="4950" spc="-21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secure</a:t>
            </a:r>
            <a:r>
              <a:rPr sz="4950" spc="-204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algorithms.</a:t>
            </a:r>
            <a:endParaRPr sz="4950">
              <a:latin typeface="Carlito"/>
              <a:cs typeface="Carlito"/>
            </a:endParaRPr>
          </a:p>
          <a:p>
            <a:pPr marL="391795" indent="-379095">
              <a:lnSpc>
                <a:spcPts val="5735"/>
              </a:lnSpc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identical,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generic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error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messages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login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form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when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endParaRPr sz="4950">
              <a:latin typeface="Carlito"/>
              <a:cs typeface="Carlito"/>
            </a:endParaRPr>
          </a:p>
          <a:p>
            <a:pPr marL="391795">
              <a:lnSpc>
                <a:spcPts val="5940"/>
              </a:lnSpc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user</a:t>
            </a:r>
            <a:r>
              <a:rPr sz="4950" spc="-1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55" dirty="0">
                <a:solidFill>
                  <a:srgbClr val="0E2C4B"/>
                </a:solidFill>
                <a:latin typeface="Carlito"/>
                <a:cs typeface="Carlito"/>
              </a:rPr>
              <a:t>enters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incorrect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credentials.</a:t>
            </a:r>
            <a:endParaRPr sz="4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25" dirty="0"/>
              <a:t>Preventing</a:t>
            </a:r>
            <a:r>
              <a:rPr spc="-350" dirty="0"/>
              <a:t> </a:t>
            </a:r>
            <a:r>
              <a:rPr spc="-10" dirty="0"/>
              <a:t>Authentication</a:t>
            </a:r>
            <a:r>
              <a:rPr spc="-345" dirty="0"/>
              <a:t> </a:t>
            </a:r>
            <a:r>
              <a:rPr spc="-30" dirty="0"/>
              <a:t>Vulnerabilities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46295" y="2535494"/>
            <a:ext cx="17880965" cy="6811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indent="-379095">
              <a:lnSpc>
                <a:spcPts val="5940"/>
              </a:lnSpc>
              <a:spcBef>
                <a:spcPts val="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...</a:t>
            </a:r>
            <a:endParaRPr sz="4950">
              <a:latin typeface="Carlito"/>
              <a:cs typeface="Carlito"/>
            </a:endParaRPr>
          </a:p>
          <a:p>
            <a:pPr marL="391795" marR="455295" indent="-379730">
              <a:lnSpc>
                <a:spcPts val="5940"/>
              </a:lnSpc>
              <a:spcBef>
                <a:spcPts val="195"/>
              </a:spcBef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Implement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55" dirty="0">
                <a:solidFill>
                  <a:srgbClr val="0E2C4B"/>
                </a:solidFill>
                <a:latin typeface="Carlito"/>
                <a:cs typeface="Carlito"/>
              </a:rPr>
              <a:t>effective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policy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that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is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compliant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with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NIST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800-63-</a:t>
            </a:r>
            <a:r>
              <a:rPr sz="4950" spc="5" dirty="0">
                <a:solidFill>
                  <a:srgbClr val="0E2C4B"/>
                </a:solidFill>
                <a:latin typeface="Carlito"/>
                <a:cs typeface="Carlito"/>
              </a:rPr>
              <a:t>b</a:t>
            </a:r>
            <a:r>
              <a:rPr sz="4950" spc="-625" dirty="0">
                <a:solidFill>
                  <a:srgbClr val="0E2C4B"/>
                </a:solidFill>
                <a:latin typeface="Carlito"/>
                <a:cs typeface="Carlito"/>
              </a:rPr>
              <a:t>’</a:t>
            </a:r>
            <a:r>
              <a:rPr sz="4950" spc="5" dirty="0">
                <a:solidFill>
                  <a:srgbClr val="0E2C4B"/>
                </a:solidFill>
                <a:latin typeface="Carlito"/>
                <a:cs typeface="Carlito"/>
              </a:rPr>
              <a:t>s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guidelines.</a:t>
            </a:r>
            <a:endParaRPr sz="4950">
              <a:latin typeface="Carlito"/>
              <a:cs typeface="Carlito"/>
            </a:endParaRPr>
          </a:p>
          <a:p>
            <a:pPr marL="768350" lvl="1" indent="-379095">
              <a:lnSpc>
                <a:spcPts val="5735"/>
              </a:lnSpc>
              <a:buFont typeface="Arial"/>
              <a:buChar char="•"/>
              <a:tabLst>
                <a:tab pos="768350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Use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simple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checker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0" dirty="0">
                <a:solidFill>
                  <a:srgbClr val="0E2C4B"/>
                </a:solidFill>
                <a:latin typeface="Carlito"/>
                <a:cs typeface="Carlito"/>
              </a:rPr>
              <a:t>provide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real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time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feedback</a:t>
            </a:r>
            <a:r>
              <a:rPr sz="4950" spc="-15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endParaRPr sz="4950">
              <a:latin typeface="Carlito"/>
              <a:cs typeface="Carlito"/>
            </a:endParaRPr>
          </a:p>
          <a:p>
            <a:pPr marL="768985" marR="1736725">
              <a:lnSpc>
                <a:spcPts val="5940"/>
              </a:lnSpc>
              <a:spcBef>
                <a:spcPts val="200"/>
              </a:spcBef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0" dirty="0">
                <a:solidFill>
                  <a:srgbClr val="0E2C4B"/>
                </a:solidFill>
                <a:latin typeface="Carlito"/>
                <a:cs typeface="Carlito"/>
              </a:rPr>
              <a:t>strength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of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the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password.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For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5" dirty="0">
                <a:solidFill>
                  <a:srgbClr val="0E2C4B"/>
                </a:solidFill>
                <a:latin typeface="Carlito"/>
                <a:cs typeface="Carlito"/>
              </a:rPr>
              <a:t>example: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zxcvbn</a:t>
            </a:r>
            <a:r>
              <a:rPr sz="4950" spc="-16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JavaScript </a:t>
            </a:r>
            <a:r>
              <a:rPr sz="4950" spc="85" dirty="0">
                <a:solidFill>
                  <a:srgbClr val="0E2C4B"/>
                </a:solidFill>
                <a:latin typeface="Carlito"/>
                <a:cs typeface="Carlito"/>
              </a:rPr>
              <a:t>li</a:t>
            </a:r>
            <a:r>
              <a:rPr sz="4950" spc="95" dirty="0">
                <a:solidFill>
                  <a:srgbClr val="0E2C4B"/>
                </a:solidFill>
                <a:latin typeface="Carlito"/>
                <a:cs typeface="Carlito"/>
              </a:rPr>
              <a:t>b</a:t>
            </a:r>
            <a:r>
              <a:rPr sz="4950" spc="-125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4950" spc="95" dirty="0">
                <a:solidFill>
                  <a:srgbClr val="0E2C4B"/>
                </a:solidFill>
                <a:latin typeface="Carlito"/>
                <a:cs typeface="Carlito"/>
              </a:rPr>
              <a:t>a</a:t>
            </a:r>
            <a:r>
              <a:rPr sz="4950" spc="140" dirty="0">
                <a:solidFill>
                  <a:srgbClr val="0E2C4B"/>
                </a:solidFill>
                <a:latin typeface="Carlito"/>
                <a:cs typeface="Carlito"/>
              </a:rPr>
              <a:t>r</a:t>
            </a:r>
            <a:r>
              <a:rPr sz="4950" spc="-580" dirty="0">
                <a:solidFill>
                  <a:srgbClr val="0E2C4B"/>
                </a:solidFill>
                <a:latin typeface="Carlito"/>
                <a:cs typeface="Carlito"/>
              </a:rPr>
              <a:t>y</a:t>
            </a:r>
            <a:r>
              <a:rPr sz="4950" spc="95" dirty="0">
                <a:solidFill>
                  <a:srgbClr val="0E2C4B"/>
                </a:solidFill>
                <a:latin typeface="Carlito"/>
                <a:cs typeface="Carlito"/>
              </a:rPr>
              <a:t>.</a:t>
            </a:r>
            <a:endParaRPr sz="4950">
              <a:latin typeface="Carlito"/>
              <a:cs typeface="Carlito"/>
            </a:endParaRPr>
          </a:p>
          <a:p>
            <a:pPr marL="391795" indent="-379095">
              <a:lnSpc>
                <a:spcPts val="5735"/>
              </a:lnSpc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Implement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robust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brute</a:t>
            </a:r>
            <a:r>
              <a:rPr sz="4950" spc="-1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45" dirty="0">
                <a:solidFill>
                  <a:srgbClr val="0E2C4B"/>
                </a:solidFill>
                <a:latin typeface="Carlito"/>
                <a:cs typeface="Carlito"/>
              </a:rPr>
              <a:t>force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protection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on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all</a:t>
            </a:r>
            <a:r>
              <a:rPr sz="4950" spc="-17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3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r>
              <a:rPr sz="4950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pages.</a:t>
            </a:r>
            <a:endParaRPr sz="4950">
              <a:latin typeface="Carlito"/>
              <a:cs typeface="Carlito"/>
            </a:endParaRPr>
          </a:p>
          <a:p>
            <a:pPr marL="391795" marR="1319530" indent="-379730">
              <a:lnSpc>
                <a:spcPts val="5940"/>
              </a:lnSpc>
              <a:spcBef>
                <a:spcPts val="90"/>
              </a:spcBef>
              <a:buFont typeface="Arial"/>
              <a:buChar char="•"/>
              <a:tabLst>
                <a:tab pos="391795" algn="l"/>
              </a:tabLst>
            </a:pP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Audit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any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verification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or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25" dirty="0">
                <a:solidFill>
                  <a:srgbClr val="0E2C4B"/>
                </a:solidFill>
                <a:latin typeface="Carlito"/>
                <a:cs typeface="Carlito"/>
              </a:rPr>
              <a:t>validation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logic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thoroughly</a:t>
            </a:r>
            <a:r>
              <a:rPr sz="4950" spc="-16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dirty="0">
                <a:solidFill>
                  <a:srgbClr val="0E2C4B"/>
                </a:solidFill>
                <a:latin typeface="Carlito"/>
                <a:cs typeface="Carlito"/>
              </a:rPr>
              <a:t>to</a:t>
            </a:r>
            <a:r>
              <a:rPr sz="4950" spc="-15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950" spc="-10" dirty="0">
                <a:solidFill>
                  <a:srgbClr val="0E2C4B"/>
                </a:solidFill>
                <a:latin typeface="Carlito"/>
                <a:cs typeface="Carlito"/>
              </a:rPr>
              <a:t>eliminate flaws.</a:t>
            </a:r>
            <a:endParaRPr sz="49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92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5"/>
              </a:spcBef>
            </a:pPr>
            <a:r>
              <a:rPr sz="7000" dirty="0"/>
              <a:t>Application</a:t>
            </a:r>
            <a:r>
              <a:rPr sz="7000" spc="-270" dirty="0"/>
              <a:t> </a:t>
            </a:r>
            <a:r>
              <a:rPr sz="7000" dirty="0"/>
              <a:t>Security</a:t>
            </a:r>
            <a:r>
              <a:rPr sz="7000" spc="-270" dirty="0"/>
              <a:t> </a:t>
            </a:r>
            <a:r>
              <a:rPr sz="7000" spc="-695" dirty="0"/>
              <a:t>V</a:t>
            </a:r>
            <a:r>
              <a:rPr sz="7000" spc="10" dirty="0"/>
              <a:t>e</a:t>
            </a:r>
            <a:r>
              <a:rPr sz="7000" spc="15" dirty="0"/>
              <a:t>r</a:t>
            </a:r>
            <a:r>
              <a:rPr sz="7000" spc="10" dirty="0"/>
              <a:t>i</a:t>
            </a:r>
            <a:r>
              <a:rPr sz="7000" spc="25" dirty="0"/>
              <a:t>f</a:t>
            </a:r>
            <a:r>
              <a:rPr sz="7000" spc="10" dirty="0"/>
              <a:t>i</a:t>
            </a:r>
            <a:r>
              <a:rPr sz="7000" spc="-95" dirty="0"/>
              <a:t>c</a:t>
            </a:r>
            <a:r>
              <a:rPr sz="7000" spc="-114" dirty="0"/>
              <a:t>a</a:t>
            </a:r>
            <a:r>
              <a:rPr sz="7000" spc="20" dirty="0"/>
              <a:t>t</a:t>
            </a:r>
            <a:r>
              <a:rPr sz="7000" spc="10" dirty="0"/>
              <a:t>i</a:t>
            </a:r>
            <a:r>
              <a:rPr sz="7000" spc="20" dirty="0"/>
              <a:t>on</a:t>
            </a:r>
            <a:r>
              <a:rPr sz="7000" spc="-265" dirty="0"/>
              <a:t> </a:t>
            </a:r>
            <a:r>
              <a:rPr sz="7000" spc="-10" dirty="0"/>
              <a:t>Standard</a:t>
            </a:r>
            <a:r>
              <a:rPr sz="7000" spc="-275" dirty="0"/>
              <a:t> </a:t>
            </a:r>
            <a:r>
              <a:rPr sz="7000" spc="-10" dirty="0"/>
              <a:t>(ASVS)</a:t>
            </a:r>
            <a:endParaRPr sz="7000"/>
          </a:p>
        </p:txBody>
      </p:sp>
      <p:sp>
        <p:nvSpPr>
          <p:cNvPr id="7" name="object 7"/>
          <p:cNvSpPr txBox="1"/>
          <p:nvPr/>
        </p:nvSpPr>
        <p:spPr>
          <a:xfrm>
            <a:off x="1122145" y="10151178"/>
            <a:ext cx="1083564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dirty="0">
                <a:solidFill>
                  <a:srgbClr val="0E2C4B"/>
                </a:solidFill>
                <a:latin typeface="Carlito"/>
                <a:cs typeface="Carlito"/>
              </a:rPr>
              <a:t>ASVS</a:t>
            </a:r>
            <a:r>
              <a:rPr sz="1700" b="1" spc="2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b="1" dirty="0">
                <a:solidFill>
                  <a:srgbClr val="0E2C4B"/>
                </a:solidFill>
                <a:latin typeface="Carlito"/>
                <a:cs typeface="Carlito"/>
              </a:rPr>
              <a:t>Guide</a:t>
            </a:r>
            <a:r>
              <a:rPr sz="1700" b="1" spc="28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b="1" dirty="0">
                <a:solidFill>
                  <a:srgbClr val="0E2C4B"/>
                </a:solidFill>
                <a:latin typeface="Carlito"/>
                <a:cs typeface="Carlito"/>
              </a:rPr>
              <a:t>Link:</a:t>
            </a:r>
            <a:r>
              <a:rPr sz="1700" b="1" spc="27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0E2C4B"/>
                </a:solidFill>
                <a:latin typeface="Carlito"/>
                <a:cs typeface="Carlito"/>
              </a:rPr>
              <a:t>:</a:t>
            </a:r>
            <a:r>
              <a:rPr sz="1700" spc="2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1700" i="1" dirty="0">
                <a:solidFill>
                  <a:srgbClr val="0E2C4B"/>
                </a:solidFill>
                <a:latin typeface="Carlito"/>
                <a:cs typeface="Carlito"/>
              </a:rPr>
              <a:t>https://owasp.org/www-pdf-archive/OWASP_Application_Security_Verification_Standard_4.0-</a:t>
            </a:r>
            <a:r>
              <a:rPr sz="1700" i="1" spc="-10" dirty="0">
                <a:solidFill>
                  <a:srgbClr val="0E2C4B"/>
                </a:solidFill>
                <a:latin typeface="Carlito"/>
                <a:cs typeface="Carlito"/>
              </a:rPr>
              <a:t>en.pdf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2145" y="4008120"/>
            <a:ext cx="5872480" cy="169926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4450" i="1" dirty="0">
                <a:solidFill>
                  <a:srgbClr val="0E2C4B"/>
                </a:solidFill>
                <a:latin typeface="Carlito"/>
                <a:cs typeface="Carlito"/>
              </a:rPr>
              <a:t>V2:</a:t>
            </a:r>
            <a:r>
              <a:rPr sz="4450" i="1" spc="-5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450" i="1" spc="-10" dirty="0">
                <a:solidFill>
                  <a:srgbClr val="0E2C4B"/>
                </a:solidFill>
                <a:latin typeface="Carlito"/>
                <a:cs typeface="Carlito"/>
              </a:rPr>
              <a:t>Authentication</a:t>
            </a:r>
            <a:endParaRPr sz="44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4450" i="1" spc="-35" dirty="0">
                <a:solidFill>
                  <a:srgbClr val="0E2C4B"/>
                </a:solidFill>
                <a:latin typeface="Carlito"/>
                <a:cs typeface="Carlito"/>
              </a:rPr>
              <a:t>Verification</a:t>
            </a:r>
            <a:r>
              <a:rPr sz="4450" i="1" spc="-180" dirty="0">
                <a:solidFill>
                  <a:srgbClr val="0E2C4B"/>
                </a:solidFill>
                <a:latin typeface="Carlito"/>
                <a:cs typeface="Carlito"/>
              </a:rPr>
              <a:t> </a:t>
            </a:r>
            <a:r>
              <a:rPr sz="4450" i="1" spc="-10" dirty="0">
                <a:solidFill>
                  <a:srgbClr val="0E2C4B"/>
                </a:solidFill>
                <a:latin typeface="Carlito"/>
                <a:cs typeface="Carlito"/>
              </a:rPr>
              <a:t>Requirements</a:t>
            </a:r>
            <a:endParaRPr sz="445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408812" y="2529378"/>
            <a:ext cx="10673080" cy="7104380"/>
            <a:chOff x="8408812" y="2529378"/>
            <a:chExt cx="10673080" cy="71043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7590" y="2802453"/>
              <a:ext cx="10030172" cy="66385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412738" y="2533305"/>
              <a:ext cx="10665460" cy="7096759"/>
            </a:xfrm>
            <a:custGeom>
              <a:avLst/>
              <a:gdLst/>
              <a:ahLst/>
              <a:cxnLst/>
              <a:rect l="l" t="t" r="r" b="b"/>
              <a:pathLst>
                <a:path w="10665460" h="7096759">
                  <a:moveTo>
                    <a:pt x="0" y="0"/>
                  </a:moveTo>
                  <a:lnTo>
                    <a:pt x="10664973" y="0"/>
                  </a:lnTo>
                  <a:lnTo>
                    <a:pt x="10664973" y="7096510"/>
                  </a:lnTo>
                  <a:lnTo>
                    <a:pt x="0" y="7096510"/>
                  </a:lnTo>
                  <a:lnTo>
                    <a:pt x="0" y="0"/>
                  </a:lnTo>
                  <a:close/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3465" cy="357505"/>
          </a:xfrm>
          <a:custGeom>
            <a:avLst/>
            <a:gdLst/>
            <a:ahLst/>
            <a:cxnLst/>
            <a:rect l="l" t="t" r="r" b="b"/>
            <a:pathLst>
              <a:path w="20103465" h="357505">
                <a:moveTo>
                  <a:pt x="20102843" y="0"/>
                </a:moveTo>
                <a:lnTo>
                  <a:pt x="0" y="0"/>
                </a:lnTo>
                <a:lnTo>
                  <a:pt x="0" y="357057"/>
                </a:lnTo>
                <a:lnTo>
                  <a:pt x="20102843" y="357057"/>
                </a:lnTo>
                <a:lnTo>
                  <a:pt x="20102843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4467" y="7"/>
            <a:ext cx="364379" cy="364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15"/>
              </a:spcBef>
            </a:pPr>
            <a:r>
              <a:rPr spc="-50" dirty="0"/>
              <a:t>Resources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9019" y="2634339"/>
            <a:ext cx="17039590" cy="74695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391160" algn="l"/>
              </a:tabLst>
            </a:pPr>
            <a:r>
              <a:rPr sz="4250" spc="-20" dirty="0">
                <a:latin typeface="Carlito"/>
                <a:cs typeface="Carlito"/>
              </a:rPr>
              <a:t>Web</a:t>
            </a:r>
            <a:r>
              <a:rPr sz="4250" spc="-12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Security</a:t>
            </a:r>
            <a:r>
              <a:rPr sz="4250" spc="-120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Academy</a:t>
            </a:r>
            <a:r>
              <a:rPr sz="4250" spc="-13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–</a:t>
            </a:r>
            <a:r>
              <a:rPr sz="4250" spc="-12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Authentication</a:t>
            </a:r>
            <a:r>
              <a:rPr sz="4250" spc="-114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Vulnerabilities</a:t>
            </a:r>
            <a:endParaRPr sz="4250">
              <a:latin typeface="Carlito"/>
              <a:cs typeface="Carlito"/>
            </a:endParaRPr>
          </a:p>
          <a:p>
            <a:pPr marL="954405" lvl="1" indent="-565150">
              <a:lnSpc>
                <a:spcPts val="3940"/>
              </a:lnSpc>
              <a:spcBef>
                <a:spcPts val="45"/>
              </a:spcBef>
              <a:buFont typeface="Wingdings"/>
              <a:buChar char=""/>
              <a:tabLst>
                <a:tab pos="954405" algn="l"/>
              </a:tabLst>
            </a:pPr>
            <a:r>
              <a:rPr sz="3300" i="1" spc="-80" dirty="0">
                <a:latin typeface="Carlito"/>
                <a:cs typeface="Carlito"/>
              </a:rPr>
              <a:t>h</a:t>
            </a:r>
            <a:r>
              <a:rPr sz="3300" i="1" spc="-75" dirty="0">
                <a:latin typeface="Carlito"/>
                <a:cs typeface="Carlito"/>
              </a:rPr>
              <a:t>t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50" dirty="0">
                <a:latin typeface="Carlito"/>
                <a:cs typeface="Carlito"/>
              </a:rPr>
              <a:t>p</a:t>
            </a:r>
            <a:r>
              <a:rPr sz="3300" i="1" spc="-15" dirty="0">
                <a:latin typeface="Carlito"/>
                <a:cs typeface="Carlito"/>
              </a:rPr>
              <a:t>s:</a:t>
            </a:r>
            <a:r>
              <a:rPr sz="3300" i="1" spc="-20" dirty="0">
                <a:latin typeface="Carlito"/>
                <a:cs typeface="Carlito"/>
              </a:rPr>
              <a:t>//</a:t>
            </a:r>
            <a:r>
              <a:rPr sz="3300" i="1" spc="-15" dirty="0">
                <a:latin typeface="Carlito"/>
                <a:cs typeface="Carlito"/>
              </a:rPr>
              <a:t>p</a:t>
            </a:r>
            <a:r>
              <a:rPr sz="3300" i="1" spc="-20" dirty="0">
                <a:latin typeface="Carlito"/>
                <a:cs typeface="Carlito"/>
              </a:rPr>
              <a:t>o</a:t>
            </a:r>
            <a:r>
              <a:rPr sz="3300" i="1" spc="-15" dirty="0">
                <a:latin typeface="Carlito"/>
                <a:cs typeface="Carlito"/>
              </a:rPr>
              <a:t>r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55" dirty="0">
                <a:latin typeface="Carlito"/>
                <a:cs typeface="Carlito"/>
              </a:rPr>
              <a:t>s</a:t>
            </a:r>
            <a:r>
              <a:rPr sz="3300" i="1" spc="-15" dirty="0">
                <a:latin typeface="Carlito"/>
                <a:cs typeface="Carlito"/>
              </a:rPr>
              <a:t>w</a:t>
            </a:r>
            <a:r>
              <a:rPr sz="3300" i="1" spc="-30" dirty="0">
                <a:latin typeface="Carlito"/>
                <a:cs typeface="Carlito"/>
              </a:rPr>
              <a:t>i</a:t>
            </a:r>
            <a:r>
              <a:rPr sz="3300" i="1" spc="-10" dirty="0">
                <a:latin typeface="Carlito"/>
                <a:cs typeface="Carlito"/>
              </a:rPr>
              <a:t>gg</a:t>
            </a:r>
            <a:r>
              <a:rPr sz="3300" i="1" spc="-15" dirty="0">
                <a:latin typeface="Carlito"/>
                <a:cs typeface="Carlito"/>
              </a:rPr>
              <a:t>e</a:t>
            </a:r>
            <a:r>
              <a:rPr sz="3300" i="1" spc="-570" dirty="0">
                <a:latin typeface="Carlito"/>
                <a:cs typeface="Carlito"/>
              </a:rPr>
              <a:t>r</a:t>
            </a:r>
            <a:r>
              <a:rPr sz="3300" i="1" spc="-15" dirty="0">
                <a:latin typeface="Carlito"/>
                <a:cs typeface="Carlito"/>
              </a:rPr>
              <a:t>.</a:t>
            </a:r>
            <a:r>
              <a:rPr sz="3300" i="1" spc="-10" dirty="0">
                <a:latin typeface="Carlito"/>
                <a:cs typeface="Carlito"/>
              </a:rPr>
              <a:t>n</a:t>
            </a:r>
            <a:r>
              <a:rPr sz="3300" i="1" spc="-60" dirty="0">
                <a:latin typeface="Carlito"/>
                <a:cs typeface="Carlito"/>
              </a:rPr>
              <a:t>e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25" dirty="0">
                <a:latin typeface="Carlito"/>
                <a:cs typeface="Carlito"/>
              </a:rPr>
              <a:t>/</a:t>
            </a:r>
            <a:r>
              <a:rPr sz="3300" i="1" spc="-15" dirty="0">
                <a:latin typeface="Carlito"/>
                <a:cs typeface="Carlito"/>
              </a:rPr>
              <a:t>web-</a:t>
            </a:r>
            <a:r>
              <a:rPr sz="3300" i="1" spc="-10" dirty="0">
                <a:latin typeface="Carlito"/>
                <a:cs typeface="Carlito"/>
              </a:rPr>
              <a:t>security/authentication</a:t>
            </a:r>
            <a:endParaRPr sz="3300">
              <a:latin typeface="Carlito"/>
              <a:cs typeface="Carlito"/>
            </a:endParaRPr>
          </a:p>
          <a:p>
            <a:pPr marL="391160" indent="-378460">
              <a:lnSpc>
                <a:spcPts val="5080"/>
              </a:lnSpc>
              <a:buFont typeface="Arial"/>
              <a:buChar char="•"/>
              <a:tabLst>
                <a:tab pos="391160" algn="l"/>
              </a:tabLst>
            </a:pPr>
            <a:r>
              <a:rPr sz="4250" spc="-20" dirty="0">
                <a:latin typeface="Carlito"/>
                <a:cs typeface="Carlito"/>
              </a:rPr>
              <a:t>Web</a:t>
            </a:r>
            <a:r>
              <a:rPr sz="4250" spc="-22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Application</a:t>
            </a:r>
            <a:r>
              <a:rPr sz="4250" spc="-110" dirty="0">
                <a:latin typeface="Carlito"/>
                <a:cs typeface="Carlito"/>
              </a:rPr>
              <a:t> </a:t>
            </a:r>
            <a:r>
              <a:rPr sz="4250" spc="-55" dirty="0">
                <a:latin typeface="Carlito"/>
                <a:cs typeface="Carlito"/>
              </a:rPr>
              <a:t>Hacker</a:t>
            </a:r>
            <a:r>
              <a:rPr sz="4250" spc="-575" dirty="0">
                <a:latin typeface="Carlito"/>
                <a:cs typeface="Carlito"/>
              </a:rPr>
              <a:t> </a:t>
            </a:r>
            <a:r>
              <a:rPr sz="4250" spc="-535" dirty="0">
                <a:latin typeface="Carlito"/>
                <a:cs typeface="Carlito"/>
              </a:rPr>
              <a:t>’</a:t>
            </a:r>
            <a:r>
              <a:rPr sz="4250" dirty="0">
                <a:latin typeface="Carlito"/>
                <a:cs typeface="Carlito"/>
              </a:rPr>
              <a:t>s</a:t>
            </a:r>
            <a:r>
              <a:rPr sz="4250" spc="10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Handbook</a:t>
            </a:r>
            <a:endParaRPr sz="4250">
              <a:latin typeface="Carlito"/>
              <a:cs typeface="Carlito"/>
            </a:endParaRPr>
          </a:p>
          <a:p>
            <a:pPr marL="954405" lvl="1" indent="-565150">
              <a:lnSpc>
                <a:spcPts val="3929"/>
              </a:lnSpc>
              <a:spcBef>
                <a:spcPts val="65"/>
              </a:spcBef>
              <a:buFont typeface="Wingdings"/>
              <a:buChar char=""/>
              <a:tabLst>
                <a:tab pos="954405" algn="l"/>
              </a:tabLst>
            </a:pPr>
            <a:r>
              <a:rPr sz="3300" i="1" dirty="0">
                <a:latin typeface="Carlito"/>
                <a:cs typeface="Carlito"/>
              </a:rPr>
              <a:t>Chapter</a:t>
            </a:r>
            <a:r>
              <a:rPr sz="3300" i="1" spc="-85" dirty="0">
                <a:latin typeface="Carlito"/>
                <a:cs typeface="Carlito"/>
              </a:rPr>
              <a:t> </a:t>
            </a:r>
            <a:r>
              <a:rPr sz="3300" i="1" dirty="0">
                <a:latin typeface="Carlito"/>
                <a:cs typeface="Carlito"/>
              </a:rPr>
              <a:t>6</a:t>
            </a:r>
            <a:r>
              <a:rPr sz="3300" i="1" spc="-90" dirty="0">
                <a:latin typeface="Carlito"/>
                <a:cs typeface="Carlito"/>
              </a:rPr>
              <a:t> </a:t>
            </a:r>
            <a:r>
              <a:rPr sz="3300" i="1" dirty="0">
                <a:latin typeface="Carlito"/>
                <a:cs typeface="Carlito"/>
              </a:rPr>
              <a:t>–</a:t>
            </a:r>
            <a:r>
              <a:rPr sz="3300" i="1" spc="-85" dirty="0">
                <a:latin typeface="Carlito"/>
                <a:cs typeface="Carlito"/>
              </a:rPr>
              <a:t> </a:t>
            </a:r>
            <a:r>
              <a:rPr sz="3300" i="1" spc="-35" dirty="0">
                <a:latin typeface="Carlito"/>
                <a:cs typeface="Carlito"/>
              </a:rPr>
              <a:t>Attacking</a:t>
            </a:r>
            <a:r>
              <a:rPr sz="3300" i="1" spc="-80" dirty="0">
                <a:latin typeface="Carlito"/>
                <a:cs typeface="Carlito"/>
              </a:rPr>
              <a:t> </a:t>
            </a:r>
            <a:r>
              <a:rPr sz="3300" i="1" spc="-10" dirty="0">
                <a:latin typeface="Carlito"/>
                <a:cs typeface="Carlito"/>
              </a:rPr>
              <a:t>Authentication</a:t>
            </a:r>
            <a:endParaRPr sz="3300">
              <a:latin typeface="Carlito"/>
              <a:cs typeface="Carlito"/>
            </a:endParaRPr>
          </a:p>
          <a:p>
            <a:pPr marL="391160" indent="-378460">
              <a:lnSpc>
                <a:spcPts val="5070"/>
              </a:lnSpc>
              <a:buFont typeface="Arial"/>
              <a:buChar char="•"/>
              <a:tabLst>
                <a:tab pos="391160" algn="l"/>
              </a:tabLst>
            </a:pPr>
            <a:r>
              <a:rPr sz="4250" spc="-60" dirty="0">
                <a:latin typeface="Carlito"/>
                <a:cs typeface="Carlito"/>
              </a:rPr>
              <a:t>OWASP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spc="-20" dirty="0">
                <a:latin typeface="Carlito"/>
                <a:cs typeface="Carlito"/>
              </a:rPr>
              <a:t>Web</a:t>
            </a:r>
            <a:r>
              <a:rPr sz="4250" spc="-9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Security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spc="-765" dirty="0">
                <a:latin typeface="Carlito"/>
                <a:cs typeface="Carlito"/>
              </a:rPr>
              <a:t>T</a:t>
            </a:r>
            <a:r>
              <a:rPr sz="4250" spc="15" dirty="0">
                <a:latin typeface="Carlito"/>
                <a:cs typeface="Carlito"/>
              </a:rPr>
              <a:t>e</a:t>
            </a:r>
            <a:r>
              <a:rPr sz="4250" spc="-85" dirty="0">
                <a:latin typeface="Carlito"/>
                <a:cs typeface="Carlito"/>
              </a:rPr>
              <a:t>s</a:t>
            </a:r>
            <a:r>
              <a:rPr sz="4250" spc="10" dirty="0">
                <a:latin typeface="Carlito"/>
                <a:cs typeface="Carlito"/>
              </a:rPr>
              <a:t>ti</a:t>
            </a:r>
            <a:r>
              <a:rPr sz="4250" spc="15" dirty="0">
                <a:latin typeface="Carlito"/>
                <a:cs typeface="Carlito"/>
              </a:rPr>
              <a:t>ng</a:t>
            </a:r>
            <a:r>
              <a:rPr sz="4250" spc="-8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Guide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–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Authentication</a:t>
            </a:r>
            <a:r>
              <a:rPr sz="4250" spc="-90" dirty="0">
                <a:latin typeface="Carlito"/>
                <a:cs typeface="Carlito"/>
              </a:rPr>
              <a:t> </a:t>
            </a:r>
            <a:r>
              <a:rPr sz="4250" spc="-665" dirty="0">
                <a:latin typeface="Carlito"/>
                <a:cs typeface="Carlito"/>
              </a:rPr>
              <a:t>T</a:t>
            </a:r>
            <a:r>
              <a:rPr sz="4250" spc="114" dirty="0">
                <a:latin typeface="Carlito"/>
                <a:cs typeface="Carlito"/>
              </a:rPr>
              <a:t>e</a:t>
            </a:r>
            <a:r>
              <a:rPr sz="4250" spc="15" dirty="0">
                <a:latin typeface="Carlito"/>
                <a:cs typeface="Carlito"/>
              </a:rPr>
              <a:t>s</a:t>
            </a:r>
            <a:r>
              <a:rPr sz="4250" spc="110" dirty="0">
                <a:latin typeface="Carlito"/>
                <a:cs typeface="Carlito"/>
              </a:rPr>
              <a:t>ti</a:t>
            </a:r>
            <a:r>
              <a:rPr sz="4250" spc="114" dirty="0">
                <a:latin typeface="Carlito"/>
                <a:cs typeface="Carlito"/>
              </a:rPr>
              <a:t>ng</a:t>
            </a:r>
            <a:endParaRPr sz="4250">
              <a:latin typeface="Carlito"/>
              <a:cs typeface="Carlito"/>
            </a:endParaRPr>
          </a:p>
          <a:p>
            <a:pPr marL="955040" marR="4048760" lvl="1" indent="-565785">
              <a:lnSpc>
                <a:spcPct val="100000"/>
              </a:lnSpc>
              <a:spcBef>
                <a:spcPts val="145"/>
              </a:spcBef>
              <a:buFont typeface="Wingdings"/>
              <a:buChar char=""/>
              <a:tabLst>
                <a:tab pos="955040" algn="l"/>
              </a:tabLst>
            </a:pPr>
            <a:r>
              <a:rPr sz="3300" i="1" spc="-35" dirty="0">
                <a:latin typeface="Carlito"/>
                <a:cs typeface="Carlito"/>
              </a:rPr>
              <a:t>https://owasp.org/www-project-</a:t>
            </a:r>
            <a:r>
              <a:rPr sz="3300" i="1" spc="-25" dirty="0">
                <a:latin typeface="Carlito"/>
                <a:cs typeface="Carlito"/>
              </a:rPr>
              <a:t>web-</a:t>
            </a:r>
            <a:r>
              <a:rPr sz="3300" i="1" spc="-10" dirty="0">
                <a:latin typeface="Carlito"/>
                <a:cs typeface="Carlito"/>
              </a:rPr>
              <a:t>security-</a:t>
            </a:r>
            <a:r>
              <a:rPr sz="3300" i="1" spc="-35" dirty="0">
                <a:latin typeface="Carlito"/>
                <a:cs typeface="Carlito"/>
              </a:rPr>
              <a:t>testing-</a:t>
            </a:r>
            <a:r>
              <a:rPr sz="3300" i="1" spc="-10" dirty="0">
                <a:latin typeface="Carlito"/>
                <a:cs typeface="Carlito"/>
              </a:rPr>
              <a:t>guide/stable/4- </a:t>
            </a:r>
            <a:r>
              <a:rPr sz="3300" i="1" spc="-290" dirty="0">
                <a:latin typeface="Carlito"/>
                <a:cs typeface="Carlito"/>
              </a:rPr>
              <a:t>W</a:t>
            </a:r>
            <a:r>
              <a:rPr sz="3300" i="1" spc="-15" dirty="0">
                <a:latin typeface="Carlito"/>
                <a:cs typeface="Carlito"/>
              </a:rPr>
              <a:t>eb</a:t>
            </a:r>
            <a:r>
              <a:rPr sz="3300" i="1" spc="-20" dirty="0">
                <a:latin typeface="Carlito"/>
                <a:cs typeface="Carlito"/>
              </a:rPr>
              <a:t>_</a:t>
            </a:r>
            <a:r>
              <a:rPr sz="3300" i="1" spc="-15" dirty="0">
                <a:latin typeface="Carlito"/>
                <a:cs typeface="Carlito"/>
              </a:rPr>
              <a:t>App</a:t>
            </a:r>
            <a:r>
              <a:rPr sz="3300" i="1" spc="-25" dirty="0">
                <a:latin typeface="Carlito"/>
                <a:cs typeface="Carlito"/>
              </a:rPr>
              <a:t>li</a:t>
            </a:r>
            <a:r>
              <a:rPr sz="3300" i="1" spc="-65" dirty="0">
                <a:latin typeface="Carlito"/>
                <a:cs typeface="Carlito"/>
              </a:rPr>
              <a:t>c</a:t>
            </a:r>
            <a:r>
              <a:rPr sz="3300" i="1" spc="-15" dirty="0">
                <a:latin typeface="Carlito"/>
                <a:cs typeface="Carlito"/>
              </a:rPr>
              <a:t>a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25" dirty="0">
                <a:latin typeface="Carlito"/>
                <a:cs typeface="Carlito"/>
              </a:rPr>
              <a:t>i</a:t>
            </a:r>
            <a:r>
              <a:rPr sz="3300" i="1" spc="-20" dirty="0">
                <a:latin typeface="Carlito"/>
                <a:cs typeface="Carlito"/>
              </a:rPr>
              <a:t>o</a:t>
            </a:r>
            <a:r>
              <a:rPr sz="3300" i="1" spc="-15" dirty="0">
                <a:latin typeface="Carlito"/>
                <a:cs typeface="Carlito"/>
              </a:rPr>
              <a:t>n</a:t>
            </a:r>
            <a:r>
              <a:rPr sz="3300" i="1" spc="-20" dirty="0">
                <a:latin typeface="Carlito"/>
                <a:cs typeface="Carlito"/>
              </a:rPr>
              <a:t>_</a:t>
            </a:r>
            <a:r>
              <a:rPr sz="3300" i="1" spc="-15" dirty="0">
                <a:latin typeface="Carlito"/>
                <a:cs typeface="Carlito"/>
              </a:rPr>
              <a:t>Se</a:t>
            </a:r>
            <a:r>
              <a:rPr sz="3300" i="1" spc="-25" dirty="0">
                <a:latin typeface="Carlito"/>
                <a:cs typeface="Carlito"/>
              </a:rPr>
              <a:t>c</a:t>
            </a:r>
            <a:r>
              <a:rPr sz="3300" i="1" spc="-15" dirty="0">
                <a:latin typeface="Carlito"/>
                <a:cs typeface="Carlito"/>
              </a:rPr>
              <a:t>ur</a:t>
            </a:r>
            <a:r>
              <a:rPr sz="3300" i="1" spc="-25" dirty="0">
                <a:latin typeface="Carlito"/>
                <a:cs typeface="Carlito"/>
              </a:rPr>
              <a:t>i</a:t>
            </a:r>
            <a:r>
              <a:rPr sz="3300" i="1" spc="-20" dirty="0">
                <a:latin typeface="Carlito"/>
                <a:cs typeface="Carlito"/>
              </a:rPr>
              <a:t>ty_</a:t>
            </a:r>
            <a:r>
              <a:rPr sz="3300" i="1" spc="-595" dirty="0">
                <a:latin typeface="Carlito"/>
                <a:cs typeface="Carlito"/>
              </a:rPr>
              <a:t>T</a:t>
            </a:r>
            <a:r>
              <a:rPr sz="3300" i="1" spc="-15" dirty="0">
                <a:latin typeface="Carlito"/>
                <a:cs typeface="Carlito"/>
              </a:rPr>
              <a:t>e</a:t>
            </a:r>
            <a:r>
              <a:rPr sz="3300" i="1" spc="-95" dirty="0">
                <a:latin typeface="Carlito"/>
                <a:cs typeface="Carlito"/>
              </a:rPr>
              <a:t>s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25" dirty="0">
                <a:latin typeface="Carlito"/>
                <a:cs typeface="Carlito"/>
              </a:rPr>
              <a:t>i</a:t>
            </a:r>
            <a:r>
              <a:rPr sz="3300" i="1" spc="-15" dirty="0">
                <a:latin typeface="Carlito"/>
                <a:cs typeface="Carlito"/>
              </a:rPr>
              <a:t>ng</a:t>
            </a:r>
            <a:r>
              <a:rPr sz="3300" i="1" spc="-20" dirty="0">
                <a:latin typeface="Carlito"/>
                <a:cs typeface="Carlito"/>
              </a:rPr>
              <a:t>/</a:t>
            </a:r>
            <a:r>
              <a:rPr sz="3300" i="1" spc="-25" dirty="0">
                <a:latin typeface="Carlito"/>
                <a:cs typeface="Carlito"/>
              </a:rPr>
              <a:t>0</a:t>
            </a:r>
            <a:r>
              <a:rPr sz="3300" i="1" spc="-40" dirty="0">
                <a:latin typeface="Carlito"/>
                <a:cs typeface="Carlito"/>
              </a:rPr>
              <a:t>4</a:t>
            </a:r>
            <a:r>
              <a:rPr sz="3300" i="1" spc="-15" dirty="0">
                <a:latin typeface="Carlito"/>
                <a:cs typeface="Carlito"/>
              </a:rPr>
              <a:t>-</a:t>
            </a:r>
            <a:r>
              <a:rPr sz="3300" i="1" dirty="0">
                <a:latin typeface="Carlito"/>
                <a:cs typeface="Carlito"/>
              </a:rPr>
              <a:t>A</a:t>
            </a:r>
            <a:r>
              <a:rPr sz="3300" i="1" spc="15" dirty="0">
                <a:latin typeface="Carlito"/>
                <a:cs typeface="Carlito"/>
              </a:rPr>
              <a:t>u</a:t>
            </a:r>
            <a:r>
              <a:rPr sz="3300" i="1" spc="5" dirty="0">
                <a:latin typeface="Carlito"/>
                <a:cs typeface="Carlito"/>
              </a:rPr>
              <a:t>t</a:t>
            </a:r>
            <a:r>
              <a:rPr sz="3300" i="1" spc="15" dirty="0">
                <a:latin typeface="Carlito"/>
                <a:cs typeface="Carlito"/>
              </a:rPr>
              <a:t>h</a:t>
            </a:r>
            <a:r>
              <a:rPr sz="3300" i="1" spc="10" dirty="0">
                <a:latin typeface="Carlito"/>
                <a:cs typeface="Carlito"/>
              </a:rPr>
              <a:t>e</a:t>
            </a:r>
            <a:r>
              <a:rPr sz="3300" i="1" spc="-60" dirty="0">
                <a:latin typeface="Carlito"/>
                <a:cs typeface="Carlito"/>
              </a:rPr>
              <a:t>n</a:t>
            </a:r>
            <a:r>
              <a:rPr sz="3300" i="1" dirty="0">
                <a:latin typeface="Carlito"/>
                <a:cs typeface="Carlito"/>
              </a:rPr>
              <a:t>ti</a:t>
            </a:r>
            <a:r>
              <a:rPr sz="3300" i="1" spc="-45" dirty="0">
                <a:latin typeface="Carlito"/>
                <a:cs typeface="Carlito"/>
              </a:rPr>
              <a:t>c</a:t>
            </a:r>
            <a:r>
              <a:rPr sz="3300" i="1" spc="15" dirty="0">
                <a:latin typeface="Carlito"/>
                <a:cs typeface="Carlito"/>
              </a:rPr>
              <a:t>a</a:t>
            </a:r>
            <a:r>
              <a:rPr sz="3300" i="1" dirty="0">
                <a:latin typeface="Carlito"/>
                <a:cs typeface="Carlito"/>
              </a:rPr>
              <a:t>tio</a:t>
            </a:r>
            <a:r>
              <a:rPr sz="3300" i="1" spc="15" dirty="0">
                <a:latin typeface="Carlito"/>
                <a:cs typeface="Carlito"/>
              </a:rPr>
              <a:t>n</a:t>
            </a:r>
            <a:r>
              <a:rPr sz="3300" i="1" spc="5" dirty="0">
                <a:latin typeface="Carlito"/>
                <a:cs typeface="Carlito"/>
              </a:rPr>
              <a:t>_</a:t>
            </a:r>
            <a:r>
              <a:rPr sz="3300" i="1" spc="-575" dirty="0">
                <a:latin typeface="Carlito"/>
                <a:cs typeface="Carlito"/>
              </a:rPr>
              <a:t>T</a:t>
            </a:r>
            <a:r>
              <a:rPr sz="3300" i="1" spc="10" dirty="0">
                <a:latin typeface="Carlito"/>
                <a:cs typeface="Carlito"/>
              </a:rPr>
              <a:t>e</a:t>
            </a:r>
            <a:r>
              <a:rPr sz="3300" i="1" spc="-70" dirty="0">
                <a:latin typeface="Carlito"/>
                <a:cs typeface="Carlito"/>
              </a:rPr>
              <a:t>s</a:t>
            </a:r>
            <a:r>
              <a:rPr sz="3300" i="1" dirty="0">
                <a:latin typeface="Carlito"/>
                <a:cs typeface="Carlito"/>
              </a:rPr>
              <a:t>ti</a:t>
            </a:r>
            <a:r>
              <a:rPr sz="3300" i="1" spc="15" dirty="0">
                <a:latin typeface="Carlito"/>
                <a:cs typeface="Carlito"/>
              </a:rPr>
              <a:t>ng</a:t>
            </a:r>
            <a:r>
              <a:rPr sz="3300" i="1" spc="5" dirty="0">
                <a:latin typeface="Carlito"/>
                <a:cs typeface="Carlito"/>
              </a:rPr>
              <a:t>/</a:t>
            </a:r>
            <a:r>
              <a:rPr sz="3300" i="1" spc="10" dirty="0">
                <a:latin typeface="Carlito"/>
                <a:cs typeface="Carlito"/>
              </a:rPr>
              <a:t>R</a:t>
            </a:r>
            <a:r>
              <a:rPr sz="3300" i="1" spc="-75" dirty="0">
                <a:latin typeface="Carlito"/>
                <a:cs typeface="Carlito"/>
              </a:rPr>
              <a:t>E</a:t>
            </a:r>
            <a:r>
              <a:rPr sz="3300" i="1" dirty="0">
                <a:latin typeface="Carlito"/>
                <a:cs typeface="Carlito"/>
              </a:rPr>
              <a:t>A</a:t>
            </a:r>
            <a:r>
              <a:rPr sz="3300" i="1" spc="10" dirty="0">
                <a:latin typeface="Carlito"/>
                <a:cs typeface="Carlito"/>
              </a:rPr>
              <a:t>DME</a:t>
            </a:r>
            <a:endParaRPr sz="3300">
              <a:latin typeface="Carlito"/>
              <a:cs typeface="Carlito"/>
            </a:endParaRPr>
          </a:p>
          <a:p>
            <a:pPr marL="391160" indent="-378460">
              <a:lnSpc>
                <a:spcPts val="5055"/>
              </a:lnSpc>
              <a:buFont typeface="Arial"/>
              <a:buChar char="•"/>
              <a:tabLst>
                <a:tab pos="391160" algn="l"/>
              </a:tabLst>
            </a:pPr>
            <a:r>
              <a:rPr sz="4250" spc="-60" dirty="0">
                <a:latin typeface="Carlito"/>
                <a:cs typeface="Carlito"/>
              </a:rPr>
              <a:t>OWASP</a:t>
            </a:r>
            <a:r>
              <a:rPr sz="4250" spc="-130" dirty="0">
                <a:latin typeface="Carlito"/>
                <a:cs typeface="Carlito"/>
              </a:rPr>
              <a:t> </a:t>
            </a:r>
            <a:r>
              <a:rPr sz="4250" spc="-775" dirty="0">
                <a:latin typeface="Carlito"/>
                <a:cs typeface="Carlito"/>
              </a:rPr>
              <a:t>T</a:t>
            </a:r>
            <a:r>
              <a:rPr sz="4250" dirty="0">
                <a:latin typeface="Carlito"/>
                <a:cs typeface="Carlito"/>
              </a:rPr>
              <a:t>o</a:t>
            </a:r>
            <a:r>
              <a:rPr sz="4250" spc="5" dirty="0">
                <a:latin typeface="Carlito"/>
                <a:cs typeface="Carlito"/>
              </a:rPr>
              <a:t>p</a:t>
            </a:r>
            <a:r>
              <a:rPr sz="4250" spc="1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10</a:t>
            </a:r>
            <a:r>
              <a:rPr sz="4250" spc="-6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–</a:t>
            </a:r>
            <a:r>
              <a:rPr sz="4250" spc="-6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A07</a:t>
            </a:r>
            <a:r>
              <a:rPr sz="4250" spc="-6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Identification</a:t>
            </a:r>
            <a:r>
              <a:rPr sz="4250" spc="-5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and</a:t>
            </a:r>
            <a:r>
              <a:rPr sz="4250" spc="-6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Authentication</a:t>
            </a:r>
            <a:r>
              <a:rPr sz="4250" spc="-55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Failures</a:t>
            </a:r>
            <a:endParaRPr sz="4250">
              <a:latin typeface="Carlito"/>
              <a:cs typeface="Carlito"/>
            </a:endParaRPr>
          </a:p>
          <a:p>
            <a:pPr marL="954405" lvl="1" indent="-565150">
              <a:lnSpc>
                <a:spcPts val="3940"/>
              </a:lnSpc>
              <a:spcBef>
                <a:spcPts val="45"/>
              </a:spcBef>
              <a:buFont typeface="Wingdings"/>
              <a:buChar char=""/>
              <a:tabLst>
                <a:tab pos="954405" algn="l"/>
              </a:tabLst>
            </a:pPr>
            <a:r>
              <a:rPr sz="3300" i="1" spc="-80" dirty="0">
                <a:latin typeface="Carlito"/>
                <a:cs typeface="Carlito"/>
              </a:rPr>
              <a:t>h</a:t>
            </a:r>
            <a:r>
              <a:rPr sz="3300" i="1" spc="-75" dirty="0">
                <a:latin typeface="Carlito"/>
                <a:cs typeface="Carlito"/>
              </a:rPr>
              <a:t>t</a:t>
            </a:r>
            <a:r>
              <a:rPr sz="3300" i="1" spc="-20" dirty="0">
                <a:latin typeface="Carlito"/>
                <a:cs typeface="Carlito"/>
              </a:rPr>
              <a:t>t</a:t>
            </a:r>
            <a:r>
              <a:rPr sz="3300" i="1" spc="-50" dirty="0">
                <a:latin typeface="Carlito"/>
                <a:cs typeface="Carlito"/>
              </a:rPr>
              <a:t>p</a:t>
            </a:r>
            <a:r>
              <a:rPr sz="3300" i="1" spc="-15" dirty="0">
                <a:latin typeface="Carlito"/>
                <a:cs typeface="Carlito"/>
              </a:rPr>
              <a:t>s:</a:t>
            </a:r>
            <a:r>
              <a:rPr sz="3300" i="1" spc="-20" dirty="0">
                <a:latin typeface="Carlito"/>
                <a:cs typeface="Carlito"/>
              </a:rPr>
              <a:t>/</a:t>
            </a:r>
            <a:r>
              <a:rPr sz="3300" i="1" spc="-140" dirty="0">
                <a:latin typeface="Carlito"/>
                <a:cs typeface="Carlito"/>
              </a:rPr>
              <a:t>/</a:t>
            </a:r>
            <a:r>
              <a:rPr sz="3300" i="1" spc="-55" dirty="0">
                <a:latin typeface="Carlito"/>
                <a:cs typeface="Carlito"/>
              </a:rPr>
              <a:t>o</a:t>
            </a:r>
            <a:r>
              <a:rPr sz="3300" i="1" spc="-15" dirty="0">
                <a:latin typeface="Carlito"/>
                <a:cs typeface="Carlito"/>
              </a:rPr>
              <a:t>wasp.</a:t>
            </a:r>
            <a:r>
              <a:rPr sz="3300" i="1" spc="-20" dirty="0">
                <a:latin typeface="Carlito"/>
                <a:cs typeface="Carlito"/>
              </a:rPr>
              <a:t>o</a:t>
            </a:r>
            <a:r>
              <a:rPr sz="3300" i="1" spc="-15" dirty="0">
                <a:latin typeface="Carlito"/>
                <a:cs typeface="Carlito"/>
              </a:rPr>
              <a:t>rg</a:t>
            </a:r>
            <a:r>
              <a:rPr sz="3300" i="1" spc="-20" dirty="0">
                <a:latin typeface="Carlito"/>
                <a:cs typeface="Carlito"/>
              </a:rPr>
              <a:t>/</a:t>
            </a:r>
            <a:r>
              <a:rPr sz="3300" i="1" spc="-595" dirty="0">
                <a:latin typeface="Carlito"/>
                <a:cs typeface="Carlito"/>
              </a:rPr>
              <a:t>T</a:t>
            </a:r>
            <a:r>
              <a:rPr sz="3300" i="1" spc="-20" dirty="0">
                <a:latin typeface="Carlito"/>
                <a:cs typeface="Carlito"/>
              </a:rPr>
              <a:t>o</a:t>
            </a:r>
            <a:r>
              <a:rPr sz="3300" i="1" spc="-15" dirty="0">
                <a:latin typeface="Carlito"/>
                <a:cs typeface="Carlito"/>
              </a:rPr>
              <a:t>p</a:t>
            </a:r>
            <a:r>
              <a:rPr sz="3300" i="1" spc="-25" dirty="0">
                <a:latin typeface="Carlito"/>
                <a:cs typeface="Carlito"/>
              </a:rPr>
              <a:t>10</a:t>
            </a:r>
            <a:r>
              <a:rPr sz="3300" i="1" spc="-250" dirty="0">
                <a:latin typeface="Carlito"/>
                <a:cs typeface="Carlito"/>
              </a:rPr>
              <a:t>/</a:t>
            </a:r>
            <a:r>
              <a:rPr sz="3300" i="1" spc="-25" dirty="0">
                <a:latin typeface="Carlito"/>
                <a:cs typeface="Carlito"/>
              </a:rPr>
              <a:t>A07</a:t>
            </a:r>
            <a:r>
              <a:rPr sz="3300" i="1" spc="-30" dirty="0">
                <a:latin typeface="Carlito"/>
                <a:cs typeface="Carlito"/>
              </a:rPr>
              <a:t>_</a:t>
            </a:r>
            <a:r>
              <a:rPr sz="3300" i="1" spc="-25" dirty="0">
                <a:latin typeface="Carlito"/>
                <a:cs typeface="Carlito"/>
              </a:rPr>
              <a:t>2021</a:t>
            </a:r>
            <a:r>
              <a:rPr sz="3300" i="1" spc="-15" dirty="0">
                <a:latin typeface="Carlito"/>
                <a:cs typeface="Carlito"/>
              </a:rPr>
              <a:t>-</a:t>
            </a:r>
            <a:r>
              <a:rPr sz="3300" i="1" spc="-10" dirty="0">
                <a:latin typeface="Carlito"/>
                <a:cs typeface="Carlito"/>
              </a:rPr>
              <a:t>Identification_and_Authentication_Failures/</a:t>
            </a:r>
            <a:endParaRPr sz="3300">
              <a:latin typeface="Carlito"/>
              <a:cs typeface="Carlito"/>
            </a:endParaRPr>
          </a:p>
          <a:p>
            <a:pPr marL="390525" marR="1297940" indent="-378460">
              <a:lnSpc>
                <a:spcPts val="5200"/>
              </a:lnSpc>
              <a:spcBef>
                <a:spcPts val="70"/>
              </a:spcBef>
              <a:buFont typeface="Arial"/>
              <a:buChar char="•"/>
              <a:tabLst>
                <a:tab pos="391795" algn="l"/>
              </a:tabLst>
            </a:pPr>
            <a:r>
              <a:rPr sz="4250" spc="-60" dirty="0">
                <a:latin typeface="Carlito"/>
                <a:cs typeface="Carlito"/>
              </a:rPr>
              <a:t>OWASP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Application</a:t>
            </a:r>
            <a:r>
              <a:rPr sz="4250" spc="-9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Security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spc="-35" dirty="0">
                <a:latin typeface="Carlito"/>
                <a:cs typeface="Carlito"/>
              </a:rPr>
              <a:t>Verification</a:t>
            </a:r>
            <a:r>
              <a:rPr sz="4250" spc="-9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Standard</a:t>
            </a:r>
            <a:r>
              <a:rPr sz="4250" spc="-90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–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dirty="0">
                <a:latin typeface="Carlito"/>
                <a:cs typeface="Carlito"/>
              </a:rPr>
              <a:t>V2</a:t>
            </a:r>
            <a:r>
              <a:rPr sz="4250" spc="-95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Authentication 	</a:t>
            </a:r>
            <a:r>
              <a:rPr sz="4250" spc="-35" dirty="0">
                <a:latin typeface="Carlito"/>
                <a:cs typeface="Carlito"/>
              </a:rPr>
              <a:t>Verification</a:t>
            </a:r>
            <a:r>
              <a:rPr sz="4250" spc="-180" dirty="0">
                <a:latin typeface="Carlito"/>
                <a:cs typeface="Carlito"/>
              </a:rPr>
              <a:t> </a:t>
            </a:r>
            <a:r>
              <a:rPr sz="4250" spc="-10" dirty="0">
                <a:latin typeface="Carlito"/>
                <a:cs typeface="Carlito"/>
              </a:rPr>
              <a:t>Requirements</a:t>
            </a:r>
            <a:endParaRPr sz="4250">
              <a:latin typeface="Carlito"/>
              <a:cs typeface="Carlito"/>
            </a:endParaRPr>
          </a:p>
          <a:p>
            <a:pPr marL="954405" lvl="1" indent="-565150">
              <a:lnSpc>
                <a:spcPts val="3820"/>
              </a:lnSpc>
              <a:buFont typeface="Wingdings"/>
              <a:buChar char=""/>
              <a:tabLst>
                <a:tab pos="954405" algn="l"/>
              </a:tabLst>
            </a:pPr>
            <a:r>
              <a:rPr sz="3300" i="1" spc="-25" dirty="0">
                <a:latin typeface="Carlito"/>
                <a:cs typeface="Carlito"/>
              </a:rPr>
              <a:t>https://owasp.org/www-</a:t>
            </a:r>
            <a:r>
              <a:rPr sz="3300" i="1" spc="-30" dirty="0">
                <a:latin typeface="Carlito"/>
                <a:cs typeface="Carlito"/>
              </a:rPr>
              <a:t>pdf-</a:t>
            </a:r>
            <a:r>
              <a:rPr sz="3300" i="1" spc="-10" dirty="0">
                <a:latin typeface="Carlito"/>
                <a:cs typeface="Carlito"/>
              </a:rPr>
              <a:t>archive/OWASP_Application_Security_Verification_Standard_4.0-</a:t>
            </a:r>
            <a:endParaRPr sz="3300">
              <a:latin typeface="Carlito"/>
              <a:cs typeface="Carlito"/>
            </a:endParaRPr>
          </a:p>
          <a:p>
            <a:pPr marL="955040">
              <a:lnSpc>
                <a:spcPts val="3960"/>
              </a:lnSpc>
            </a:pPr>
            <a:r>
              <a:rPr sz="3300" i="1" spc="-10" dirty="0">
                <a:latin typeface="Carlito"/>
                <a:cs typeface="Carlito"/>
              </a:rPr>
              <a:t>en.pdf</a:t>
            </a:r>
            <a:endParaRPr sz="3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8B12885D91BB40A0BB99E2A50A1EE3" ma:contentTypeVersion="3" ma:contentTypeDescription="Create a new document." ma:contentTypeScope="" ma:versionID="66d3699a59251bf72590b89b840aee2a">
  <xsd:schema xmlns:xsd="http://www.w3.org/2001/XMLSchema" xmlns:xs="http://www.w3.org/2001/XMLSchema" xmlns:p="http://schemas.microsoft.com/office/2006/metadata/properties" xmlns:ns2="df2c4b60-5aed-4c17-b8a3-f48bf4df2b21" targetNamespace="http://schemas.microsoft.com/office/2006/metadata/properties" ma:root="true" ma:fieldsID="46f555fcb575befc6dc00b384e8d6be5" ns2:_="">
    <xsd:import namespace="df2c4b60-5aed-4c17-b8a3-f48bf4df2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c4b60-5aed-4c17-b8a3-f48bf4df2b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6E5070-E305-486E-95C7-0D566F0CA52A}"/>
</file>

<file path=customXml/itemProps2.xml><?xml version="1.0" encoding="utf-8"?>
<ds:datastoreItem xmlns:ds="http://schemas.openxmlformats.org/officeDocument/2006/customXml" ds:itemID="{0A89A094-65F6-4FA8-AC52-9FC584166586}"/>
</file>

<file path=customXml/itemProps3.xml><?xml version="1.0" encoding="utf-8"?>
<ds:datastoreItem xmlns:ds="http://schemas.openxmlformats.org/officeDocument/2006/customXml" ds:itemID="{6E7FA108-A718-417E-9A8D-F7251639793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1723</Words>
  <Application>Microsoft Office PowerPoint</Application>
  <PresentationFormat>Custom</PresentationFormat>
  <Paragraphs>248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-apple-system</vt:lpstr>
      <vt:lpstr>Aptos</vt:lpstr>
      <vt:lpstr>Arial</vt:lpstr>
      <vt:lpstr>Carlito</vt:lpstr>
      <vt:lpstr>Courier New</vt:lpstr>
      <vt:lpstr>Roboto</vt:lpstr>
      <vt:lpstr>Times New Roman</vt:lpstr>
      <vt:lpstr>Wingdings</vt:lpstr>
      <vt:lpstr>Office Theme</vt:lpstr>
      <vt:lpstr>Username</vt:lpstr>
      <vt:lpstr>Some Terminology...</vt:lpstr>
      <vt:lpstr>Authentication Vulnerabilities arise from insecure implementation of the authentication mechanisms in an application.</vt:lpstr>
      <vt:lpstr>Weak Password Requirements</vt:lpstr>
      <vt:lpstr>Improper Restriction of Authentication Attempts</vt:lpstr>
      <vt:lpstr>Verbose Error Message</vt:lpstr>
      <vt:lpstr>Vulnerable Transmission of Credentials</vt:lpstr>
      <vt:lpstr>Insecure Forgot Password Functionality</vt:lpstr>
      <vt:lpstr>Defects in Multistage Login Mechanism</vt:lpstr>
      <vt:lpstr>Insecure Storage of Credentials</vt:lpstr>
      <vt:lpstr>Impact of Authentication Vulnerabilities</vt:lpstr>
      <vt:lpstr>OWASP Top 10</vt:lpstr>
      <vt:lpstr>HOW TO FIND AND EXPLOIT AUTHENTICATION FLAWS?</vt:lpstr>
      <vt:lpstr>Weak Password Complexity Requirements</vt:lpstr>
      <vt:lpstr>Improper Restriction of Authentication Attempts</vt:lpstr>
      <vt:lpstr>Verbose Error Message</vt:lpstr>
      <vt:lpstr>Vulnerable Transmission of Credentials</vt:lpstr>
      <vt:lpstr>Insecure Forgot Password Functionality</vt:lpstr>
      <vt:lpstr>Defects in Multistage Login Mechanism</vt:lpstr>
      <vt:lpstr>Insecure Storage of Credentials</vt:lpstr>
      <vt:lpstr>Exploiting Authentication Flaws Labs</vt:lpstr>
      <vt:lpstr>Web Application Security</vt:lpstr>
      <vt:lpstr>HOW TO PREVENT AUTHENTICATION VULNERABILITIES?</vt:lpstr>
      <vt:lpstr>Preventing Authentication Vulnerabilities</vt:lpstr>
      <vt:lpstr>Preventing Authentication Vulnerabilities</vt:lpstr>
      <vt:lpstr>Application Security Verification Standard (ASVS)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Username</dc:title>
  <cp:lastModifiedBy>Hafiz Muhammad Attaullah</cp:lastModifiedBy>
  <cp:revision>3</cp:revision>
  <dcterms:created xsi:type="dcterms:W3CDTF">2024-03-30T04:22:53Z</dcterms:created>
  <dcterms:modified xsi:type="dcterms:W3CDTF">2024-05-05T03:35:34Z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2023-03-09T00:00:00Z</vt:filetime>
  </property>
  <property fmtid="{D5CDD505-2E9C-101B-9397-08002B2CF9AE}" pid="3" name="LastSaved">
    <vt:filetime>2024-03-30T00:00:00Z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ContentTypeId">
    <vt:lpwstr>0x010100C48B12885D91BB40A0BB99E2A50A1EE3</vt:lpwstr>
  </property>
</Properties>
</file>